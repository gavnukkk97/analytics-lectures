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FA3C4"/>
                </a:solidFill>
                <a:latin typeface="Arial"/>
              </a:rPr>
              <a:t>МОДУЛЬ 5 · УРОК 5.1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377440"/>
            <a:ext cx="1109167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Arial"/>
              </a:rPr>
              <a:t>Экономика промо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9496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EB9CE"/>
                </a:solidFill>
                <a:latin typeface="Arial"/>
              </a:rPr>
              <a:t>Скидка как вмешательство</a:t>
            </a:r>
          </a:p>
          <a:p>
            <a:pPr algn="l"/>
            <a:r>
              <a:rPr sz="1600" b="0">
                <a:solidFill>
                  <a:srgbClr val="AEB9CE"/>
                </a:solidFill>
                <a:latin typeface="Arial"/>
              </a:rPr>
              <a:t>Кирилл Садчиков · маркетинговая аналитика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F2A44"/>
                </a:solidFill>
                <a:latin typeface="Arial"/>
              </a:rPr>
              <a:t>Как прошла неделя?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916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333333"/>
                </a:solidFill>
                <a:latin typeface="Arial"/>
              </a:rPr>
              <a:t>Акция подняла выручку на 16%. Успех?</a:t>
            </a:r>
          </a:p>
          <a:p>
            <a:pPr algn="l"/>
            <a:r>
              <a:rPr sz="2200" b="0">
                <a:solidFill>
                  <a:srgbClr val="333333"/>
                </a:solidFill>
                <a:latin typeface="Arial"/>
              </a:rPr>
              <a:t>Что такое каннибализация своими словами?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Arial"/>
              </a:rPr>
              <a:t/>
            </a:r>
          </a:p>
          <a:p>
            <a:pPr algn="l"/>
            <a:r>
              <a:rPr sz="1800" b="0">
                <a:solidFill>
                  <a:srgbClr val="6B7280"/>
                </a:solidFill>
                <a:latin typeface="Arial"/>
              </a:rPr>
              <a:t>Что запомнили с прошлого урока? Что хотели бы проверить у себя на работе?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0"/>
            <a:ext cx="11091672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2A44"/>
                </a:solidFill>
                <a:latin typeface="Arial"/>
              </a:rPr>
              <a:t>Промо — вмешательство.
Эффект = мир с акцией минус мир без неё.
«До/после» и «выручка выросла» — не эффект.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Arial"/>
              </a:rPr>
              <a:t>Из чего состоит эффект скидки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3291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E8590C"/>
                </a:solidFill>
                <a:latin typeface="Arial"/>
              </a:rPr>
              <a:t>+/−</a:t>
            </a:r>
          </a:p>
          <a:p>
            <a:pPr algn="ctr"/>
            <a:r>
              <a:rPr sz="1500" b="0">
                <a:solidFill>
                  <a:srgbClr val="6B7280"/>
                </a:solidFill>
                <a:latin typeface="Arial"/>
              </a:rPr>
              <a:t>состав Δмаржи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1737360"/>
            <a:ext cx="715975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+ прирост заказов (реальный инкремент)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+ частота (частично — сдвиг из будущего)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− маржа на ВСЕХ акционных заказах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− каннибализация: купили бы дороже — купили дешевле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− привыкание ждать скидку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47548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0" b="1">
                <a:solidFill>
                  <a:srgbClr val="E8590C"/>
                </a:solidFill>
                <a:latin typeface="Arial"/>
              </a:rPr>
              <a:t>−1,3 млн 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931920"/>
            <a:ext cx="49377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2A44"/>
                </a:solidFill>
                <a:latin typeface="Arial"/>
              </a:rPr>
              <a:t>итог «успешной» акции −20% (учебный разбор)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0" y="1737360"/>
            <a:ext cx="57607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Выручка +16%, а инкрементная маржа — минус</a:t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60% акционных заказов — каннибализация</a:t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Сезон контроля: +2% и без акции</a:t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Точки роста: порог от корзины, таргет спящим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47548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0" b="1">
                <a:solidFill>
                  <a:srgbClr val="E8590C"/>
                </a:solidFill>
                <a:latin typeface="Arial"/>
              </a:rPr>
              <a:t>10w − 4w²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931920"/>
            <a:ext cx="49377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2A44"/>
                </a:solidFill>
                <a:latin typeface="Arial"/>
              </a:rPr>
              <a:t>реакция на скидку нелинейна (насыщение)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0" y="1737360"/>
            <a:ext cx="57607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У глубины скидки есть оптимум</a:t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«Дать больше» ≠ «получить больше»</a:t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Кривая ответа — то, что мы измеряем и оптимизируем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0"/>
            <a:ext cx="11091672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2A44"/>
                </a:solidFill>
                <a:latin typeface="Arial"/>
              </a:rPr>
              <a:t>Персональные промокоды и лояльность — законно.
Разные ценники «по паспорту» — ценовая дискриминация, запрещено.
Границу проговаривайте заранее.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280160"/>
            <a:ext cx="1109167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Что дальше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651760"/>
            <a:ext cx="11091672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D9E1EF"/>
                </a:solidFill>
                <a:latin typeface="Arial"/>
              </a:rPr>
              <a:t>→ Пересчитать последнюю акцию: инкремент против контрфакта</a:t>
            </a:r>
          </a:p>
          <a:p>
            <a:pPr algn="l"/>
            <a:r>
              <a:rPr sz="2000" b="0">
                <a:solidFill>
                  <a:srgbClr val="D9E1EF"/>
                </a:solidFill>
                <a:latin typeface="Arial"/>
              </a:rPr>
              <a:t>→ Урок 5.2 — DiD, PSM, пороги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FA3C4"/>
                </a:solidFill>
                <a:latin typeface="Arial"/>
              </a:rPr>
              <a:t>Курс «Маркетинговая аналитика» · драфт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