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9"/>
  </p:notesMasterIdLst>
  <p:sldIdLst>
    <p:sldId id="269" r:id="rId14"/>
    <p:sldId id="270" r:id="rId15"/>
    <p:sldId id="271" r:id="rId16"/>
    <p:sldId id="272" r:id="rId17"/>
    <p:sldId id="273" r:id="rId18"/>
    <p:sldId id="274" r:id="rId19"/>
    <p:sldId id="275" r:id="rId20"/>
  </p:sldIdLst>
  <p:sldSz cx="18288000" cy="10287000"/>
  <p:notesSz cx="6858000" cy="9144000"/>
  <p:embeddedFontLst>
    <p:embeddedFont>
      <p:font typeface="X5 Sans" panose="020B0403020203020204" pitchFamily="34" charset="0"/>
      <p:regular r:id="rId40"/>
      <p:bold r:id="rId41"/>
    </p:embeddedFont>
    <p:embeddedFont>
      <p:font typeface="X5 Sans Medium" panose="020B0403020203020204" pitchFamily="34" charset="0"/>
      <p:regular r:id="rId42"/>
    </p:embeddedFont>
  </p:embeddedFont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ADE"/>
    <a:srgbClr val="C4C5C6"/>
    <a:srgbClr val="E6E7E9"/>
    <a:srgbClr val="DFDF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8"/>
    <p:restoredTop sz="94601"/>
  </p:normalViewPr>
  <p:slideViewPr>
    <p:cSldViewPr snapToGrid="0">
      <p:cViewPr varScale="1">
        <p:scale>
          <a:sx n="73" d="100"/>
          <a:sy n="73" d="100"/>
        </p:scale>
        <p:origin x="5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39" Type="http://schemas.openxmlformats.org/officeDocument/2006/relationships/notesMaster" Target="notesMasters/notesMaster1.xml"/><Relationship Id="rId40" Type="http://schemas.openxmlformats.org/officeDocument/2006/relationships/font" Target="fonts/font1.fntdata"/><Relationship Id="rId41" Type="http://schemas.openxmlformats.org/officeDocument/2006/relationships/font" Target="fonts/font2.fntdata"/><Relationship Id="rId42" Type="http://schemas.openxmlformats.org/officeDocument/2006/relationships/font" Target="fonts/font3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EFEF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2.png"/><Relationship Id="rId9" Type="http://schemas.openxmlformats.org/officeDocument/2006/relationships/image" Target="../media/image3.png"/><Relationship Id="rId10" Type="http://schemas.openxmlformats.org/officeDocument/2006/relationships/image" Target="../media/image4.png"/><Relationship Id="rId11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Заголовок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  <a:p>
            <a:pPr algn="l">
              <a:lnSpc>
                <a:spcPct val="75549"/>
              </a:lnSpc>
              <a:buNone/>
              <a:defRPr sz="8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две</a:t>
            </a:r>
            <a:r>
              <a:rPr sz="84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84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строки</a:t>
            </a:r>
            <a:endParaRPr sz="84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73718"/>
              </a:lnSpc>
              <a:buNone/>
              <a:defRPr sz="36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Пояснение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основной</a:t>
            </a:r>
            <a:r>
              <a:rPr sz="3600" b="0" dirty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 </a:t>
            </a:r>
            <a:r>
              <a:rPr sz="3600" b="0" dirty="0" err="1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мысли</a:t>
            </a:r>
            <a:endParaRPr sz="3600" b="0" dirty="0">
              <a:solidFill>
                <a:srgbClr val="3A3A3A"/>
              </a:solidFill>
              <a:latin typeface="X5 Sans Medium"/>
              <a:ea typeface="X5 Sans Medium"/>
              <a:cs typeface="X5 Sans Medium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998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 и список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 темы вместе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со структурированными тезисами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Текстовый блок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можно подробно раскрыть тему, дать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контекст или объяснить логику решения.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Текстовый блок поддерживает несколько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небольших абзацев и помогает подготовить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читателя к тезисам в соседней колонке</a:t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4615"/>
              </a:lnSpc>
              <a:buNone/>
              <a:def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30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Ключевые пункты</a:t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933950"/>
            <a:ext cx="7620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marL="457200" indent="-457200" algn="l">
              <a:lnSpc>
                <a:spcPct val="96154"/>
              </a:lnSpc>
              <a:buFont typeface="+mj-lt"/>
              <a:buAutoNum type="arabicPeriod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Нумерованный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marL="342900" indent="-342900" algn="l">
              <a:lnSpc>
                <a:spcPct val="96154"/>
              </a:lnSpc>
              <a:buFont typeface="Arial" panose="020B0604020202020204" pitchFamily="34" charset="0"/>
              <a:buChar char="•"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Маркированный</a:t>
            </a:r>
            <a:r>
              <a:rPr sz="240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240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пункт</a:t>
            </a:r>
            <a:endParaRPr sz="24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9717BA5A-DB76-2947-8980-397B0219845D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10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2092069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333"/>
              </a:lnSpc>
              <a:buNone/>
              <a:def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54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Важное число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Крупное число привлекает внимание к главному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результату, а краткое пояснение раскрывает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его значение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83042"/>
              </a:lnSpc>
              <a:buNone/>
              <a:def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defRPr>
            </a:pPr>
            <a:r>
              <a:rPr sz="13200" b="0">
                <a:solidFill>
                  <a:srgbClr val="3A3A3A"/>
                </a:solidFill>
                <a:latin typeface="X5 Sans Medium"/>
                <a:ea typeface="X5 Sans Medium"/>
                <a:cs typeface="X5 Sans Medium"/>
              </a:rPr>
              <a:t>100 500 000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Здесь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можно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написать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краткое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пояснение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: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что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означает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показатель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  <a:p>
            <a:pPr algn="l">
              <a:lnSpc>
                <a:spcPct val="95238"/>
              </a:lnSpc>
              <a:buNone/>
              <a:defRPr sz="315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за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какой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период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он</a:t>
            </a:r>
            <a:r>
              <a:rPr sz="3150" b="0" dirty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 </a:t>
            </a:r>
            <a:r>
              <a:rPr sz="3150" b="0" dirty="0" err="1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рассчитан</a:t>
            </a:r>
            <a:endParaRPr sz="315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3407"/>
              </a:lnSpc>
              <a:buNone/>
              <a:defRPr sz="21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fld id="{7E366F20-A8E6-B048-AFEC-96231A2D35E4}" type="slidenum">
              <a:rPr lang="ru-RU" sz="210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11</a:t>
            </a:fld>
            <a:endParaRPr sz="2100" b="0" dirty="0">
              <a:solidFill>
                <a:srgbClr val="3A3A3A"/>
              </a:solidFill>
              <a:latin typeface="X5 Sans"/>
              <a:ea typeface="X5 Sans"/>
              <a:cs typeface="X5 Sans"/>
            </a:endParaRPr>
          </a:p>
        </p:txBody>
      </p:sp>
    </p:spTree>
    <p:extLst>
      <p:ext uri="{BB962C8B-B14F-4D97-AF65-F5344CB8AC3E}">
        <p14:creationId xmlns:p14="http://schemas.microsoft.com/office/powerpoint/2010/main" val="1033430637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500" b="0">
                <a:solidFill>
                  <a:srgbClr val="3A3A3A"/>
                </a:solidFill>
                <a:latin typeface="X5 Sans Medium"/>
              </a:rPr>
              <a:t>Как прошла неделя?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Что запомнили?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Пользователь: медийка → контекст → письмо → бренд-пои…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Пять моделей: A → B → C → конверсия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548640" y="2377440"/>
            <a:ext cx="17190720" cy="6949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 Medium"/>
              </a:rPr>
              <a:t>First-click  |  1  |  0  |  0  |  хвалит верх воронки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Last-click  |  0  |  0  |  1  |  хвалит перехватчиков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Linear  |  ⅓  |  ⅓  |  ⅓  |  все равны — демократия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Time-decay  |  0,15  |  0,30  |  0,55  |  затухание с потолка</a:t>
            </a:r>
          </a:p>
          <a:p>
            <a:r>
              <a:rPr sz="2200" b="0">
                <a:solidFill>
                  <a:srgbClr val="3A3A3A"/>
                </a:solidFill>
                <a:latin typeface="X5 Sans Medium"/>
              </a:rPr>
              <a:t>U-shaped  |  0,4  |  0,2  |  0,4  |  фиксированные веса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Показатель">
            <a:extLst>
              <a:ext uri="{FF2B5EF4-FFF2-40B4-BE49-F238E27FC236}">
                <a16:creationId xmlns:a16="http://schemas.microsoft.com/office/drawing/2014/main" id="{D7FD9C11-1ACD-4A70-9915-4682CD113FD9}"/>
              </a:ext>
            </a:extLst>
          </p:cNvPr>
          <p:cNvSpPr>
            <a:spLocks noGrp="1"/>
          </p:cNvSpPr>
          <p:nvPr/>
        </p:nvSpPr>
        <p:spPr>
          <a:xfrm>
            <a:off x="476250" y="3200400"/>
            <a:ext cx="17335500" cy="4827614"/>
          </a:xfrm>
          <a:prstGeom prst="roundRect">
            <a:avLst>
              <a:gd name="adj" fmla="val 5485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Заголовок">
            <a:extLst>
              <a:ext uri="{FF2B5EF4-FFF2-40B4-BE49-F238E27FC236}">
                <a16:creationId xmlns:a16="http://schemas.microsoft.com/office/drawing/2014/main" id="{D14659ED-5032-414C-9D68-2A2E46BA510E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4000" b="0">
                <a:solidFill>
                  <a:srgbClr val="3A3A3A"/>
                </a:solidFill>
                <a:latin typeface="X5 Sans Medium"/>
              </a:rPr>
              <a:t>доля бренд-контекста: la…</a:t>
            </a:r>
          </a:p>
        </p:txBody>
      </p:sp>
      <p:sp>
        <p:nvSpPr>
          <p:cNvPr id="5" name="Подзаголовок">
            <a:extLst>
              <a:ext uri="{FF2B5EF4-FFF2-40B4-BE49-F238E27FC236}">
                <a16:creationId xmlns:a16="http://schemas.microsoft.com/office/drawing/2014/main" id="{C45869ED-8F42-40AA-9D66-3D6648BD8BB0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400" b="0">
                <a:solidFill>
                  <a:srgbClr val="3A3A3A"/>
                </a:solidFill>
                <a:latin typeface="X5 Sans"/>
              </a:rPr>
              <a:t>Он закрывает, а не открывает</a:t>
            </a:r>
          </a:p>
        </p:txBody>
      </p:sp>
      <p:sp>
        <p:nvSpPr>
          <p:cNvPr id="6" name="Число">
            <a:extLst>
              <a:ext uri="{FF2B5EF4-FFF2-40B4-BE49-F238E27FC236}">
                <a16:creationId xmlns:a16="http://schemas.microsoft.com/office/drawing/2014/main" id="{B993BBEF-0DEC-4550-8C71-39ED8560D420}"/>
              </a:ext>
            </a:extLst>
          </p:cNvPr>
          <p:cNvSpPr>
            <a:spLocks noGrp="1"/>
          </p:cNvSpPr>
          <p:nvPr/>
        </p:nvSpPr>
        <p:spPr>
          <a:xfrm>
            <a:off x="933450" y="3657600"/>
            <a:ext cx="164211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3200" b="0">
                <a:solidFill>
                  <a:srgbClr val="3A3A3A"/>
                </a:solidFill>
                <a:latin typeface="X5 Sans Medium"/>
              </a:rPr>
              <a:t>34% → 8%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4F7C8453-546A-4364-9016-4D1B3896B21D}"/>
              </a:ext>
            </a:extLst>
          </p:cNvPr>
          <p:cNvSpPr>
            <a:spLocks noGrp="1"/>
          </p:cNvSpPr>
          <p:nvPr/>
        </p:nvSpPr>
        <p:spPr>
          <a:xfrm>
            <a:off x="933450" y="6286500"/>
            <a:ext cx="81153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"/>
              </a:rPr>
              <a:t>Медийка: last 4% vs first 28% — главный открыватель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Резать открывателей по last-click → CAC растёт через квартал</a:t>
            </a:r>
          </a:p>
          <a:p>
            <a:r>
              <a:rPr sz="2800" b="0">
                <a:solidFill>
                  <a:srgbClr val="3A3A3A"/>
                </a:solidFill>
                <a:latin typeface="X5 Sans"/>
              </a:rPr>
              <a:t>Расхождения моделей = диагностика роли канала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5"/>
          <a:stretch/>
        </p:blipFill>
        <p:spPr>
          <a:xfrm rot="72000">
            <a:off x="13868400" y="1937668"/>
            <a:ext cx="3600450" cy="3516064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6"/>
          <a:stretch/>
        </p:blipFill>
        <p:spPr>
          <a:xfrm rot="280800">
            <a:off x="12068175" y="8258175"/>
            <a:ext cx="1619250" cy="1619250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1" name="Номер страницы">
            <a:extLst>
              <a:ext uri="{FF2B5EF4-FFF2-40B4-BE49-F238E27FC236}">
                <a16:creationId xmlns:a16="http://schemas.microsoft.com/office/drawing/2014/main" id="{482A0575-9F8E-4C63-9B9D-8B5B7D68017C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«Почему моделей так много — не смогли определиться?»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Не смогли: правильной не существует.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Каждая модель — допущение под конкретный вопрос.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Как жить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модели рядом</a:t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2–3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Вопрос «кто открывает» → first/U-shaped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Вопрос «кто закрывает» → last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Держите 2–3 модели рядом, смотрите расхождения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Атрибуция отвечает «что было», не «что, если»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Рисунок 1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18" name="Рисунок 17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162800" y="1933575"/>
            <a:ext cx="8715375" cy="8353425"/>
          </a:xfrm>
          <a:prstGeom prst="rect">
            <a:avLst/>
          </a:prstGeom>
        </p:spPr>
      </p:pic>
      <p:pic>
        <p:nvPicPr>
          <p:cNvPr id="19" name="Рисунок 18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3190601" y="504825"/>
            <a:ext cx="2876741" cy="2876741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5395519" y="6967442"/>
            <a:ext cx="2688194" cy="3191637"/>
          </a:xfrm>
          <a:prstGeom prst="rect">
            <a:avLst/>
          </a:prstGeom>
        </p:spPr>
      </p:pic>
      <p:pic>
        <p:nvPicPr>
          <p:cNvPr id="21" name="Рисунок 2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4892528" y="1556671"/>
            <a:ext cx="2344484" cy="2344484"/>
          </a:xfrm>
          <a:prstGeom prst="rect">
            <a:avLst/>
          </a:prstGeom>
        </p:spPr>
      </p:pic>
      <p:sp>
        <p:nvSpPr>
          <p:cNvPr id="6" name="Заголовок">
            <a:extLst>
              <a:ext uri="{FF2B5EF4-FFF2-40B4-BE49-F238E27FC236}">
                <a16:creationId xmlns:a16="http://schemas.microsoft.com/office/drawing/2014/main" id="{498BBE52-B56A-4F73-8565-575347066D87}"/>
              </a:ext>
            </a:extLst>
          </p:cNvPr>
          <p:cNvSpPr>
            <a:spLocks noGrp="1"/>
          </p:cNvSpPr>
          <p:nvPr/>
        </p:nvSpPr>
        <p:spPr>
          <a:xfrm>
            <a:off x="476250" y="2895600"/>
            <a:ext cx="7429500" cy="2171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300" b="0">
                <a:solidFill>
                  <a:srgbClr val="3A3A3A"/>
                </a:solidFill>
                <a:latin typeface="X5 Sans Medium"/>
              </a:rPr>
              <a:t>Директ считает по своим правилам, вы — по своим.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Цифры не сойдутся никогда — и это нормально.</a:t>
            </a:r>
          </a:p>
          <a:p>
            <a:r>
              <a:rPr sz="3300" b="0">
                <a:solidFill>
                  <a:srgbClr val="3A3A3A"/>
                </a:solidFill>
                <a:latin typeface="X5 Sans Medium"/>
              </a:rPr>
              <a:t>Подписывайте методику в отчёте.</a:t>
            </a:r>
          </a:p>
        </p:txBody>
      </p:sp>
      <p:sp>
        <p:nvSpPr>
          <p:cNvPr id="7" name="Пояснение">
            <a:extLst>
              <a:ext uri="{FF2B5EF4-FFF2-40B4-BE49-F238E27FC236}">
                <a16:creationId xmlns:a16="http://schemas.microsoft.com/office/drawing/2014/main" id="{7FDFA29B-3B26-457E-8F99-F72D6D317D5E}"/>
              </a:ext>
            </a:extLst>
          </p:cNvPr>
          <p:cNvSpPr>
            <a:spLocks noGrp="1"/>
          </p:cNvSpPr>
          <p:nvPr/>
        </p:nvSpPr>
        <p:spPr>
          <a:xfrm>
            <a:off x="476250" y="5307626"/>
            <a:ext cx="857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36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477115" y="476250"/>
            <a:ext cx="1034305" cy="929926"/>
          </a:xfrm>
          <a:prstGeom prst="rect">
            <a:avLst/>
          </a:prstGeom>
        </p:spPr>
      </p:pic>
      <p:pic>
        <p:nvPicPr>
          <p:cNvPr id="25" name="Рисунок 2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1027176" y="907322"/>
            <a:ext cx="453200" cy="500408"/>
          </a:xfrm>
          <a:prstGeom prst="rect">
            <a:avLst/>
          </a:prstGeom>
        </p:spPr>
      </p:pic>
      <p:pic>
        <p:nvPicPr>
          <p:cNvPr id="26" name="Рисунок 2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1499806" y="907592"/>
            <a:ext cx="376904" cy="508821"/>
          </a:xfrm>
          <a:prstGeom prst="rect">
            <a:avLst/>
          </a:prstGeom>
        </p:spPr>
      </p:pic>
      <p:pic>
        <p:nvPicPr>
          <p:cNvPr id="27" name="Рисунок 26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076846" y="886682"/>
            <a:ext cx="2050036" cy="67541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1" name="Рисунок 2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Текстовый блок">
            <a:extLst>
              <a:ext uri="{FF2B5EF4-FFF2-40B4-BE49-F238E27FC236}">
                <a16:creationId xmlns:a16="http://schemas.microsoft.com/office/drawing/2014/main" id="{83BF2DA4-8395-4896-98A1-EE8ADF637024}"/>
              </a:ext>
            </a:extLst>
          </p:cNvPr>
          <p:cNvSpPr>
            <a:spLocks noGrp="1"/>
          </p:cNvSpPr>
          <p:nvPr/>
        </p:nvSpPr>
        <p:spPr>
          <a:xfrm>
            <a:off x="476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4" name="Список">
            <a:extLst>
              <a:ext uri="{FF2B5EF4-FFF2-40B4-BE49-F238E27FC236}">
                <a16:creationId xmlns:a16="http://schemas.microsoft.com/office/drawing/2014/main" id="{EE991465-5A34-4773-A228-4F61ECBBE8E6}"/>
              </a:ext>
            </a:extLst>
          </p:cNvPr>
          <p:cNvSpPr>
            <a:spLocks noGrp="1"/>
          </p:cNvSpPr>
          <p:nvPr/>
        </p:nvSpPr>
        <p:spPr>
          <a:xfrm>
            <a:off x="9239250" y="2819400"/>
            <a:ext cx="8572500" cy="5334000"/>
          </a:xfrm>
          <a:prstGeom prst="roundRect">
            <a:avLst>
              <a:gd name="adj" fmla="val 4643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/>
          <a:p/>
        </p:txBody>
      </p:sp>
      <p:sp>
        <p:nvSpPr>
          <p:cNvPr id="5" name="Заголовок">
            <a:extLst>
              <a:ext uri="{FF2B5EF4-FFF2-40B4-BE49-F238E27FC236}">
                <a16:creationId xmlns:a16="http://schemas.microsoft.com/office/drawing/2014/main" id="{70B4469F-6CF4-4B36-8D14-80B170FE0D58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85725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5400" b="0">
                <a:solidFill>
                  <a:srgbClr val="3A3A3A"/>
                </a:solidFill>
                <a:latin typeface="X5 Sans Medium"/>
              </a:rPr>
              <a:t>Что дальше</a:t>
            </a:r>
          </a:p>
        </p:txBody>
      </p:sp>
      <p:sp>
        <p:nvSpPr>
          <p:cNvPr id="6" name="Подзаголовок">
            <a:extLst>
              <a:ext uri="{FF2B5EF4-FFF2-40B4-BE49-F238E27FC236}">
                <a16:creationId xmlns:a16="http://schemas.microsoft.com/office/drawing/2014/main" id="{EADA99A8-63FD-4201-8FB7-7752A0FD2CE4}"/>
              </a:ext>
            </a:extLst>
          </p:cNvPr>
          <p:cNvSpPr>
            <a:spLocks noGrp="1"/>
          </p:cNvSpPr>
          <p:nvPr/>
        </p:nvSpPr>
        <p:spPr>
          <a:xfrm>
            <a:off x="476250" y="1485900"/>
            <a:ext cx="85725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7" name="Текстовый блок — заголовок">
            <a:extLst>
              <a:ext uri="{FF2B5EF4-FFF2-40B4-BE49-F238E27FC236}">
                <a16:creationId xmlns:a16="http://schemas.microsoft.com/office/drawing/2014/main" id="{60D8FFDF-B59C-4B0A-8CBE-3EF79B76F9B8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>Домашнее задание</a:t>
            </a:r>
          </a:p>
        </p:txBody>
      </p:sp>
      <p:sp>
        <p:nvSpPr>
          <p:cNvPr id="8" name="Текстовый блок — текст">
            <a:extLst>
              <a:ext uri="{FF2B5EF4-FFF2-40B4-BE49-F238E27FC236}">
                <a16:creationId xmlns:a16="http://schemas.microsoft.com/office/drawing/2014/main" id="{AC333327-0196-4226-8AE6-135E26DFFEF0}"/>
              </a:ext>
            </a:extLst>
          </p:cNvPr>
          <p:cNvSpPr>
            <a:spLocks noGrp="1"/>
          </p:cNvSpPr>
          <p:nvPr/>
        </p:nvSpPr>
        <p:spPr>
          <a:xfrm>
            <a:off x="800100" y="3848100"/>
            <a:ext cx="792480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000" b="0">
                <a:solidFill>
                  <a:srgbClr val="3A3A3A"/>
                </a:solidFill>
                <a:latin typeface="X5 Sans"/>
              </a:rPr>
              <a:t/>
            </a:r>
          </a:p>
        </p:txBody>
      </p:sp>
      <p:sp>
        <p:nvSpPr>
          <p:cNvPr id="9" name="Список — заголовок">
            <a:extLst>
              <a:ext uri="{FF2B5EF4-FFF2-40B4-BE49-F238E27FC236}">
                <a16:creationId xmlns:a16="http://schemas.microsoft.com/office/drawing/2014/main" id="{3C6A7525-86DB-4554-B760-371C8510005B}"/>
              </a:ext>
            </a:extLst>
          </p:cNvPr>
          <p:cNvSpPr>
            <a:spLocks noGrp="1"/>
          </p:cNvSpPr>
          <p:nvPr/>
        </p:nvSpPr>
        <p:spPr>
          <a:xfrm>
            <a:off x="9563100" y="3200400"/>
            <a:ext cx="7924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00" b="0">
                <a:solidFill>
                  <a:srgbClr val="3A3A3A"/>
                </a:solidFill>
                <a:latin typeface="X5 Sans Medium"/>
              </a:rPr>
              <a:t/>
            </a:r>
          </a:p>
        </p:txBody>
      </p:sp>
      <p:sp>
        <p:nvSpPr>
          <p:cNvPr id="10" name="Список — вводная">
            <a:extLst>
              <a:ext uri="{FF2B5EF4-FFF2-40B4-BE49-F238E27FC236}">
                <a16:creationId xmlns:a16="http://schemas.microsoft.com/office/drawing/2014/main" id="{EDD98C9F-4A8D-400A-82D5-F1B2EB5BE324}"/>
              </a:ext>
            </a:extLst>
          </p:cNvPr>
          <p:cNvSpPr>
            <a:spLocks noGrp="1"/>
          </p:cNvSpPr>
          <p:nvPr/>
        </p:nvSpPr>
        <p:spPr>
          <a:xfrm>
            <a:off x="9563100" y="3848100"/>
            <a:ext cx="79248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Короткая вводная мысль, которая связывает текст</a:t>
            </a:r>
          </a:p>
          <a:p>
            <a:pPr algn="l">
              <a:lnSpc>
                <a:spcPct val="96154"/>
              </a:lnSpc>
              <a:buNone/>
              <a:defRPr sz="2400" b="0">
                <a:solidFill>
                  <a:srgbClr val="3A3A3A"/>
                </a:solidFill>
                <a:latin typeface="X5 Sans"/>
                <a:ea typeface="X5 Sans"/>
                <a:cs typeface="X5 Sans"/>
              </a:defRPr>
            </a:pPr>
            <a:r>
              <a:rPr sz="2400" b="0">
                <a:solidFill>
                  <a:srgbClr val="3A3A3A"/>
                </a:solidFill>
                <a:latin typeface="X5 Sans"/>
                <a:ea typeface="X5 Sans"/>
                <a:cs typeface="X5 Sans"/>
              </a:rPr>
              <a:t>и список</a:t>
            </a:r>
          </a:p>
        </p:txBody>
      </p:sp>
      <p:sp>
        <p:nvSpPr>
          <p:cNvPr id="11" name="Список — пункты">
            <a:extLst>
              <a:ext uri="{FF2B5EF4-FFF2-40B4-BE49-F238E27FC236}">
                <a16:creationId xmlns:a16="http://schemas.microsoft.com/office/drawing/2014/main" id="{F442EF30-93C7-4546-9525-C1AA3D745C53}"/>
              </a:ext>
            </a:extLst>
          </p:cNvPr>
          <p:cNvSpPr>
            <a:spLocks noGrp="1"/>
          </p:cNvSpPr>
          <p:nvPr/>
        </p:nvSpPr>
        <p:spPr>
          <a:xfrm>
            <a:off x="9715500" y="4206240"/>
            <a:ext cx="7620000" cy="5120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200" b="0">
                <a:solidFill>
                  <a:srgbClr val="3A3A3A"/>
                </a:solidFill>
                <a:latin typeface="X5 Sans"/>
              </a:rPr>
              <a:t>Посчитать свою топ-кампанию в 3 моделях</a:t>
            </a:r>
          </a:p>
          <a:p>
            <a:r>
              <a:rPr sz="2200" b="0">
                <a:solidFill>
                  <a:srgbClr val="3A3A3A"/>
                </a:solidFill>
                <a:latin typeface="X5 Sans"/>
              </a:rPr>
              <a:t>Урок 4.3 — ML-атрибуция</a:t>
            </a:r>
          </a:p>
        </p:txBody>
      </p:sp>
      <p:pic>
        <p:nvPicPr>
          <p:cNvPr id="32" name="Рисунок 31"/>
          <p:cNvPicPr>
            <a:picLocks noChangeAspect="1"/>
          </p:cNvPicPr>
          <p:nvPr/>
        </p:nvPicPr>
        <p:blipFill>
          <a:blip r:embed="rId5"/>
          <a:stretch/>
        </p:blipFill>
        <p:spPr>
          <a:xfrm rot="879000">
            <a:off x="14963775" y="1371600"/>
            <a:ext cx="2276475" cy="2276475"/>
          </a:xfrm>
          <a:prstGeom prst="rect">
            <a:avLst/>
          </a:prstGeom>
        </p:spPr>
      </p:pic>
      <p:pic>
        <p:nvPicPr>
          <p:cNvPr id="33" name="Рисунок 3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095875" y="6562725"/>
            <a:ext cx="4467225" cy="3724275"/>
          </a:xfrm>
          <a:prstGeom prst="rect">
            <a:avLst/>
          </a:prstGeom>
        </p:spPr>
      </p:pic>
      <p:pic>
        <p:nvPicPr>
          <p:cNvPr id="34" name="Рисунок 3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482379" y="9186863"/>
            <a:ext cx="2083242" cy="623888"/>
          </a:xfrm>
          <a:prstGeom prst="rect">
            <a:avLst/>
          </a:prstGeom>
        </p:spPr>
      </p:pic>
      <p:sp>
        <p:nvSpPr>
          <p:cNvPr id="15" name="Номер страницы">
            <a:extLst>
              <a:ext uri="{FF2B5EF4-FFF2-40B4-BE49-F238E27FC236}">
                <a16:creationId xmlns:a16="http://schemas.microsoft.com/office/drawing/2014/main" id="{8CB3DCAF-5969-49CE-B198-E4C5CEA31C56}"/>
              </a:ext>
            </a:extLst>
          </p:cNvPr>
          <p:cNvSpPr>
            <a:spLocks noGrp="1"/>
          </p:cNvSpPr>
          <p:nvPr/>
        </p:nvSpPr>
        <p:spPr>
          <a:xfrm>
            <a:off x="16859250" y="9467850"/>
            <a:ext cx="952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3720</TotalTime>
  <Words>1212</Words>
  <Application>Microsoft Macintosh PowerPoint</Application>
  <DocSecurity>0</DocSecurity>
  <PresentationFormat>Произвольный</PresentationFormat>
  <Paragraphs>455</Paragraphs>
  <Slides>37</Slides>
  <Notes>37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2" baseType="lpstr">
      <vt:lpstr>Calibri</vt:lpstr>
      <vt:lpstr>X5 Sans</vt:lpstr>
      <vt:lpstr>Arial</vt:lpstr>
      <vt:lpstr>X5 Sans Medium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Valer.Morozova</cp:lastModifiedBy>
  <cp:revision>59</cp:revision>
  <dcterms:created xsi:type="dcterms:W3CDTF">2026-10-02T18:21:13Z</dcterms:created>
  <dcterms:modified xsi:type="dcterms:W3CDTF">2026-10-05T10:12:24Z</dcterms:modified>
</cp:coreProperties>
</file>