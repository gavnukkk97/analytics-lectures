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9"/>
  </p:notesMasterIdLst>
  <p:sldIdLst>
    <p:sldId id="269" r:id="rId14"/>
    <p:sldId id="270" r:id="rId15"/>
    <p:sldId id="271" r:id="rId16"/>
    <p:sldId id="272" r:id="rId17"/>
    <p:sldId id="273" r:id="rId18"/>
    <p:sldId id="274" r:id="rId19"/>
  </p:sldIdLst>
  <p:sldSz cx="18288000" cy="10287000"/>
  <p:notesSz cx="6858000" cy="9144000"/>
  <p:embeddedFontLst>
    <p:embeddedFont>
      <p:font typeface="X5 Sans" panose="020B0403020203020204" pitchFamily="34" charset="0"/>
      <p:regular r:id="rId40"/>
      <p:bold r:id="rId41"/>
    </p:embeddedFont>
    <p:embeddedFont>
      <p:font typeface="X5 Sans Medium" panose="020B0403020203020204" pitchFamily="34" charset="0"/>
      <p:regular r:id="rId4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ADE"/>
    <a:srgbClr val="C4C5C6"/>
    <a:srgbClr val="E6E7E9"/>
    <a:srgbClr val="DFD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/>
    <p:restoredTop sz="94601"/>
  </p:normalViewPr>
  <p:slideViewPr>
    <p:cSldViewPr snapToGrid="0">
      <p:cViewPr varScale="1">
        <p:scale>
          <a:sx n="73" d="100"/>
          <a:sy n="73" d="100"/>
        </p:scale>
        <p:origin x="51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39" Type="http://schemas.openxmlformats.org/officeDocument/2006/relationships/notesMaster" Target="notesMasters/notesMaster1.xml"/><Relationship Id="rId40" Type="http://schemas.openxmlformats.org/officeDocument/2006/relationships/font" Target="fonts/font1.fntdata"/><Relationship Id="rId41" Type="http://schemas.openxmlformats.org/officeDocument/2006/relationships/font" Target="fonts/font2.fntdata"/><Relationship Id="rId42" Type="http://schemas.openxmlformats.org/officeDocument/2006/relationships/font" Target="fonts/font3.fnt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EF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75549"/>
              </a:lnSpc>
              <a:buNone/>
              <a:defRPr sz="8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Заголовок</a:t>
            </a:r>
            <a:endParaRPr sz="8400" b="0" dirty="0">
              <a:solidFill>
                <a:srgbClr val="3A3A3A"/>
              </a:solidFill>
              <a:latin typeface="X5 Sans Medium"/>
              <a:ea typeface="X5 Sans Medium"/>
              <a:cs typeface="X5 Sans Medium"/>
            </a:endParaRPr>
          </a:p>
          <a:p>
            <a:pPr algn="l">
              <a:lnSpc>
                <a:spcPct val="75549"/>
              </a:lnSpc>
              <a:buNone/>
              <a:defRPr sz="8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в</a:t>
            </a:r>
            <a:r>
              <a:rPr sz="84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две</a:t>
            </a:r>
            <a:r>
              <a:rPr sz="84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84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строки</a:t>
            </a:r>
            <a:endParaRPr sz="8400" b="0" dirty="0">
              <a:solidFill>
                <a:srgbClr val="3A3A3A"/>
              </a:solidFill>
              <a:latin typeface="X5 Sans Medium"/>
              <a:ea typeface="X5 Sans Medium"/>
              <a:cs typeface="X5 Sans Medium"/>
            </a:endParaRP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73718"/>
              </a:lnSpc>
              <a:buNone/>
              <a:defRPr sz="36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Пояснение</a:t>
            </a:r>
            <a:r>
              <a:rPr sz="36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к</a:t>
            </a:r>
            <a:r>
              <a:rPr sz="36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основной</a:t>
            </a:r>
            <a:r>
              <a:rPr sz="3600" b="0" dirty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 </a:t>
            </a:r>
            <a:r>
              <a:rPr sz="3600" b="0" dirty="0" err="1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мысли</a:t>
            </a:r>
            <a:endParaRPr sz="3600" b="0" dirty="0">
              <a:solidFill>
                <a:srgbClr val="3A3A3A"/>
              </a:solidFill>
              <a:latin typeface="X5 Sans Medium"/>
              <a:ea typeface="X5 Sans Medium"/>
              <a:cs typeface="X5 Sans Medium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998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3333"/>
              </a:lnSpc>
              <a:buNone/>
              <a:def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54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Текст и список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Пояснение темы вместе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со структурированными тезисами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4615"/>
              </a:lnSpc>
              <a:buNone/>
              <a:def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Текстовый блок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Здесь можно подробно раскрыть тему, дать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контекст или объяснить логику решения.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Текстовый блок поддерживает несколько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небольших абзацев и помогает подготовить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читателя к тезисам в соседней колонке</a:t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4615"/>
              </a:lnSpc>
              <a:buNone/>
              <a:def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defRPr>
            </a:pPr>
            <a:r>
              <a:rPr sz="3000" b="0">
                <a:solidFill>
                  <a:srgbClr val="3A3A3A"/>
                </a:solidFill>
                <a:latin typeface="X5 Sans Medium"/>
                <a:ea typeface="X5 Sans Medium"/>
                <a:cs typeface="X5 Sans Medium"/>
              </a:rPr>
              <a:t>Ключевые пункты</a:t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457200" indent="-457200" algn="l">
              <a:lnSpc>
                <a:spcPct val="96154"/>
              </a:lnSpc>
              <a:buFont typeface="+mj-lt"/>
              <a:buAutoNum type="arabicPeriod"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Нумерованный</a:t>
            </a:r>
            <a:r>
              <a:rPr sz="240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пункт</a:t>
            </a:r>
            <a:endParaRPr sz="24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  <a:p>
            <a:pPr marL="342900" indent="-342900" algn="l">
              <a:lnSpc>
                <a:spcPct val="96154"/>
              </a:lnSpc>
              <a:buFont typeface="Arial" panose="020B0604020202020204" pitchFamily="34" charset="0"/>
              <a:buChar char="•"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Маркированный</a:t>
            </a:r>
            <a:r>
              <a:rPr sz="2400" b="0" dirty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 </a:t>
            </a:r>
            <a:r>
              <a:rPr sz="2400" b="0" dirty="0" err="1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пункт</a:t>
            </a:r>
            <a:endParaRPr sz="24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3407"/>
              </a:lnSpc>
              <a:buNone/>
              <a:defRPr sz="21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fld id="{9717BA5A-DB76-2947-8980-397B0219845D}" type="slidenum">
              <a:rPr lang="ru-RU" sz="210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10</a:t>
            </a:fld>
            <a:endParaRPr sz="2100" b="0" dirty="0">
              <a:solidFill>
                <a:srgbClr val="3A3A3A"/>
              </a:solidFill>
              <a:latin typeface="X5 Sans"/>
              <a:ea typeface="X5 Sans"/>
              <a:cs typeface="X5 Sans"/>
            </a:endParaRPr>
          </a:p>
        </p:txBody>
      </p:sp>
    </p:spTree>
    <p:extLst>
      <p:ext uri="{BB962C8B-B14F-4D97-AF65-F5344CB8AC3E}">
        <p14:creationId xmlns:p14="http://schemas.microsoft.com/office/powerpoint/2010/main" val="2092069521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Как прошла неделя?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Что запомнили?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Что делает фабрика, чего не делает чат с LLM?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Где в конвейере обязан стоять человек?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XTracker: «задача входит — MR выходит».</a:t>
            </a:r>
          </a:p>
          <a:p>
            <a:r>
              <a:rPr sz="3300" b="0">
                <a:solidFill>
                  <a:srgbClr val="3A3A3A"/>
                </a:solidFill>
                <a:latin typeface="X5 Sans Medium"/>
              </a:rPr>
              <a:t>Ни одной улики без цитаты из источника.</a:t>
            </a:r>
          </a:p>
          <a:p>
            <a:r>
              <a:rPr sz="3300" b="0">
                <a:solidFill>
                  <a:srgbClr val="3A3A3A"/>
                </a:solidFill>
                <a:latin typeface="X5 Sans Medium"/>
              </a:rPr>
              <a:t>Человек открывает MR, автомерж выключен.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200" b="0">
                <a:solidFill>
                  <a:srgbClr val="3A3A3A"/>
                </a:solidFill>
                <a:latin typeface="X5 Sans Medium"/>
              </a:rPr>
              <a:t>Семь ролей фабрики аналитики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17190720" cy="6949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 Medium"/>
              </a:rPr>
              <a:t>Роль · Вход → выход · Контроль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1. Исследователь  |  запрос → постановка  |  человек утверждает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2. Сборщик  |  постановка → датасет  |  схемы, свежесть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3. Разметчик (LLM)  |  open-ends → категории  |  κ-валидация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4. Синтетик (LLM)  |  сегменты → персоны  |  маркировка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5. Модельер  |  данные → расчёты  |  автотесты формул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6. Визуализатор  |  результаты → отчёт  |  фактчек чисел</a:t>
            </a:r>
          </a:p>
          <a:p>
            <a:r>
              <a:rPr sz="2200" b="0">
                <a:solidFill>
                  <a:srgbClr val="3A3A3A"/>
                </a:solidFill>
                <a:latin typeface="X5 Sans Medium"/>
              </a:rPr>
              <a:t>7. Ревьюер  |  черновик → вердикт  |  приёмщик — человек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Стек: опрос → разметка → дашборд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вместо двух недель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1 день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Яндекс Формы → n8n / Cloud Functions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YandexGPT в контуре: разметка, выход JSON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Таблица (YDB/ClickHouse) → DataLens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Промпты и кодбуки — в git, κ — на дашборде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Не отдавать фабрике: методологию,</a:t>
            </a:r>
          </a:p>
          <a:p>
            <a:r>
              <a:rPr sz="3300" b="0">
                <a:solidFill>
                  <a:srgbClr val="3A3A3A"/>
                </a:solidFill>
                <a:latin typeface="X5 Sans Medium"/>
              </a:rPr>
              <a:t>финальные выводы, решения с деньгами.</a:t>
            </a:r>
          </a:p>
          <a:p>
            <a:r>
              <a:rPr sz="3300" b="0">
                <a:solidFill>
                  <a:srgbClr val="3A3A3A"/>
                </a:solidFill>
                <a:latin typeface="X5 Sans Medium"/>
              </a:rPr>
              <a:t>Узкие роли с контрактами — управляемость.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5400" b="0">
                <a:solidFill>
                  <a:srgbClr val="3A3A3A"/>
                </a:solidFill>
                <a:latin typeface="X5 Sans Medium"/>
              </a:rPr>
              <a:t>Что дальше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Домашнее задание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/>
            </a:r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/>
            </a:r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Короткая вводная мысль, которая связывает текст</a:t>
            </a:r>
          </a:p>
          <a:p>
            <a:pPr algn="l">
              <a:lnSpc>
                <a:spcPct val="96154"/>
              </a:lnSpc>
              <a:buNone/>
              <a:defRPr sz="2400" b="0">
                <a:solidFill>
                  <a:srgbClr val="3A3A3A"/>
                </a:solidFill>
                <a:latin typeface="X5 Sans"/>
                <a:ea typeface="X5 Sans"/>
                <a:cs typeface="X5 Sans"/>
              </a:defRPr>
            </a:pPr>
            <a:r>
              <a:rPr sz="2400" b="0">
                <a:solidFill>
                  <a:srgbClr val="3A3A3A"/>
                </a:solidFill>
                <a:latin typeface="X5 Sans"/>
                <a:ea typeface="X5 Sans"/>
                <a:cs typeface="X5 Sans"/>
              </a:rPr>
              <a:t>и список</a:t>
            </a:r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Схема фабрики для своей регулярной задачи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Урок 7.3 — итоговый проект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3720</TotalTime>
  <Words>1212</Words>
  <Application>Microsoft Macintosh PowerPoint</Application>
  <DocSecurity>0</DocSecurity>
  <PresentationFormat>Произвольный</PresentationFormat>
  <Paragraphs>455</Paragraphs>
  <Slides>37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Calibri</vt:lpstr>
      <vt:lpstr>X5 Sans</vt:lpstr>
      <vt:lpstr>Arial</vt:lpstr>
      <vt:lpstr>X5 Sans Medium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Valer.Morozova</cp:lastModifiedBy>
  <cp:revision>59</cp:revision>
  <dcterms:created xsi:type="dcterms:W3CDTF">2026-10-02T18:21:13Z</dcterms:created>
  <dcterms:modified xsi:type="dcterms:W3CDTF">2026-10-05T10:12:24Z</dcterms:modified>
</cp:coreProperties>
</file>