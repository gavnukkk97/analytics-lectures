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FA3C4"/>
                </a:solidFill>
                <a:latin typeface="Arial"/>
              </a:rPr>
              <a:t>МОДУЛЬ 1 · УРОК 1.2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110916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Arial"/>
              </a:rPr>
              <a:t>Цели маркетинга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9496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EB9CE"/>
                </a:solidFill>
                <a:latin typeface="Arial"/>
              </a:rPr>
              <a:t>Четыре двигателя роста и их метрики</a:t>
            </a:r>
          </a:p>
          <a:p>
            <a:pPr algn="l"/>
            <a:r>
              <a:rPr sz="1600" b="0">
                <a:solidFill>
                  <a:srgbClr val="AEB9CE"/>
                </a:solidFill>
                <a:latin typeface="Arial"/>
              </a:rPr>
              <a:t>Кирилл Садчиков · маркетинговая аналитика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2A44"/>
                </a:solidFill>
                <a:latin typeface="Arial"/>
              </a:rPr>
              <a:t>Как прошла неделя?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10916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Arial"/>
              </a:rPr>
              <a:t>Назовите 4 цели маркетинга. Своими словами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Arial"/>
              </a:rPr>
              <a:t>Чем реактивация отличается от удержания?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Arial"/>
              </a:rPr>
              <a:t/>
            </a:r>
          </a:p>
          <a:p>
            <a:pPr algn="l"/>
            <a:r>
              <a:rPr sz="1800" b="0">
                <a:solidFill>
                  <a:srgbClr val="6B7280"/>
                </a:solidFill>
                <a:latin typeface="Arial"/>
              </a:rPr>
              <a:t>Что запомнили с прошлого урока? Что хотели бы проверить у себя на работе?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Arial"/>
              </a:rPr>
              <a:t>Четыре цели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554480"/>
          <a:ext cx="11091672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594360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Цель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Метрики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Горизонт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Привлечение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CAC, CPC/CPA, конверсия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дни–недели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Активация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activation rate, время до 1-го заказа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первая неделя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Удержание / реактивация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retention, churn, LTV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месяцы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Бренд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воронка узнаваемости, top-of-mind, NPS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кварталы–годы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1109167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F2A44"/>
                </a:solidFill>
                <a:latin typeface="Arial"/>
              </a:rPr>
              <a:t>Скачал приложение ≠ клиент.
CAC считаем по первым заказам, не по установкам.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Arial"/>
              </a:rPr>
              <a:t>Бренд-воронка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3291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E8590C"/>
                </a:solidFill>
                <a:latin typeface="Arial"/>
              </a:rPr>
              <a:t>top-of-mind</a:t>
            </a:r>
          </a:p>
          <a:p>
            <a:pPr algn="ctr"/>
            <a:r>
              <a:rPr sz="1500" b="0">
                <a:solidFill>
                  <a:srgbClr val="6B7280"/>
                </a:solidFill>
                <a:latin typeface="Arial"/>
              </a:rPr>
              <a:t>главный приз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1737360"/>
            <a:ext cx="71597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Знают марку (aided recall — по списку)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Вспоминают сами (spontaneous)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Называют первыми (top-of-mind)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Рассматривают → покупают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Измеряется опросами и трекингом, не логами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Arial"/>
              </a:rPr>
              <a:t>Активация — отдельная цель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3291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E8590C"/>
                </a:solidFill>
                <a:latin typeface="Arial"/>
              </a:rPr>
              <a:t>aha</a:t>
            </a:r>
          </a:p>
          <a:p>
            <a:pPr algn="ctr"/>
            <a:r>
              <a:rPr sz="1500" b="0">
                <a:solidFill>
                  <a:srgbClr val="6B7280"/>
                </a:solidFill>
                <a:latin typeface="Arial"/>
              </a:rPr>
              <a:t>момент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1737360"/>
            <a:ext cx="71597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Привести и «включить» — разные работы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Неактивированный юзер: в знаменателе CAC, но его нет в retention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Активация — стык маркетинга и продукта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1109167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F2A44"/>
                </a:solidFill>
                <a:latin typeface="Arial"/>
              </a:rPr>
              <a:t>У каждой кампании — своя метрика успеха.
Смешение целей в одном отчёте = вечный спор «работает/не работает».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Arial"/>
              </a:rPr>
              <a:t>Кампания → цель → метрика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554480"/>
          <a:ext cx="11091672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594360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Кампания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Цель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Метрика успеха / ловушка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Контекст «доставка еды»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привлечение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CAC по 1-м заказам / охват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Письмо «как заказать»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активация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% 1-х заказов за 7 дней / открытия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Пуш «любимая ролловая»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реактивация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повторные заказы / CTR пуша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Блогер-кулинар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бренд+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брендовые запросы, LTV когорты / CPC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0"/>
            <a:ext cx="110916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Что дальше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651760"/>
            <a:ext cx="11091672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9E1EF"/>
                </a:solidFill>
                <a:latin typeface="Arial"/>
              </a:rPr>
              <a:t>→ Разложить 5 реальных кампаний по целям: метрика успеха + ловушка</a:t>
            </a:r>
          </a:p>
          <a:p>
            <a:pPr algn="l"/>
            <a:r>
              <a:rPr sz="2000" b="0">
                <a:solidFill>
                  <a:srgbClr val="D9E1EF"/>
                </a:solidFill>
                <a:latin typeface="Arial"/>
              </a:rPr>
              <a:t>→ Урок 1.3 — маркетинг × продукт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FA3C4"/>
                </a:solidFill>
                <a:latin typeface="Arial"/>
              </a:rPr>
              <a:t>Курс «Маркетинговая аналитика» · драфт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