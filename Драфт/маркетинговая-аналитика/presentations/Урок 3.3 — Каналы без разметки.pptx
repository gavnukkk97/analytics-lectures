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FA3C4"/>
                </a:solidFill>
                <a:latin typeface="Arial"/>
              </a:rPr>
              <a:t>МОДУЛЬ 3 · УРОК 3.3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16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Каналы без разметки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9496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EB9CE"/>
                </a:solidFill>
                <a:latin typeface="Arial"/>
              </a:rPr>
              <a:t>Как измерить ТВ, радио и наружку</a:t>
            </a:r>
          </a:p>
          <a:p>
            <a:pPr algn="l"/>
            <a:r>
              <a:rPr sz="1600" b="0">
                <a:solidFill>
                  <a:srgbClr val="AEB9CE"/>
                </a:solidFill>
                <a:latin typeface="Arial"/>
              </a:rPr>
              <a:t>Кирилл Садчиков · маркетинговая аналитика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Arial"/>
              </a:rPr>
              <a:t>Как прошла неделя?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Arial"/>
              </a:rPr>
              <a:t>Почему last-click «не видит» ТВ?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Arial"/>
              </a:rPr>
              <a:t>Брендовые запросы выросли на 25%. Поздравлять?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/>
            </a:r>
          </a:p>
          <a:p>
            <a:pPr algn="l"/>
            <a:r>
              <a:rPr sz="1800" b="0">
                <a:solidFill>
                  <a:srgbClr val="6B7280"/>
                </a:solidFill>
                <a:latin typeface="Arial"/>
              </a:rPr>
              <a:t>Что запомнили с прошлого урока? Что хотели бы проверить у себя на работе?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9167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A44"/>
                </a:solidFill>
                <a:latin typeface="Arial"/>
              </a:rPr>
              <a:t>ТВ не кликается.
Оно меняет память — а память приходит
через брендовый запрос и прямой заход.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rial"/>
              </a:rPr>
              <a:t>Пик-анализ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E8590C"/>
                </a:solidFill>
                <a:latin typeface="Arial"/>
              </a:rPr>
              <a:t>пик</a:t>
            </a:r>
          </a:p>
          <a:p>
            <a:pPr algn="ctr"/>
            <a:r>
              <a:rPr sz="1500" b="0">
                <a:solidFill>
                  <a:srgbClr val="6B7280"/>
                </a:solidFill>
                <a:latin typeface="Arial"/>
              </a:rPr>
              <a:t>после вылета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1737360"/>
            <a:ext cx="71597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База брендовых запросов ДО (с сезоном!)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Вылеты роликов из медиаплана на динамике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Пик = «вспомнили», затухание = память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Рядом: direct, установки, брендовый CTR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55448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>
                <a:solidFill>
                  <a:srgbClr val="E8590C"/>
                </a:solidFill>
                <a:latin typeface="Arial"/>
              </a:rPr>
              <a:t>+57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9319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Arial"/>
              </a:rPr>
              <a:t>приростных новых юзеров на 10 тыс. жителей — эффект ТВ-теста (DiD)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1737360"/>
            <a:ext cx="5760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Тест-гео: +64, контроль: +7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Расход ÷ прирост = «CAC ТВ» ≈ 940 ₽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Дешевле контекста? Нет. Но растит весь рынок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Органика и бренд-кампании подешевели на 6%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rial"/>
              </a:rPr>
              <a:t>Иерархия методов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E8590C"/>
                </a:solidFill>
                <a:latin typeface="Arial"/>
              </a:rPr>
              <a:t>3</a:t>
            </a:r>
          </a:p>
          <a:p>
            <a:pPr algn="ctr"/>
            <a:r>
              <a:rPr sz="1500" b="0">
                <a:solidFill>
                  <a:srgbClr val="6B7280"/>
                </a:solidFill>
                <a:latin typeface="Arial"/>
              </a:rPr>
              <a:t>этажа методов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1737360"/>
            <a:ext cx="71597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Гео-эксперимент (DiD) — инкрементальность, золото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MMM — все каналы, история 1–2 года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Пик-анализ + опросы/промокоды — быстро, прокси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Опросы врут памятью, промокод честнее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9167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A44"/>
                </a:solidFill>
                <a:latin typeface="Arial"/>
              </a:rPr>
              <a:t>Пики без контроля «докажут» эффективность чего угодно:
сезон, праздник и конкурент всегда рядом.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Что дальше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651760"/>
            <a:ext cx="1109167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9E1EF"/>
                </a:solidFill>
                <a:latin typeface="Arial"/>
              </a:rPr>
              <a:t>→ Пик-анализ своей последней кампании</a:t>
            </a:r>
          </a:p>
          <a:p>
            <a:pPr algn="l"/>
            <a:r>
              <a:rPr sz="2000" b="0">
                <a:solidFill>
                  <a:srgbClr val="D9E1EF"/>
                </a:solidFill>
                <a:latin typeface="Arial"/>
              </a:rPr>
              <a:t>→ Модуль М4 — сквозная аналитика и атрибуция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A3C4"/>
                </a:solidFill>
                <a:latin typeface="Arial"/>
              </a:rPr>
              <a:t>Курс «Маркетинговая аналитика» · драфт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