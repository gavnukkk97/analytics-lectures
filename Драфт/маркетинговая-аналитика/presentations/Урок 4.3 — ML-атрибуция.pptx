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828800"/>
            <a:ext cx="1109167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8FA3C4"/>
                </a:solidFill>
                <a:latin typeface="Arial"/>
              </a:rPr>
              <a:t>МОДУЛЬ 4 · УРОК 4.3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2377440"/>
            <a:ext cx="11091672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Arial"/>
              </a:rPr>
              <a:t>ML-атрибуция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39496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AEB9CE"/>
                </a:solidFill>
                <a:latin typeface="Arial"/>
              </a:rPr>
              <a:t>Размеченные данные и вклад касаний</a:t>
            </a:r>
          </a:p>
          <a:p>
            <a:pPr algn="l"/>
            <a:r>
              <a:rPr sz="1600" b="0">
                <a:solidFill>
                  <a:srgbClr val="AEB9CE"/>
                </a:solidFill>
                <a:latin typeface="Arial"/>
              </a:rPr>
              <a:t>Кирилл Садчиков · маркетинговая аналитика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167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1F2A44"/>
                </a:solidFill>
                <a:latin typeface="Arial"/>
              </a:rPr>
              <a:t>Как прошла неделя?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11091672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333333"/>
                </a:solidFill>
                <a:latin typeface="Arial"/>
              </a:rPr>
              <a:t>Что такое «размеченные данные» простыми словами?</a:t>
            </a:r>
          </a:p>
          <a:p>
            <a:pPr algn="l"/>
            <a:r>
              <a:rPr sz="2200" b="0">
                <a:solidFill>
                  <a:srgbClr val="333333"/>
                </a:solidFill>
                <a:latin typeface="Arial"/>
              </a:rPr>
              <a:t>Модель отдала бренду 3% вклада. Резать бюджет?</a:t>
            </a:r>
          </a:p>
          <a:p>
            <a:pPr algn="l"/>
            <a:r>
              <a:rPr sz="1000" b="0">
                <a:solidFill>
                  <a:srgbClr val="6B7280"/>
                </a:solidFill>
                <a:latin typeface="Arial"/>
              </a:rPr>
              <a:t/>
            </a:r>
          </a:p>
          <a:p>
            <a:pPr algn="l"/>
            <a:r>
              <a:rPr sz="1800" b="0">
                <a:solidFill>
                  <a:srgbClr val="6B7280"/>
                </a:solidFill>
                <a:latin typeface="Arial"/>
              </a:rPr>
              <a:t>Что запомнили с прошлого урока? Что хотели бы проверить у себя на работе?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011680"/>
            <a:ext cx="11091672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1F2A44"/>
                </a:solidFill>
                <a:latin typeface="Arial"/>
              </a:rPr>
              <a:t>ML-атрибуция: веса не задаются правилом,
а восстанавливаются из данных —
по влиянию касаний на вероятность конверсии.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167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F2A44"/>
                </a:solidFill>
                <a:latin typeface="Arial"/>
              </a:rPr>
              <a:t>Размеченные данные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737360"/>
            <a:ext cx="329184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400" b="1">
                <a:solidFill>
                  <a:srgbClr val="E8590C"/>
                </a:solidFill>
                <a:latin typeface="Arial"/>
              </a:rPr>
              <a:t>0/1</a:t>
            </a:r>
          </a:p>
          <a:p>
            <a:pPr algn="ctr"/>
            <a:r>
              <a:rPr sz="1500" b="0">
                <a:solidFill>
                  <a:srgbClr val="6B7280"/>
                </a:solidFill>
                <a:latin typeface="Arial"/>
              </a:rPr>
              <a:t>метка из CRM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1737360"/>
            <a:ext cx="7159752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333333"/>
                </a:solidFill>
                <a:latin typeface="Arial"/>
              </a:rPr>
              <a:t>Пользователь → конверсия 0/1</a:t>
            </a:r>
          </a:p>
          <a:p>
            <a:pPr algn="l"/>
            <a:r>
              <a:rPr sz="900" b="0">
                <a:solidFill>
                  <a:srgbClr val="333333"/>
                </a:solidFill>
                <a:latin typeface="Arial"/>
              </a:rPr>
              <a:t/>
            </a:r>
          </a:p>
          <a:p>
            <a:pPr algn="l"/>
            <a:r>
              <a:rPr sz="2000" b="0">
                <a:solidFill>
                  <a:srgbClr val="333333"/>
                </a:solidFill>
                <a:latin typeface="Arial"/>
              </a:rPr>
              <a:t>Касания: показы и клики из кабинетов (включая view-through)</a:t>
            </a:r>
          </a:p>
          <a:p>
            <a:pPr algn="l"/>
            <a:r>
              <a:rPr sz="900" b="0">
                <a:solidFill>
                  <a:srgbClr val="333333"/>
                </a:solidFill>
                <a:latin typeface="Arial"/>
              </a:rPr>
              <a:t/>
            </a:r>
          </a:p>
          <a:p>
            <a:pPr algn="l"/>
            <a:r>
              <a:rPr sz="2000" b="0">
                <a:solidFill>
                  <a:srgbClr val="333333"/>
                </a:solidFill>
                <a:latin typeface="Arial"/>
              </a:rPr>
              <a:t>Поведение: страницы, устройства, время</a:t>
            </a:r>
          </a:p>
          <a:p>
            <a:pPr algn="l"/>
            <a:r>
              <a:rPr sz="900" b="0">
                <a:solidFill>
                  <a:srgbClr val="333333"/>
                </a:solidFill>
                <a:latin typeface="Arial"/>
              </a:rPr>
              <a:t/>
            </a:r>
          </a:p>
          <a:p>
            <a:pPr algn="l"/>
            <a:r>
              <a:rPr sz="2000" b="0">
                <a:solidFill>
                  <a:srgbClr val="333333"/>
                </a:solidFill>
                <a:latin typeface="Arial"/>
              </a:rPr>
              <a:t>Метка конверсии — из CRM (мэтчинг покупок)</a:t>
            </a:r>
          </a:p>
          <a:p>
            <a:pPr algn="l"/>
            <a:r>
              <a:rPr sz="900" b="0">
                <a:solidFill>
                  <a:srgbClr val="333333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554480"/>
            <a:ext cx="47548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800" b="1">
                <a:solidFill>
                  <a:srgbClr val="E8590C"/>
                </a:solidFill>
                <a:latin typeface="Arial"/>
              </a:rPr>
              <a:t>ΔP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3931920"/>
            <a:ext cx="49377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F2A44"/>
                </a:solidFill>
                <a:latin typeface="Arial"/>
              </a:rPr>
              <a:t>вклад касания = вероятность «с касанием» минус «без»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52160" y="1737360"/>
            <a:ext cx="57607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333333"/>
                </a:solidFill>
                <a:latin typeface="Arial"/>
              </a:rPr>
              <a:t>P с бренд-касанием 0,081 vs без 0,078 → вклад ≈ 0</a:t>
            </a:r>
          </a:p>
          <a:p>
            <a:pPr algn="l"/>
            <a:r>
              <a:rPr sz="1700" b="0">
                <a:solidFill>
                  <a:srgbClr val="333333"/>
                </a:solidFill>
                <a:latin typeface="Arial"/>
              </a:rPr>
              <a:t>P без медийки 0,049 → вклад 0,032 — медийка подняла шансы в разы</a:t>
            </a:r>
          </a:p>
          <a:p>
            <a:pPr algn="l"/>
            <a:r>
              <a:rPr sz="1700" b="0">
                <a:solidFill>
                  <a:srgbClr val="333333"/>
                </a:solidFill>
                <a:latin typeface="Arial"/>
              </a:rPr>
              <a:t>Last-click отдал бы всё бренду, медийке — ноль</a:t>
            </a:r>
          </a:p>
          <a:p>
            <a:pPr algn="l"/>
            <a:r>
              <a:rPr sz="1700" b="0">
                <a:solidFill>
                  <a:srgbClr val="333333"/>
                </a:solidFill>
                <a:latin typeface="Arial"/>
              </a:rPr>
              <a:t>Кейс vc.ru: перераспределение на небренд → рост клиентов при том же бюджете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167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F2A44"/>
                </a:solidFill>
                <a:latin typeface="Arial"/>
              </a:rPr>
              <a:t>Что чинит модель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737360"/>
            <a:ext cx="329184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400" b="1">
                <a:solidFill>
                  <a:srgbClr val="E8590C"/>
                </a:solidFill>
                <a:latin typeface="Arial"/>
              </a:rPr>
              <a:t>4</a:t>
            </a:r>
          </a:p>
          <a:p>
            <a:pPr algn="ctr"/>
            <a:r>
              <a:rPr sz="1500" b="0">
                <a:solidFill>
                  <a:srgbClr val="6B7280"/>
                </a:solidFill>
                <a:latin typeface="Arial"/>
              </a:rPr>
              <a:t>прорыва vs last-click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1737360"/>
            <a:ext cx="7159752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333333"/>
                </a:solidFill>
                <a:latin typeface="Arial"/>
              </a:rPr>
              <a:t>Кросс-девайс: сшитые профили + устройства</a:t>
            </a:r>
          </a:p>
          <a:p>
            <a:pPr algn="l"/>
            <a:r>
              <a:rPr sz="900" b="0">
                <a:solidFill>
                  <a:srgbClr val="333333"/>
                </a:solidFill>
                <a:latin typeface="Arial"/>
              </a:rPr>
              <a:t/>
            </a:r>
          </a:p>
          <a:p>
            <a:pPr algn="l"/>
            <a:r>
              <a:rPr sz="2000" b="0">
                <a:solidFill>
                  <a:srgbClr val="333333"/>
                </a:solidFill>
                <a:latin typeface="Arial"/>
              </a:rPr>
              <a:t>View-through: показы — полноценные касания</a:t>
            </a:r>
          </a:p>
          <a:p>
            <a:pPr algn="l"/>
            <a:r>
              <a:rPr sz="900" b="0">
                <a:solidFill>
                  <a:srgbClr val="333333"/>
                </a:solidFill>
                <a:latin typeface="Arial"/>
              </a:rPr>
              <a:t/>
            </a:r>
          </a:p>
          <a:p>
            <a:pPr algn="l"/>
            <a:r>
              <a:rPr sz="2000" b="0">
                <a:solidFill>
                  <a:srgbClr val="333333"/>
                </a:solidFill>
                <a:latin typeface="Arial"/>
              </a:rPr>
              <a:t>Запоздалые конверсии: вся история с временами</a:t>
            </a:r>
          </a:p>
          <a:p>
            <a:pPr algn="l"/>
            <a:r>
              <a:rPr sz="900" b="0">
                <a:solidFill>
                  <a:srgbClr val="333333"/>
                </a:solidFill>
                <a:latin typeface="Arial"/>
              </a:rPr>
              <a:t/>
            </a:r>
          </a:p>
          <a:p>
            <a:pPr algn="l"/>
            <a:r>
              <a:rPr sz="2000" b="0">
                <a:solidFill>
                  <a:srgbClr val="333333"/>
                </a:solidFill>
                <a:latin typeface="Arial"/>
              </a:rPr>
              <a:t>Перехват брендом: вклад «с/без» обнуляет мнимый</a:t>
            </a:r>
          </a:p>
          <a:p>
            <a:pPr algn="l"/>
            <a:r>
              <a:rPr sz="900" b="0">
                <a:solidFill>
                  <a:srgbClr val="333333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011680"/>
            <a:ext cx="11091672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1F2A44"/>
                </a:solidFill>
                <a:latin typeface="Arial"/>
              </a:rPr>
              <a:t>Граница доверия: модель корреляционна.
«Что станет с выручкой, если отключить канал» —
только эксперимент (гео-тест, 5.3).
У Купера прямо: ML не умеет what-if.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280160"/>
            <a:ext cx="11091672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Arial"/>
              </a:rPr>
              <a:t>Что дальше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2651760"/>
            <a:ext cx="11091672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D9E1EF"/>
                </a:solidFill>
                <a:latin typeface="Arial"/>
              </a:rPr>
              <a:t>→ Мини-модель на своих цепочках (или помочь Data-команде)</a:t>
            </a:r>
          </a:p>
          <a:p>
            <a:pPr algn="l"/>
            <a:r>
              <a:rPr sz="2000" b="0">
                <a:solidFill>
                  <a:srgbClr val="D9E1EF"/>
                </a:solidFill>
                <a:latin typeface="Arial"/>
              </a:rPr>
              <a:t>→ Модуль М5 — эффективность без А/Б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0"/>
            <a:ext cx="1109167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8FA3C4"/>
                </a:solidFill>
                <a:latin typeface="Arial"/>
              </a:rPr>
              <a:t>Курс «Маркетинговая аналитика» · драфт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