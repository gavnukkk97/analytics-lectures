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9"/>
  </p:notesMasterIdLst>
  <p:sldIdLst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8288000" cy="10287000"/>
  <p:notesSz cx="6858000" cy="9144000"/>
  <p:embeddedFontLst>
    <p:embeddedFont>
      <p:font typeface="X5 Sans" panose="020B0403020203020204" pitchFamily="34" charset="0"/>
      <p:regular r:id="rId40"/>
      <p:bold r:id="rId41"/>
    </p:embeddedFont>
    <p:embeddedFont>
      <p:font typeface="X5 Sans Medium" panose="020B0403020203020204" pitchFamily="34" charset="0"/>
      <p:regular r:id="rId4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ADE"/>
    <a:srgbClr val="C4C5C6"/>
    <a:srgbClr val="E6E7E9"/>
    <a:srgbClr val="DFD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8"/>
    <p:restoredTop sz="94601"/>
  </p:normalViewPr>
  <p:slideViewPr>
    <p:cSldViewPr snapToGrid="0">
      <p:cViewPr varScale="1">
        <p:scale>
          <a:sx n="73" d="100"/>
          <a:sy n="73" d="100"/>
        </p:scale>
        <p:origin x="51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39" Type="http://schemas.openxmlformats.org/officeDocument/2006/relationships/notesMaster" Target="notesMasters/notesMaster1.xml"/><Relationship Id="rId40" Type="http://schemas.openxmlformats.org/officeDocument/2006/relationships/font" Target="fonts/font1.fntdata"/><Relationship Id="rId41" Type="http://schemas.openxmlformats.org/officeDocument/2006/relationships/font" Target="fonts/font2.fntdata"/><Relationship Id="rId42" Type="http://schemas.openxmlformats.org/officeDocument/2006/relationships/font" Target="fonts/font3.fntdata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EF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75549"/>
              </a:lnSpc>
              <a:buNone/>
              <a:defRPr sz="8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84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Заголовок</a:t>
            </a:r>
            <a:endParaRPr sz="8400" b="0" dirty="0">
              <a:solidFill>
                <a:srgbClr val="3A3A3A"/>
              </a:solidFill>
              <a:latin typeface="X5 Sans Medium"/>
              <a:ea typeface="X5 Sans Medium"/>
              <a:cs typeface="X5 Sans Medium"/>
            </a:endParaRPr>
          </a:p>
          <a:p>
            <a:pPr algn="l">
              <a:lnSpc>
                <a:spcPct val="75549"/>
              </a:lnSpc>
              <a:buNone/>
              <a:defRPr sz="8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84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в</a:t>
            </a:r>
            <a:r>
              <a:rPr sz="8400" b="0" dirty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 </a:t>
            </a:r>
            <a:r>
              <a:rPr sz="84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две</a:t>
            </a:r>
            <a:r>
              <a:rPr sz="8400" b="0" dirty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 </a:t>
            </a:r>
            <a:r>
              <a:rPr sz="84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строки</a:t>
            </a:r>
            <a:endParaRPr sz="8400" b="0" dirty="0">
              <a:solidFill>
                <a:srgbClr val="3A3A3A"/>
              </a:solidFill>
              <a:latin typeface="X5 Sans Medium"/>
              <a:ea typeface="X5 Sans Medium"/>
              <a:cs typeface="X5 Sans Medium"/>
            </a:endParaRP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73718"/>
              </a:lnSpc>
              <a:buNone/>
              <a:defRPr sz="36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36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Пояснение</a:t>
            </a:r>
            <a:r>
              <a:rPr sz="3600" b="0" dirty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 </a:t>
            </a:r>
            <a:r>
              <a:rPr sz="36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к</a:t>
            </a:r>
            <a:r>
              <a:rPr sz="3600" b="0" dirty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 </a:t>
            </a:r>
            <a:r>
              <a:rPr sz="36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основной</a:t>
            </a:r>
            <a:r>
              <a:rPr sz="3600" b="0" dirty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 </a:t>
            </a:r>
            <a:r>
              <a:rPr sz="36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мысли</a:t>
            </a:r>
            <a:endParaRPr sz="3600" b="0" dirty="0">
              <a:solidFill>
                <a:srgbClr val="3A3A3A"/>
              </a:solidFill>
              <a:latin typeface="X5 Sans Medium"/>
              <a:ea typeface="X5 Sans Medium"/>
              <a:cs typeface="X5 Sans Medium"/>
            </a:endParaRP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998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3333"/>
              </a:lnSpc>
              <a:buNone/>
              <a:defRPr sz="5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5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Текст и список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Пояснение темы вместе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со структурированными тезисами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4615"/>
              </a:lnSpc>
              <a:buNone/>
              <a:defRPr sz="30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30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Текстовый блок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Здесь можно подробно раскрыть тему, дать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контекст или объяснить логику решения.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Текстовый блок поддерживает несколько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небольших абзацев и помогает подготовить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читателя к тезисам в соседней колонке</a:t>
            </a:r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4615"/>
              </a:lnSpc>
              <a:buNone/>
              <a:defRPr sz="30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30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Ключевые пункты</a:t>
            </a:r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Короткая вводная мысль, которая связывает текст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 список</a:t>
            </a:r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457200" indent="-457200" algn="l">
              <a:lnSpc>
                <a:spcPct val="96154"/>
              </a:lnSpc>
              <a:buFont typeface="+mj-lt"/>
              <a:buAutoNum type="arabicPeriod"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Нумерованный</a:t>
            </a:r>
            <a:r>
              <a:rPr sz="240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240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пункт</a:t>
            </a:r>
            <a:endParaRPr sz="240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  <a:p>
            <a:pPr marL="342900" indent="-342900" algn="l">
              <a:lnSpc>
                <a:spcPct val="96154"/>
              </a:lnSpc>
              <a:buFont typeface="Arial" panose="020B0604020202020204" pitchFamily="34" charset="0"/>
              <a:buChar char="•"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Маркированный</a:t>
            </a:r>
            <a:r>
              <a:rPr sz="240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240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пункт</a:t>
            </a:r>
            <a:endParaRPr sz="240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3407"/>
              </a:lnSpc>
              <a:buNone/>
              <a:defRPr sz="21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fld id="{9717BA5A-DB76-2947-8980-397B0219845D}" type="slidenum">
              <a:rPr lang="ru-RU" sz="210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10</a:t>
            </a:fld>
            <a:endParaRPr sz="210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</p:txBody>
      </p:sp>
    </p:spTree>
    <p:extLst>
      <p:ext uri="{BB962C8B-B14F-4D97-AF65-F5344CB8AC3E}">
        <p14:creationId xmlns:p14="http://schemas.microsoft.com/office/powerpoint/2010/main" val="2092069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Показатель">
            <a:extLst>
              <a:ext uri="{FF2B5EF4-FFF2-40B4-BE49-F238E27FC236}">
                <a16:creationId xmlns:a16="http://schemas.microsoft.com/office/drawing/2014/main" id="{D7FD9C11-1ACD-4A70-9915-4682CD113FD9}"/>
              </a:ext>
            </a:extLst>
          </p:cNvPr>
          <p:cNvSpPr>
            <a:spLocks noGrp="1"/>
          </p:cNvSpPr>
          <p:nvPr/>
        </p:nvSpPr>
        <p:spPr>
          <a:xfrm>
            <a:off x="476250" y="3200400"/>
            <a:ext cx="17335500" cy="4827614"/>
          </a:xfrm>
          <a:prstGeom prst="roundRect">
            <a:avLst>
              <a:gd name="adj" fmla="val 5485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Заголовок">
            <a:extLst>
              <a:ext uri="{FF2B5EF4-FFF2-40B4-BE49-F238E27FC236}">
                <a16:creationId xmlns:a16="http://schemas.microsoft.com/office/drawing/2014/main" id="{D14659ED-5032-414C-9D68-2A2E46BA510E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3333"/>
              </a:lnSpc>
              <a:buNone/>
              <a:defRPr sz="5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5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Важное число</a:t>
            </a:r>
          </a:p>
        </p:txBody>
      </p:sp>
      <p:sp>
        <p:nvSpPr>
          <p:cNvPr id="5" name="Подзаголовок">
            <a:extLst>
              <a:ext uri="{FF2B5EF4-FFF2-40B4-BE49-F238E27FC236}">
                <a16:creationId xmlns:a16="http://schemas.microsoft.com/office/drawing/2014/main" id="{C45869ED-8F42-40AA-9D66-3D6648BD8BB0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Крупное число привлекает внимание к главному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результату, а краткое пояснение раскрывает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его значение</a:t>
            </a:r>
          </a:p>
        </p:txBody>
      </p:sp>
      <p:sp>
        <p:nvSpPr>
          <p:cNvPr id="6" name="Число">
            <a:extLst>
              <a:ext uri="{FF2B5EF4-FFF2-40B4-BE49-F238E27FC236}">
                <a16:creationId xmlns:a16="http://schemas.microsoft.com/office/drawing/2014/main" id="{B993BBEF-0DEC-4550-8C71-39ED8560D420}"/>
              </a:ext>
            </a:extLst>
          </p:cNvPr>
          <p:cNvSpPr>
            <a:spLocks noGrp="1"/>
          </p:cNvSpPr>
          <p:nvPr/>
        </p:nvSpPr>
        <p:spPr>
          <a:xfrm>
            <a:off x="933450" y="3657600"/>
            <a:ext cx="164211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3042"/>
              </a:lnSpc>
              <a:buNone/>
              <a:defRPr sz="132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132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100 500 000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4F7C8453-546A-4364-9016-4D1B3896B21D}"/>
              </a:ext>
            </a:extLst>
          </p:cNvPr>
          <p:cNvSpPr>
            <a:spLocks noGrp="1"/>
          </p:cNvSpPr>
          <p:nvPr/>
        </p:nvSpPr>
        <p:spPr>
          <a:xfrm>
            <a:off x="933450" y="6286500"/>
            <a:ext cx="81153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238"/>
              </a:lnSpc>
              <a:buNone/>
              <a:defRPr sz="315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Здесь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можно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написать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краткое</a:t>
            </a:r>
            <a:endParaRPr sz="315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  <a:p>
            <a:pPr algn="l">
              <a:lnSpc>
                <a:spcPct val="95238"/>
              </a:lnSpc>
              <a:buNone/>
              <a:defRPr sz="315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пояснение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: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что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означает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показатель</a:t>
            </a:r>
            <a:endParaRPr sz="315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  <a:p>
            <a:pPr algn="l">
              <a:lnSpc>
                <a:spcPct val="95238"/>
              </a:lnSpc>
              <a:buNone/>
              <a:defRPr sz="315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за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какой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период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он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рассчитан</a:t>
            </a:r>
            <a:endParaRPr sz="315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5"/>
          <a:stretch/>
        </p:blipFill>
        <p:spPr>
          <a:xfrm rot="72000">
            <a:off x="13868400" y="1937668"/>
            <a:ext cx="3600450" cy="3516064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6"/>
          <a:stretch/>
        </p:blipFill>
        <p:spPr>
          <a:xfrm rot="280800">
            <a:off x="12068175" y="8258175"/>
            <a:ext cx="1619250" cy="1619250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1" name="Номер страницы">
            <a:extLst>
              <a:ext uri="{FF2B5EF4-FFF2-40B4-BE49-F238E27FC236}">
                <a16:creationId xmlns:a16="http://schemas.microsoft.com/office/drawing/2014/main" id="{482A0575-9F8E-4C63-9B9D-8B5B7D68017C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3407"/>
              </a:lnSpc>
              <a:buNone/>
              <a:defRPr sz="21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fld id="{7E366F20-A8E6-B048-AFEC-96231A2D35E4}" type="slidenum">
              <a:rPr lang="ru-RU" sz="210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11</a:t>
            </a:fld>
            <a:endParaRPr sz="210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</p:txBody>
      </p:sp>
    </p:spTree>
    <p:extLst>
      <p:ext uri="{BB962C8B-B14F-4D97-AF65-F5344CB8AC3E}">
        <p14:creationId xmlns:p14="http://schemas.microsoft.com/office/powerpoint/2010/main" val="1033430637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500" b="0">
                <a:solidFill>
                  <a:srgbClr val="3A3A3A"/>
                </a:solidFill>
                <a:latin typeface="X5 Sans Medium"/>
              </a:rPr>
              <a:t>Как прошла неделя?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>Что запомнили?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Короткая вводная мысль, которая связывает текст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 список</a:t>
            </a:r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206240"/>
            <a:ext cx="7620000" cy="5120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Почему Директ показывает 1000 конверсий, а CRM — 640?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Зачем хранить ВСЕ касания, а не первый/последний?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Сквозная аналитика — не сервис, а дисциплина сшивки:</a:t>
            </a:r>
          </a:p>
          <a:p>
            <a:r>
              <a:rPr sz="3300" b="0">
                <a:solidFill>
                  <a:srgbClr val="3A3A3A"/>
                </a:solidFill>
                <a:latin typeface="X5 Sans Medium"/>
              </a:rPr>
              <a:t>один пользователь — одна строка — вся история от касания до LTV.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5500" b="0">
                <a:solidFill>
                  <a:srgbClr val="3A3A3A"/>
                </a:solidFill>
                <a:latin typeface="X5 Sans Medium"/>
              </a:rPr>
              <a:t>Слои и ключи сшивки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548640" y="2377440"/>
            <a:ext cx="17190720" cy="6949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 Medium"/>
              </a:rPr>
              <a:t>Слой · Данные · Ключ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Кабинеты  |  показы, клики, расходы  |  yclid / gclid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Веб/приложение  |  сессии, события  |  cookie / device_id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Аккаунт + CRM  |  заказы, оплаты, LTV  |  user_id (главный)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Офлайн  |  покупки в магазине  |  карта / телефон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500" b="0">
                <a:solidFill>
                  <a:srgbClr val="3A3A3A"/>
                </a:solidFill>
                <a:latin typeface="X5 Sans Medium"/>
              </a:rPr>
              <a:t>Где рвётся цепочка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разрывов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>5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Короткая вводная мысль, которая связывает текст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 список</a:t>
            </a:r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206240"/>
            <a:ext cx="7620000" cy="5120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Кросс-девайс: смотрел с телефона, купил с компа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Блокировщики и ATT: часть показов невидима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Офлайн-покупки мимо веба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Окна атрибуции платформ режут историю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Разные определения конверсии у каждой системы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Показатель">
            <a:extLst>
              <a:ext uri="{FF2B5EF4-FFF2-40B4-BE49-F238E27FC236}">
                <a16:creationId xmlns:a16="http://schemas.microsoft.com/office/drawing/2014/main" id="{D7FD9C11-1ACD-4A70-9915-4682CD113FD9}"/>
              </a:ext>
            </a:extLst>
          </p:cNvPr>
          <p:cNvSpPr>
            <a:spLocks noGrp="1"/>
          </p:cNvSpPr>
          <p:nvPr/>
        </p:nvSpPr>
        <p:spPr>
          <a:xfrm>
            <a:off x="476250" y="3200400"/>
            <a:ext cx="17335500" cy="4827614"/>
          </a:xfrm>
          <a:prstGeom prst="roundRect">
            <a:avLst>
              <a:gd name="adj" fmla="val 5485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Заголовок">
            <a:extLst>
              <a:ext uri="{FF2B5EF4-FFF2-40B4-BE49-F238E27FC236}">
                <a16:creationId xmlns:a16="http://schemas.microsoft.com/office/drawing/2014/main" id="{D14659ED-5032-414C-9D68-2A2E46BA510E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0">
                <a:solidFill>
                  <a:srgbClr val="3A3A3A"/>
                </a:solidFill>
                <a:latin typeface="X5 Sans Medium"/>
              </a:rPr>
              <a:t>юзеров «ЕдаДома» имеют ≥…</a:t>
            </a:r>
          </a:p>
        </p:txBody>
      </p:sp>
      <p:sp>
        <p:nvSpPr>
          <p:cNvPr id="5" name="Подзаголовок">
            <a:extLst>
              <a:ext uri="{FF2B5EF4-FFF2-40B4-BE49-F238E27FC236}">
                <a16:creationId xmlns:a16="http://schemas.microsoft.com/office/drawing/2014/main" id="{C45869ED-8F42-40AA-9D66-3D6648BD8BB0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0">
                <a:solidFill>
                  <a:srgbClr val="3A3A3A"/>
                </a:solidFill>
                <a:latin typeface="X5 Sans"/>
              </a:rPr>
              <a:t>11% — organic/direct с историей показов (view-through)</a:t>
            </a:r>
          </a:p>
        </p:txBody>
      </p:sp>
      <p:sp>
        <p:nvSpPr>
          <p:cNvPr id="6" name="Число">
            <a:extLst>
              <a:ext uri="{FF2B5EF4-FFF2-40B4-BE49-F238E27FC236}">
                <a16:creationId xmlns:a16="http://schemas.microsoft.com/office/drawing/2014/main" id="{B993BBEF-0DEC-4550-8C71-39ED8560D420}"/>
              </a:ext>
            </a:extLst>
          </p:cNvPr>
          <p:cNvSpPr>
            <a:spLocks noGrp="1"/>
          </p:cNvSpPr>
          <p:nvPr/>
        </p:nvSpPr>
        <p:spPr>
          <a:xfrm>
            <a:off x="933450" y="3657600"/>
            <a:ext cx="164211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200" b="0">
                <a:solidFill>
                  <a:srgbClr val="3A3A3A"/>
                </a:solidFill>
                <a:latin typeface="X5 Sans Medium"/>
              </a:rPr>
              <a:t>82%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4F7C8453-546A-4364-9016-4D1B3896B21D}"/>
              </a:ext>
            </a:extLst>
          </p:cNvPr>
          <p:cNvSpPr>
            <a:spLocks noGrp="1"/>
          </p:cNvSpPr>
          <p:nvPr/>
        </p:nvSpPr>
        <p:spPr>
          <a:xfrm>
            <a:off x="933450" y="6286500"/>
            <a:ext cx="81153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"/>
              </a:rPr>
              <a:t>7% — кросс-девайс потерян до регистрации</a:t>
            </a:r>
          </a:p>
          <a:p>
            <a:r>
              <a:rPr sz="2800" b="0">
                <a:solidFill>
                  <a:srgbClr val="3A3A3A"/>
                </a:solidFill>
                <a:latin typeface="X5 Sans"/>
              </a:rPr>
              <a:t>Из юнит-таблицы: CAC, LTV когорт, retention каналов — один запрос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5"/>
          <a:stretch/>
        </p:blipFill>
        <p:spPr>
          <a:xfrm rot="72000">
            <a:off x="13868400" y="1937668"/>
            <a:ext cx="3600450" cy="3516064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6"/>
          <a:stretch/>
        </p:blipFill>
        <p:spPr>
          <a:xfrm rot="280800">
            <a:off x="12068175" y="8258175"/>
            <a:ext cx="1619250" cy="1619250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1" name="Номер страницы">
            <a:extLst>
              <a:ext uri="{FF2B5EF4-FFF2-40B4-BE49-F238E27FC236}">
                <a16:creationId xmlns:a16="http://schemas.microsoft.com/office/drawing/2014/main" id="{482A0575-9F8E-4C63-9B9D-8B5B7D68017C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CDP — промышленная сшивка.</a:t>
            </a:r>
          </a:p>
          <a:p>
            <a:r>
              <a:rPr sz="3300" b="0">
                <a:solidFill>
                  <a:srgbClr val="3A3A3A"/>
                </a:solidFill>
                <a:latin typeface="X5 Sans Medium"/>
              </a:rPr>
              <a:t>До трёх источников хватает своей юнит-таблицы —</a:t>
            </a:r>
          </a:p>
          <a:p>
            <a:r>
              <a:rPr sz="3300" b="0">
                <a:solidFill>
                  <a:srgbClr val="3A3A3A"/>
                </a:solidFill>
                <a:latin typeface="X5 Sans Medium"/>
              </a:rPr>
              <a:t>дешевле и прозрачнее.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5400" b="0">
                <a:solidFill>
                  <a:srgbClr val="3A3A3A"/>
                </a:solidFill>
                <a:latin typeface="X5 Sans Medium"/>
              </a:rPr>
              <a:t>Что дальше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>Домашнее задание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Короткая вводная мысль, которая связывает текст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 список</a:t>
            </a:r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206240"/>
            <a:ext cx="7620000" cy="5120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Спланировать юнит-таблицу своего продукта (поля + ключи)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Урок 4.2 — пять моделей атрибуции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3720</TotalTime>
  <Words>1212</Words>
  <Application>Microsoft Macintosh PowerPoint</Application>
  <DocSecurity>0</DocSecurity>
  <PresentationFormat>Произвольный</PresentationFormat>
  <Paragraphs>455</Paragraphs>
  <Slides>37</Slides>
  <Notes>37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2" baseType="lpstr">
      <vt:lpstr>Calibri</vt:lpstr>
      <vt:lpstr>X5 Sans</vt:lpstr>
      <vt:lpstr>Arial</vt:lpstr>
      <vt:lpstr>X5 Sans Medium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Valer.Morozova</cp:lastModifiedBy>
  <cp:revision>59</cp:revision>
  <dcterms:created xsi:type="dcterms:W3CDTF">2026-10-02T18:21:13Z</dcterms:created>
  <dcterms:modified xsi:type="dcterms:W3CDTF">2026-10-05T10:12:24Z</dcterms:modified>
</cp:coreProperties>
</file>