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9"/>
  </p:notesMasterIdLst>
  <p:sldIdLst>
    <p:sldId id="269" r:id="rId14"/>
    <p:sldId id="270" r:id="rId15"/>
    <p:sldId id="271" r:id="rId16"/>
    <p:sldId id="272" r:id="rId17"/>
    <p:sldId id="273" r:id="rId18"/>
    <p:sldId id="274" r:id="rId19"/>
    <p:sldId id="275" r:id="rId20"/>
  </p:sldIdLst>
  <p:sldSz cx="18288000" cy="10287000"/>
  <p:notesSz cx="6858000" cy="9144000"/>
  <p:embeddedFontLst>
    <p:embeddedFont>
      <p:font typeface="X5 Sans" panose="020B0403020203020204" pitchFamily="34" charset="0"/>
      <p:regular r:id="rId40"/>
      <p:bold r:id="rId41"/>
    </p:embeddedFont>
    <p:embeddedFont>
      <p:font typeface="X5 Sans Medium" panose="020B0403020203020204" pitchFamily="34" charset="0"/>
      <p:regular r:id="rId42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ADE"/>
    <a:srgbClr val="C4C5C6"/>
    <a:srgbClr val="E6E7E9"/>
    <a:srgbClr val="DFDF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58"/>
    <p:restoredTop sz="94601"/>
  </p:normalViewPr>
  <p:slideViewPr>
    <p:cSldViewPr snapToGrid="0">
      <p:cViewPr varScale="1">
        <p:scale>
          <a:sx n="73" d="100"/>
          <a:sy n="73" d="100"/>
        </p:scale>
        <p:origin x="51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font" Target="fonts/font1.fntdata"/><Relationship Id="rId41" Type="http://schemas.openxmlformats.org/officeDocument/2006/relationships/font" Target="fonts/font2.fntdata"/><Relationship Id="rId42" Type="http://schemas.openxmlformats.org/officeDocument/2006/relationships/font" Target="fonts/font3.fntdata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EFEF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Заголовок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две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строки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3718"/>
              </a:lnSpc>
              <a:buNone/>
              <a:defRPr sz="36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Пояснение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основной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мысли</a:t>
            </a:r>
            <a:endParaRPr sz="36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998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 и список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 темы вместе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со структурированными тезисами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Текстовый блок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можно подробно раскрыть тему, дать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контекст или объяснить логику решения.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Текстовый блок поддерживает несколько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небольших абзацев и помогает подготовить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читателя к тезисам в соседней колонке</a:t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Ключевые пункты</a:t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933950"/>
            <a:ext cx="7620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marL="457200" indent="-457200" algn="l">
              <a:lnSpc>
                <a:spcPct val="96154"/>
              </a:lnSpc>
              <a:buFont typeface="+mj-lt"/>
              <a:buAutoNum type="arabicPeriod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Нумерованный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marL="342900" indent="-342900" algn="l">
              <a:lnSpc>
                <a:spcPct val="96154"/>
              </a:lnSpc>
              <a:buFont typeface="Arial" panose="020B0604020202020204" pitchFamily="34" charset="0"/>
              <a:buChar char="•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Маркированный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9717BA5A-DB76-2947-8980-397B0219845D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10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20920695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Важное число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Крупное число привлекает внимание к главному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результату, а краткое пояснение раскрывает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его значение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042"/>
              </a:lnSpc>
              <a:buNone/>
              <a:def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100 500 000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можно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написать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краткое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: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что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означает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показатель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за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какой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период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он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рассчитан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7E366F20-A8E6-B048-AFEC-96231A2D35E4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11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1033430637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Как прошла неделя?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Что запомнили?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Что случится, если написать utm_source=Yandex с больш…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Как отличить 3 блогеров в отчёте?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500" b="0">
                <a:solidFill>
                  <a:srgbClr val="3A3A3A"/>
                </a:solidFill>
                <a:latin typeface="X5 Sans Medium"/>
              </a:rPr>
              <a:t>5 параметров UTM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548640" y="2377440"/>
            <a:ext cx="17190720" cy="6949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 Medium"/>
              </a:rPr>
              <a:t>Параметр · Обяз. · Что кодирует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utm_source  |  да  |  площадка: yandex, vk, email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utm_medium  |  да  |  тип трафика: cpc, cpm, email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utm_campaign  |  да  |  кампания: spring_msk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utm_content  |  нет  |  креатив: banner_top, {creative_id}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utm_term  |  нет  |  ключевое: {keyword}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700" b="0">
                <a:solidFill>
                  <a:srgbClr val="3A3A3A"/>
                </a:solidFill>
                <a:latin typeface="X5 Sans Medium"/>
              </a:rPr>
              <a:t>Правила нейминга — не обсуждаются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железных правил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4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Только латиница, транслит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Регистр важен: yandex ≠ Yandex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Дефис/подчёркивание, никаких пробелов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Единый порядок: source → medium → campaign → content …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0">
                <a:solidFill>
                  <a:srgbClr val="3A3A3A"/>
                </a:solidFill>
                <a:latin typeface="X5 Sans Medium"/>
              </a:rPr>
              <a:t>бюджета месяца — в слепо…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0">
                <a:solidFill>
                  <a:srgbClr val="3A3A3A"/>
                </a:solidFill>
                <a:latin typeface="X5 Sans"/>
              </a:rPr>
              <a:t>Без medium — трафик в «не определён»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200" b="0">
                <a:solidFill>
                  <a:srgbClr val="3A3A3A"/>
                </a:solidFill>
                <a:latin typeface="X5 Sans Medium"/>
              </a:rPr>
              <a:t>30%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"/>
              </a:rPr>
              <a:t>Кириллица и пробелы — обрезанные ссылки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Регистр размножает каналы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3 блогера без content — одна строка отчёта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Макросы вместо рук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вместо ad1/ad2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{creative_id}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{campaign_id}, {creative_id}, {keyword}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1000 кампаний без 1000 ручных ссылок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Вклад каждого креатива виден отдельно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Справочник имён — джойном с API кабинета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Разметка — мост: сегменты из продукта → кампании →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эффект обратно в данные.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Без продуктовой ценности UTM — бухгалтерия каналов.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400" b="0">
                <a:solidFill>
                  <a:srgbClr val="3A3A3A"/>
                </a:solidFill>
                <a:latin typeface="X5 Sans Medium"/>
              </a:rPr>
              <a:t>Что дальше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Домашнее задание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Аудит 10 ссылок своей команды + справочник UTM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Урок 3.3 — немаркируемые каналы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3720</TotalTime>
  <Words>1212</Words>
  <Application>Microsoft Macintosh PowerPoint</Application>
  <DocSecurity>0</DocSecurity>
  <PresentationFormat>Произвольный</PresentationFormat>
  <Paragraphs>455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2" baseType="lpstr">
      <vt:lpstr>Calibri</vt:lpstr>
      <vt:lpstr>X5 Sans</vt:lpstr>
      <vt:lpstr>Arial</vt:lpstr>
      <vt:lpstr>X5 Sans Medium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Valer.Morozova</cp:lastModifiedBy>
  <cp:revision>59</cp:revision>
  <dcterms:created xsi:type="dcterms:W3CDTF">2026-10-02T18:21:13Z</dcterms:created>
  <dcterms:modified xsi:type="dcterms:W3CDTF">2026-10-05T10:12:24Z</dcterms:modified>
</cp:coreProperties>
</file>