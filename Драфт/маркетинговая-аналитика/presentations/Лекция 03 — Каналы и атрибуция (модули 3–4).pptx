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13"/>
    <p:sldId id="295" r:id="rId10"/>
    <p:sldId id="296" r:id="rId9"/>
    <p:sldId id="297" r:id="rId8"/>
    <p:sldId id="298" r:id="rId7"/>
    <p:sldId id="299" r:id="rId6"/>
    <p:sldId id="300" r:id="rId5"/>
    <p:sldId id="301" r:id="rId3"/>
    <p:sldId id="302" r:id="rId47"/>
    <p:sldId id="303" r:id="rId48"/>
  </p:sldIdLst>
  <p:sldSz cx="18288000" cy="10287000"/>
  <p:notesSz cx="6858000" cy="9144000"/>
  <p:embeddedFontLst>
    <p:embeddedFont>
      <p:font typeface="X5 Sans" panose="020B0403020203020204" pitchFamily="34" charset="0"/>
      <p:regular r:id="rId40"/>
      <p:bold r:id="rId41"/>
    </p:embeddedFont>
    <p:embeddedFont>
      <p:font typeface="X5 Sans Medium" panose="020B0403020203020204" pitchFamily="34" charset="0"/>
      <p:regular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01"/>
  </p:normalViewPr>
  <p:slideViewPr>
    <p:cSldViewPr snapToGrid="0">
      <p:cViewPr varScale="1">
        <p:scale>
          <a:sx n="73" d="100"/>
          <a:sy n="73" d="100"/>
        </p:scale>
        <p:origin x="51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7.xml"/><Relationship Id="rId5" Type="http://schemas.openxmlformats.org/officeDocument/2006/relationships/slide" Target="slides/slide36.xml"/><Relationship Id="rId6" Type="http://schemas.openxmlformats.org/officeDocument/2006/relationships/slide" Target="slides/slide35.xml"/><Relationship Id="rId7" Type="http://schemas.openxmlformats.org/officeDocument/2006/relationships/slide" Target="slides/slide34.xml"/><Relationship Id="rId8" Type="http://schemas.openxmlformats.org/officeDocument/2006/relationships/slide" Target="slides/slide33.xml"/><Relationship Id="rId9" Type="http://schemas.openxmlformats.org/officeDocument/2006/relationships/slide" Target="slides/slide32.xml"/><Relationship Id="rId10" Type="http://schemas.openxmlformats.org/officeDocument/2006/relationships/slide" Target="slides/slide31.xml"/><Relationship Id="rId13" Type="http://schemas.openxmlformats.org/officeDocument/2006/relationships/slide" Target="slides/slide30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Заголовок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две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строки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3718"/>
              </a:lnSpc>
              <a:buNone/>
              <a:defRPr sz="36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Пояснение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основной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мысли</a:t>
            </a:r>
            <a:endParaRPr sz="36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 и список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 темы вместе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со структурированными тезисами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Текстовый блок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можно подробно раскрыть тему, дать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контекст или объяснить логику решения.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Текстовый блок поддерживает несколько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небольших абзацев и помогает подготовить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читателя к тезисам в соседней колонке</a:t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Ключевые пункты</a:t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96154"/>
              </a:lnSpc>
              <a:buFont typeface="+mj-lt"/>
              <a:buAutoNum type="arabicPeriod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Нумерованный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marL="342900" indent="-342900" algn="l">
              <a:lnSpc>
                <a:spcPct val="96154"/>
              </a:lnSpc>
              <a:buFont typeface="Arial" panose="020B0604020202020204" pitchFamily="34" charset="0"/>
              <a:buChar char="•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Маркированный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9717BA5A-DB76-2947-8980-397B0219845D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10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20920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Важное число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Крупное число привлекает внимание к главному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результату, а краткое пояснение раскрывает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его значение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042"/>
              </a:lnSpc>
              <a:buNone/>
              <a:def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100 500 000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можно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написать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краткое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: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что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означает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показатель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за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какой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период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он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рассчитан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7E366F20-A8E6-B048-AFEC-96231A2D35E4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11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103343063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План на сегодня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Две части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Часть 1 · каналы: карта, метрика, UTM, ТВ без разметки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Часть 2 · сквозная аналитика: сшивка до юнит-таблицы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Финал · атрибуция: 5 моделей и ML по статье vc.ru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Симуляции: одни модели на разных данных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Домашка и что дальше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«У нас плохо с трафиком» — не постановка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Каналов десятки: у каждого своя механика, скорость, цена и способ измерения (3.1)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Карта каналов: чем кто измерается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Группа · Примеры · Скорость · Чем мерить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Перформанс  |  контекст · таргет · ритейл-медиа  |  мгновенно  |  UTM→заказ: CAC, ROMI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Поиск/SEO  |  органика · маркетплейсы  |  месяцы–годы  |  реферер «organic»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Бренд-трафик  |  бренд-запросы · direct  |  следствие инвестиций  |  брендовые запросы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Инфлюенсеры  |  блогеры · Telegram  |  среднее  |  UTM-ссылки, промокоды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Партнёрки  |  CPA-сети · рефералы  |  среднее  |  партнёрский ID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Кросс-промо  |  свои базы · пуши  |  мгновенно  |  deep-links, промокоды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Офлайн/медийное  |  ТВ · радио · наружка  |  недели–месяцы  |  НЕ размечается — спецметоды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Тип рекламы → показатель продукта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Одна метрика на все каналы = несправедливость к верху воронки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Как работает реклама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Контекст ловит сформированный спрос: конверсия высокая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Медийка формирует спрос: конверсия ниже, объём больше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ТВ/наружка — верх воронки: заказы «через чужую» разметку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Блогеры конвертируют доверием: retention когорт выше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Кросс-промо дёшево — каннибализация баз и усталость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Быстрые деньги и игла перформанса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LTV/CAC когорт &lt; 1–3 и растущий CAC при ровном LTV → строить активы (SEO, бренд, рефералы)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Портфель «ЕдаДома»: месяц, учебные числа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Канал · CAC · LTV/CAC · Вердикт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Контекст  |  420 ₽  |  1,8  |  рабочая лошадка, у потолка объёма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Таргет  |  610 ₽  |  1,1  |  на грани — тестировать связки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Блогеры  |  780 ₽  |  1,6  |  дорогой вход, дорогой LTV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ТВ (2 города)  |  ≈900 ₽  |  —  |  растит всё остальное: гео-оценка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Половина «странного» в отчётах — опечатки в метках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yandex ≠ Yandex, пробел обрезает ссылку: без UTM-дисциплины всё downstream мертво (3.2)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UTM: 5 параметров, 3 обязательны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Параметр · Обяз. · Что кодирует · Пример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utm_source  |  ✔  |  площадка  |  yandex · vk · telegram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utm_medium  |  ✔  |  тип трафика  |  cpc · cpm · email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utm_campaign  |  ✔  |  кампания  |  spring_delivery_msk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utm_content  |  —  |  креатив  |  banner_top · {creative_id}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utm_term  |  —  |  ключевое слово  |  {keyword}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Гигиена разметки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Аудит 30 ссылок: ~30% месяца — в слепой зоне или с искажениями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Регламент команды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Латиница и дефисы; регистр важен: yandex ≠ Yandex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Справочник кампаний: проект_сегмент_гео_месяц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Макросы {creative_id}, {keyword} — ссылки без рутины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Еженедельный аудит; тесты — только с префиксом test_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UTM — буквальные обучающие фичи ML-атрибуции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бюджета в слепой зоне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Аудит 30 ссылок «ЕдаДома»: 4 без medium, кириллица, пробелы, регистр-двойники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30%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Чинится за день: справочник + шаблоны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ТВ не кликается — оно меняет память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Брендовые запросы, direct, установки: эффект без ссылки — нужны косвенные методы (3.3)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ТВ-тест «ЕдаДома»: 2 города против 3 контрольных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Метрика · Тест · Контроль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Брендовые запросы  |  +40%  |  +3% (сезон)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Direct-заходы  |  +12%  |  —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Новые на 10 тыс. жителей  |  +64  |  +7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DiD-прирост  |  +57 новых за 4 недели  |  —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«CAC ТВ»  |  ≈940 ₽  |  дороже контекста — но растит весь рынок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500" b="0">
                <a:solidFill>
                  <a:srgbClr val="3A3A3A"/>
                </a:solidFill>
                <a:latin typeface="X5 Sans Medium"/>
              </a:rPr>
              <a:t>Иерархия доказательств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Гео/АБ-эксперимент (инкрементальность) — золото · MMM — верхний этаж · пик-анализ + опросы — первый эшелон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«Какой канал приводит людей, которые покупают и остаются?»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Отчёты есть у всех — но каждый врёт по-своему. Сквозная аналитика = дисциплина сшивки (4.1)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Слои сшивки до юнит-таблицы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Слой · Что несёт · Ключ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Рекламные кабинеты  |  показы · клики · расходы  |  кампания + день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Веб/приложение  |  сессии · события  |  cookie · device_id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Аккаунт  |  user_id  |  авторизация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CRM  |  сделки · оплаты  |  user_id · email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Юнит-таблица  |  касания + заказы + LTV  |  user_id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Юнит-таблица: один пользователь — одна строка — вся история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Все касания (не только первый/последний!), заказы, LTV → CAC, когорты, retention, атрибуция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500" b="0">
                <a:solidFill>
                  <a:srgbClr val="3A3A3A"/>
                </a:solidFill>
                <a:latin typeface="X5 Sans Medium"/>
              </a:rPr>
              <a:t>Где рвётся цепочка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Разрыв · Чем чиним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Кросс-девайс  |  авторизация как ключ сшивки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Блокировщики · ATT  |  агрегаты, MMM, гео-методы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Офлайн-покупки  |  CRM/касса — мэтчинг по карте, телефону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Окна атрибуции платформ  |  хранить сырые касания у себя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Кому засчитать заказ: медийка → контекст → письмо → бренд → покупка?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Ответ зависит от модели атрибуции. А бюджет — от ответа (4.2)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Пять моделей = пять правил дележа ценности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Модель · Правило · Смещение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First-click  |  всё первому  |  переоценивает верх воронки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Last-click  |  всё последнему  |  переоценивает бренд, direct, ретаргет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Linear  |  поровну  |  «демократия» без различий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Time-decay  |  экспоненциально к последнему  |  сдвиг к финалу, период с потолка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U-shaped  |  40% + 40% + 20%  |  середина всегда «виновата» меньше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Одна цепочка A → B → C — пять дележей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1_chain_model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0282" y="2880360"/>
            <a:ext cx="15307434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Вывод о канале зависит от модели, а не от канала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2_channels_hea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614" y="2880360"/>
            <a:ext cx="14176771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Last-click ломается системно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Перехват брендом · view-through не виден · кросс-девайс рвёт путь · канал подогревания — «дармоед»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Как выбирать модель — честный ответ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Вопрос → модель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«Что открывает клиентов?» → first / U-shaped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«Что закрывает?» → last · «Как ведёт себя путь?» → li…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Держите 2–3 модели рядом: расхождения — диагностика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Большой first при нулевом last — канал-«открыватель»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Атрибуция отвечает «что было», не «что, если»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Правила — допущения. Дальше веса считает модель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Ключевой источник: vc.ru — «Решаем проблему атрибуции в digital-маркетинге при помощи ML» (4.3)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Размеченные данные — топливо ML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Что собираем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Веб/моб-аналитика: переходы, поведение, устройства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Кабинеты: показы и клики — включая показы без клика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CRM — источник метки «купил / не купил»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UTM-дисциплина = качество обучающих фич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Вклад касания = ΔP(конверсии): с касанием против без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Обучаем P(конверсия | цепочка); убрали касание — пересчитали; разница прогнозов = вклад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Вклад касания = насколько падает прогноз без него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3_dp_concep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815" y="2880360"/>
            <a:ext cx="16228369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Что ML чинит против last-click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Проблема · Как обходит ML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Кросс-девайс  |  сшитые профили + устройство как фича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View-through  |  показы — полноценные касания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Запоздалая конверсия  |  вся история касаний с временами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Перехват брендом  |  ΔP обнуляет мнимый вклад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Веса с потолка  |  измеренное влияние на вероятность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клиентов · бюджет тот же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Кейс статьи vc.ru: перераспределение с бренд-кампаний на небренд → корректировка ставок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+6%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Практический продукт ML — не «красивые веса», а другие ставки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Симуляция 1 · бренд только перехватывает: last-click врёт в 4 раза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4_sim_intercep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4585" y="2880360"/>
            <a:ext cx="14098828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Симуляция 2 · бренд реально помогает: ML это видит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5_sim_brandwork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012" y="2880360"/>
            <a:ext cx="14763975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Симуляция 3 · мало данных: ML скачет — проверяйте устойчивость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pic>
        <p:nvPicPr>
          <p:cNvPr id="28" name="Picture 27" descr="attrib_06_sim_smalldat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6054" y="2880360"/>
            <a:ext cx="14775891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Граница доверия: корреляция ≠ причинность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0">
                <a:solidFill>
                  <a:srgbClr val="3A3A3A"/>
                </a:solidFill>
                <a:latin typeface="X5 Sans Medium"/>
              </a:rPr>
              <a:t>«Что будет, если отключить канал» — только эксперимент (гео-тесты, 5.3). DDA Директа/GA4 — своя экосистема; своё — Шепли/Марков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Шпаргалка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Вынести с лекции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Метрика подбирается под механику канала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UTM-гигиена — фундамент downstream-аналитики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Немаркируемые: пик-анализ → гео/DiD → MMM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Сквозная = юнит-таблица с полной историей касаний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Пять моделей — допущения: держите 2–3 рядом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ML: вклад = ΔP; чинит перехват и view-through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Финальная проверка — только инкрементальность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Что дальше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Домашнее задание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Прочитать статью vc.ru про ML-атрибуцию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practice_4.2.py: 5 моделей на одних цепочках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practice_4.3.py: ML против last-click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Вопрос: канал X — first 30%, last 2%. Кто это?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Следующая лекция: промо и квазиэксперименты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1212</Words>
  <Application>Microsoft Macintosh PowerPoint</Application>
  <DocSecurity>0</DocSecurity>
  <PresentationFormat>Произвольный</PresentationFormat>
  <Paragraphs>455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X5 Sans</vt:lpstr>
      <vt:lpstr>Arial</vt:lpstr>
      <vt:lpstr>X5 Sans Medium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Valer.Morozova</cp:lastModifiedBy>
  <cp:revision>59</cp:revision>
  <dcterms:created xsi:type="dcterms:W3CDTF">2026-10-02T18:21:13Z</dcterms:created>
  <dcterms:modified xsi:type="dcterms:W3CDTF">2026-10-05T10:12:24Z</dcterms:modified>
</cp:coreProperties>
</file>