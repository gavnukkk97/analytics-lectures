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FA3C4"/>
                </a:solidFill>
                <a:latin typeface="Arial"/>
              </a:rPr>
              <a:t>МОДУЛЬ 5 · УРОК 5.3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16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</a:rPr>
              <a:t>Бюджет и аллокация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394960"/>
            <a:ext cx="1109167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Маржинальный CAC и инкрементальность</a:t>
            </a:r>
          </a:p>
          <a:p>
            <a:pPr algn="l"/>
            <a:r>
              <a:rPr sz="1600" b="0">
                <a:solidFill>
                  <a:srgbClr val="AEB9CE"/>
                </a:solidFill>
                <a:latin typeface="Arial"/>
              </a:rPr>
              <a:t>Кирилл Садчиков · маркетинговая аналитика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F2A44"/>
                </a:solidFill>
                <a:latin typeface="Arial"/>
              </a:rPr>
              <a:t>Как прошла неделя?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16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Средний CAC 400 ₽. Какой CAC у СЛЕДУЮЩЕГО миллиона?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Arial"/>
              </a:rPr>
              <a:t>Атрибуция говорит «ретаргетинг — 15% конверсий». Что проверить?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/>
            </a:r>
          </a:p>
          <a:p>
            <a:pPr algn="l"/>
            <a:r>
              <a:rPr sz="1800" b="0">
                <a:solidFill>
                  <a:srgbClr val="6B7280"/>
                </a:solidFill>
                <a:latin typeface="Arial"/>
              </a:rPr>
              <a:t>Что запомнили с прошлого урока? Что хотели бы проверить у себя на работе?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Отчёты показывают среднюю отдачу прошлого.
Бюджет двигает маржинальную отдачу будущего.
Это разные числа.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420 → 560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средний и маржинальный CAC одного канала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Первые закупки дёшевы (ядро), дальше аукцион греется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Канал Б: средний 600, маргинальный 450 — туда следующий рубль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Оптимум: равные маржинальные LTV/CAC по всем каналам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Arial"/>
              </a:rPr>
              <a:t>Кривые насыщения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E8590C"/>
                </a:solidFill>
                <a:latin typeface="Arial"/>
              </a:rPr>
              <a:t>насыщение</a:t>
            </a:r>
          </a:p>
          <a:p>
            <a:pPr algn="ctr"/>
            <a:r>
              <a:rPr sz="1500" b="0">
                <a:solidFill>
                  <a:srgbClr val="6B7280"/>
                </a:solidFill>
                <a:latin typeface="Arial"/>
              </a:rPr>
              <a:t>у всего есть предел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737360"/>
            <a:ext cx="71597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Отклик канала: лог-форма, ядро дёшево, хвост дорого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Оцениваем по истории, чистим сезон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Жадная перетасовка бюджета до равных маргиналов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MMM делает это системно (Robyn/Meridian)</a:t>
            </a:r>
          </a:p>
          <a:p>
            <a:pPr algn="l"/>
            <a:r>
              <a:rPr sz="900" b="0">
                <a:solidFill>
                  <a:srgbClr val="333333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55448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>
                <a:solidFill>
                  <a:srgbClr val="E8590C"/>
                </a:solidFill>
                <a:latin typeface="Arial"/>
              </a:rPr>
              <a:t>38% → 22%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9319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2A44"/>
                </a:solidFill>
                <a:latin typeface="Arial"/>
              </a:rPr>
              <a:t>атрибуционные минус инкрементальные заказы ретаргетинга (гео-тест)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0" y="1737360"/>
            <a:ext cx="5760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Треть «эффекта» случилась бы и без канала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Атрибуция — гипотезы; эксперимент — приговор</a:t>
            </a:r>
          </a:p>
          <a:p>
            <a:pPr algn="l"/>
            <a:r>
              <a:rPr sz="1700" b="0">
                <a:solidFill>
                  <a:srgbClr val="333333"/>
                </a:solidFill>
                <a:latin typeface="Arial"/>
              </a:rPr>
              <a:t>Реаллок крупных бюджетов — только с инкрементом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109167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F2A44"/>
                </a:solidFill>
                <a:latin typeface="Arial"/>
              </a:rPr>
              <a:t>10–15% бюджета — на разведку новых каналов.
Этот бюджет покупает не выручку, а информацию:
страховку от затухания кривых.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28016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rial"/>
              </a:rPr>
              <a:t>Что дальше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651760"/>
            <a:ext cx="11091672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Посчитать маржинальный CAC своего топ-канала</a:t>
            </a:r>
          </a:p>
          <a:p>
            <a:pPr algn="l"/>
            <a:r>
              <a:rPr sz="2000" b="0">
                <a:solidFill>
                  <a:srgbClr val="D9E1EF"/>
                </a:solidFill>
                <a:latin typeface="Arial"/>
              </a:rPr>
              <a:t>→ Модуль М6 — корпоративные проблемы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0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FA3C4"/>
                </a:solidFill>
                <a:latin typeface="Arial"/>
              </a:rPr>
              <a:t>Курс «Маркетинговая аналитика» · драфт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