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39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49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2189559"/>
            <a:ext cx="6429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B2B2B2"/>
                </a:solidFill>
              </a:rPr>
              <a:t>Лекция 1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571500" y="2644973"/>
            <a:ext cx="6429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ЦЕЛИ И МЕТРИКИ
ПРОДУКТА</a:t>
            </a:r>
            <a:endParaRPr lang="en-US" sz="4145" dirty="0"/>
          </a:p>
        </p:txBody>
      </p:sp>
      <p:sp>
        <p:nvSpPr>
          <p:cNvPr id="7" name="Text 3"/>
          <p:cNvSpPr/>
          <p:nvPr/>
        </p:nvSpPr>
        <p:spPr>
          <a:xfrm>
            <a:off x="571500" y="4116586"/>
            <a:ext cx="6429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32CD32"/>
                </a:solidFill>
              </a:rPr>
              <a:t>Садчиков Кирилл (@Kirish_molodez)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X5 Digital</a:t>
            </a:r>
            <a:endParaRPr lang="en-US" sz="1193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785813"/>
            <a:ext cx="2857500" cy="35718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57625" y="1294637"/>
            <a:ext cx="307767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6615" dirty="0">
                <a:solidFill>
                  <a:srgbClr val="CCFF00"/>
                </a:solidFill>
              </a:rPr>
              <a:t>“</a:t>
            </a:r>
            <a:endParaRPr lang="en-US" sz="6615" dirty="0"/>
          </a:p>
        </p:txBody>
      </p:sp>
      <p:sp>
        <p:nvSpPr>
          <p:cNvPr id="7" name="Text 2"/>
          <p:cNvSpPr/>
          <p:nvPr/>
        </p:nvSpPr>
        <p:spPr>
          <a:xfrm>
            <a:off x="4000500" y="1723262"/>
            <a:ext cx="4429125" cy="117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Если вы не можете измерить это, вы не можете улучшить это</a:t>
            </a:r>
            <a:endParaRPr lang="en-US" sz="2121" dirty="0"/>
          </a:p>
        </p:txBody>
      </p:sp>
      <p:sp>
        <p:nvSpPr>
          <p:cNvPr id="8" name="Text 3"/>
          <p:cNvSpPr/>
          <p:nvPr/>
        </p:nvSpPr>
        <p:spPr>
          <a:xfrm>
            <a:off x="4000500" y="3107671"/>
            <a:ext cx="44291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04" i="1" dirty="0">
                <a:solidFill>
                  <a:srgbClr val="333333"/>
                </a:solidFill>
              </a:rPr>
              <a:t>Питер Друкер</a:t>
            </a:r>
            <a:endParaRPr lang="en-US" sz="170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7526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480542"/>
            <a:ext cx="2143125" cy="2143125"/>
          </a:xfrm>
          <a:prstGeom prst="rect">
            <a:avLst/>
          </a:prstGeom>
          <a:solidFill>
            <a:srgbClr val="006400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85813" y="1694855"/>
            <a:ext cx="17145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2165393" y="2837855"/>
            <a:ext cx="33491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FFFFFF"/>
                </a:solidFill>
              </a:rPr>
              <a:t>1</a:t>
            </a:r>
            <a:endParaRPr lang="en-US" sz="4145" dirty="0"/>
          </a:p>
        </p:txBody>
      </p:sp>
      <p:sp>
        <p:nvSpPr>
          <p:cNvPr id="9" name="Text 5"/>
          <p:cNvSpPr/>
          <p:nvPr/>
        </p:nvSpPr>
        <p:spPr>
          <a:xfrm>
            <a:off x="571500" y="3766542"/>
            <a:ext cx="214312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B2B2B2"/>
                </a:solidFill>
              </a:rPr>
              <a:t>Создание интуитивного, удобного и приятного взаимодействия с продуктом. Продуктовая команда работает над снижением трения в пользовательских сценариях.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360159"/>
            <a:ext cx="2286000" cy="1571625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1503034"/>
            <a:ext cx="200025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2312733" y="2325960"/>
            <a:ext cx="401892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974" b="1" dirty="0">
                <a:solidFill>
                  <a:srgbClr val="FFFFFF">
                    <a:alpha val="80000"/>
                  </a:srgbClr>
                </a:solidFill>
              </a:rPr>
              <a:t>1</a:t>
            </a:r>
            <a:endParaRPr lang="en-US" sz="4974" dirty="0"/>
          </a:p>
        </p:txBody>
      </p:sp>
      <p:sp>
        <p:nvSpPr>
          <p:cNvPr id="9" name="Shape 5"/>
          <p:cNvSpPr/>
          <p:nvPr/>
        </p:nvSpPr>
        <p:spPr>
          <a:xfrm>
            <a:off x="3071813" y="1360159"/>
            <a:ext cx="2286000" cy="1571625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0" name="Text 6"/>
          <p:cNvSpPr/>
          <p:nvPr/>
        </p:nvSpPr>
        <p:spPr>
          <a:xfrm>
            <a:off x="3214688" y="1503034"/>
            <a:ext cx="20002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Рост вовлеченности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4813046" y="2240291"/>
            <a:ext cx="401892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974" b="1" dirty="0">
                <a:solidFill>
                  <a:srgbClr val="000000">
                    <a:alpha val="80000"/>
                  </a:srgbClr>
                </a:solidFill>
              </a:rPr>
              <a:t>2</a:t>
            </a:r>
            <a:endParaRPr lang="en-US" sz="4974" dirty="0"/>
          </a:p>
        </p:txBody>
      </p:sp>
      <p:sp>
        <p:nvSpPr>
          <p:cNvPr id="12" name="Text 8"/>
          <p:cNvSpPr/>
          <p:nvPr/>
        </p:nvSpPr>
        <p:spPr>
          <a:xfrm>
            <a:off x="2714625" y="3003221"/>
            <a:ext cx="3571875" cy="15430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B2B2B2"/>
                </a:solidFill>
              </a:rPr>
              <a:t>Увеличение частоты использования продукта и глубины взаимодействия пользователей с ключевыми функциями. Цель — превратить случайных пользователей в активных и лояльных.</a:t>
            </a:r>
            <a:endParaRPr lang="en-US" sz="12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480542"/>
            <a:ext cx="2286000" cy="2286000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694855"/>
            <a:ext cx="1857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2140837" y="2866430"/>
            <a:ext cx="5023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dirty="0">
                <a:solidFill>
                  <a:srgbClr val="FFFFFF"/>
                </a:solidFill>
              </a:rPr>
              <a:t>1</a:t>
            </a:r>
            <a:endParaRPr lang="en-US" sz="6218" dirty="0"/>
          </a:p>
        </p:txBody>
      </p:sp>
      <p:sp>
        <p:nvSpPr>
          <p:cNvPr id="9" name="Shape 5"/>
          <p:cNvSpPr/>
          <p:nvPr/>
        </p:nvSpPr>
        <p:spPr>
          <a:xfrm>
            <a:off x="3071813" y="1480542"/>
            <a:ext cx="2286000" cy="2286000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0" name="Text 6"/>
          <p:cNvSpPr/>
          <p:nvPr/>
        </p:nvSpPr>
        <p:spPr>
          <a:xfrm>
            <a:off x="3286125" y="1694855"/>
            <a:ext cx="1857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Рост вовлеченности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4641149" y="2866430"/>
            <a:ext cx="5023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dirty="0">
                <a:solidFill>
                  <a:srgbClr val="000000"/>
                </a:solidFill>
              </a:rPr>
              <a:t>2</a:t>
            </a:r>
            <a:endParaRPr lang="en-US" sz="6218" dirty="0"/>
          </a:p>
        </p:txBody>
      </p:sp>
      <p:sp>
        <p:nvSpPr>
          <p:cNvPr id="12" name="Shape 8"/>
          <p:cNvSpPr/>
          <p:nvPr/>
        </p:nvSpPr>
        <p:spPr>
          <a:xfrm>
            <a:off x="5572125" y="1480542"/>
            <a:ext cx="2286000" cy="228600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3" name="Text 9"/>
          <p:cNvSpPr/>
          <p:nvPr/>
        </p:nvSpPr>
        <p:spPr>
          <a:xfrm>
            <a:off x="5786438" y="1694855"/>
            <a:ext cx="1857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Монетизация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7141462" y="2866430"/>
            <a:ext cx="50235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6218" b="1" dirty="0">
                <a:solidFill>
                  <a:srgbClr val="000000"/>
                </a:solidFill>
              </a:rPr>
              <a:t>3</a:t>
            </a:r>
            <a:endParaRPr lang="en-US" sz="621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2" y="113108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102984"/>
            <a:ext cx="2061223" cy="1571625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14375" y="1245859"/>
            <a:ext cx="1624031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2405044" y="197987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>
                    <a:alpha val="80000"/>
                  </a:srgbClr>
                </a:solidFill>
              </a:rPr>
              <a:t>1</a:t>
            </a:r>
            <a:endParaRPr lang="en-US" sz="3294" dirty="0"/>
          </a:p>
        </p:txBody>
      </p:sp>
      <p:sp>
        <p:nvSpPr>
          <p:cNvPr id="9" name="Shape 5"/>
          <p:cNvSpPr/>
          <p:nvPr/>
        </p:nvSpPr>
        <p:spPr>
          <a:xfrm>
            <a:off x="2695594" y="1102984"/>
            <a:ext cx="1903949" cy="1571625"/>
          </a:xfrm>
          <a:prstGeom prst="rect">
            <a:avLst/>
          </a:prstGeom>
          <a:solidFill>
            <a:srgbClr val="90EE90"/>
          </a:solidFill>
          <a:ln/>
        </p:spPr>
      </p:sp>
      <p:sp>
        <p:nvSpPr>
          <p:cNvPr id="10" name="Text 6"/>
          <p:cNvSpPr/>
          <p:nvPr/>
        </p:nvSpPr>
        <p:spPr>
          <a:xfrm>
            <a:off x="2822479" y="1251854"/>
            <a:ext cx="129455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Рост вовлеченности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4304054" y="197987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2</a:t>
            </a:r>
            <a:endParaRPr lang="en-US" sz="3294" dirty="0"/>
          </a:p>
        </p:txBody>
      </p:sp>
      <p:sp>
        <p:nvSpPr>
          <p:cNvPr id="12" name="Shape 8"/>
          <p:cNvSpPr/>
          <p:nvPr/>
        </p:nvSpPr>
        <p:spPr>
          <a:xfrm>
            <a:off x="4666150" y="1113233"/>
            <a:ext cx="1735541" cy="1571625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3" name="Text 9"/>
          <p:cNvSpPr/>
          <p:nvPr/>
        </p:nvSpPr>
        <p:spPr>
          <a:xfrm>
            <a:off x="4753496" y="1251854"/>
            <a:ext cx="1159827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Монетизация</a:t>
            </a:r>
            <a:endParaRPr lang="en-US" sz="1397" dirty="0"/>
          </a:p>
        </p:txBody>
      </p:sp>
      <p:sp>
        <p:nvSpPr>
          <p:cNvPr id="14" name="Text 10"/>
          <p:cNvSpPr/>
          <p:nvPr/>
        </p:nvSpPr>
        <p:spPr>
          <a:xfrm>
            <a:off x="6133745" y="197987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3</a:t>
            </a:r>
            <a:endParaRPr lang="en-US" sz="3294" dirty="0"/>
          </a:p>
        </p:txBody>
      </p:sp>
      <p:sp>
        <p:nvSpPr>
          <p:cNvPr id="15" name="Shape 11"/>
          <p:cNvSpPr/>
          <p:nvPr/>
        </p:nvSpPr>
        <p:spPr>
          <a:xfrm>
            <a:off x="6489037" y="1117872"/>
            <a:ext cx="2626101" cy="2908541"/>
          </a:xfrm>
          <a:prstGeom prst="rect">
            <a:avLst/>
          </a:prstGeom>
          <a:solidFill>
            <a:srgbClr val="111111"/>
          </a:solidFill>
          <a:ln w="27432">
            <a:solidFill>
              <a:srgbClr val="32CD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11483" y="1245859"/>
            <a:ext cx="21717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</a:rPr>
              <a:t>Удержание пользователей</a:t>
            </a:r>
            <a:endParaRPr lang="en-US" sz="2121" dirty="0"/>
          </a:p>
        </p:txBody>
      </p:sp>
      <p:sp>
        <p:nvSpPr>
          <p:cNvPr id="17" name="Text 13"/>
          <p:cNvSpPr/>
          <p:nvPr/>
        </p:nvSpPr>
        <p:spPr>
          <a:xfrm>
            <a:off x="6632970" y="2094330"/>
            <a:ext cx="2443163" cy="193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B2B2B2"/>
                </a:solidFill>
              </a:rPr>
              <a:t>Снижение оттока пользователей (churn rate) через улучшение продукта, </a:t>
            </a:r>
            <a:r>
              <a:rPr lang="en-US" sz="1269" dirty="0" err="1">
                <a:solidFill>
                  <a:srgbClr val="B2B2B2"/>
                </a:solidFill>
              </a:rPr>
              <a:t>пер</a:t>
            </a:r>
            <a:r>
              <a:rPr lang="ru-RU" sz="1269" dirty="0">
                <a:solidFill>
                  <a:srgbClr val="B2B2B2"/>
                </a:solidFill>
              </a:rPr>
              <a:t>ч</a:t>
            </a:r>
            <a:r>
              <a:rPr lang="en-US" sz="1269" dirty="0" err="1">
                <a:solidFill>
                  <a:srgbClr val="B2B2B2"/>
                </a:solidFill>
              </a:rPr>
              <a:t>сонализацию</a:t>
            </a:r>
            <a:r>
              <a:rPr lang="en-US" sz="1269" dirty="0">
                <a:solidFill>
                  <a:srgbClr val="B2B2B2"/>
                </a:solidFill>
              </a:rPr>
              <a:t> и создание привычек использования. </a:t>
            </a:r>
            <a:endParaRPr lang="ru-RU" sz="1269" dirty="0">
              <a:solidFill>
                <a:srgbClr val="B2B2B2"/>
              </a:solidFill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en-US" sz="1269" dirty="0" err="1">
                <a:solidFill>
                  <a:srgbClr val="B2B2B2"/>
                </a:solidFill>
              </a:rPr>
              <a:t>Удержание</a:t>
            </a:r>
            <a:r>
              <a:rPr lang="en-US" sz="1269" dirty="0">
                <a:solidFill>
                  <a:srgbClr val="B2B2B2"/>
                </a:solidFill>
              </a:rPr>
              <a:t> существующих пользователей дешевле привлечения новых.</a:t>
            </a:r>
            <a:endParaRPr lang="en-US" sz="1269" dirty="0"/>
          </a:p>
        </p:txBody>
      </p:sp>
      <p:sp>
        <p:nvSpPr>
          <p:cNvPr id="18" name="Text 14"/>
          <p:cNvSpPr/>
          <p:nvPr/>
        </p:nvSpPr>
        <p:spPr>
          <a:xfrm>
            <a:off x="8847192" y="1245859"/>
            <a:ext cx="26794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32CD32">
                    <a:alpha val="80000"/>
                  </a:srgbClr>
                </a:solidFill>
              </a:rPr>
              <a:t>4</a:t>
            </a:r>
            <a:endParaRPr lang="en-US" sz="329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Цели продукта?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217284"/>
            <a:ext cx="2571750" cy="1321594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00088" y="1345871"/>
            <a:ext cx="208310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Улучшение пользовательского опыта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2732429" y="2010240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>
                    <a:alpha val="80000"/>
                  </a:srgbClr>
                </a:solidFill>
              </a:rPr>
              <a:t>1</a:t>
            </a:r>
            <a:endParaRPr lang="en-US" sz="3294" dirty="0"/>
          </a:p>
        </p:txBody>
      </p:sp>
      <p:sp>
        <p:nvSpPr>
          <p:cNvPr id="9" name="Shape 5"/>
          <p:cNvSpPr/>
          <p:nvPr/>
        </p:nvSpPr>
        <p:spPr>
          <a:xfrm>
            <a:off x="3286125" y="1217284"/>
            <a:ext cx="2571750" cy="1321594"/>
          </a:xfrm>
          <a:prstGeom prst="rect">
            <a:avLst/>
          </a:prstGeom>
          <a:solidFill>
            <a:srgbClr val="90EE90"/>
          </a:solidFill>
          <a:ln/>
        </p:spPr>
      </p:sp>
      <p:sp>
        <p:nvSpPr>
          <p:cNvPr id="10" name="Text 6"/>
          <p:cNvSpPr/>
          <p:nvPr/>
        </p:nvSpPr>
        <p:spPr>
          <a:xfrm>
            <a:off x="3414713" y="1345871"/>
            <a:ext cx="208310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Рост вовлеченности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5447054" y="2010240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2</a:t>
            </a:r>
            <a:endParaRPr lang="en-US" sz="3294" dirty="0"/>
          </a:p>
        </p:txBody>
      </p:sp>
      <p:sp>
        <p:nvSpPr>
          <p:cNvPr id="12" name="Shape 8"/>
          <p:cNvSpPr/>
          <p:nvPr/>
        </p:nvSpPr>
        <p:spPr>
          <a:xfrm>
            <a:off x="6000750" y="1217284"/>
            <a:ext cx="2571750" cy="1321594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3" name="Text 9"/>
          <p:cNvSpPr/>
          <p:nvPr/>
        </p:nvSpPr>
        <p:spPr>
          <a:xfrm>
            <a:off x="6129338" y="1345871"/>
            <a:ext cx="208310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Монетизация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8161679" y="2010240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00000">
                    <a:alpha val="80000"/>
                  </a:srgbClr>
                </a:solidFill>
              </a:rPr>
              <a:t>3</a:t>
            </a:r>
            <a:endParaRPr lang="en-US" sz="3294" dirty="0"/>
          </a:p>
        </p:txBody>
      </p:sp>
      <p:sp>
        <p:nvSpPr>
          <p:cNvPr id="15" name="Shape 11"/>
          <p:cNvSpPr/>
          <p:nvPr/>
        </p:nvSpPr>
        <p:spPr>
          <a:xfrm>
            <a:off x="571500" y="2610315"/>
            <a:ext cx="2714625" cy="1893094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0088" y="2738903"/>
            <a:ext cx="220312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Удержание пользователей</a:t>
            </a:r>
            <a:endParaRPr lang="en-US" sz="1193" dirty="0"/>
          </a:p>
        </p:txBody>
      </p:sp>
      <p:sp>
        <p:nvSpPr>
          <p:cNvPr id="17" name="Text 13"/>
          <p:cNvSpPr/>
          <p:nvPr/>
        </p:nvSpPr>
        <p:spPr>
          <a:xfrm>
            <a:off x="2865788" y="3974771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FFFFFF">
                    <a:alpha val="80000"/>
                  </a:srgbClr>
                </a:solidFill>
              </a:rPr>
              <a:t>4</a:t>
            </a:r>
            <a:endParaRPr lang="en-US" sz="3294" dirty="0"/>
          </a:p>
        </p:txBody>
      </p:sp>
      <p:sp>
        <p:nvSpPr>
          <p:cNvPr id="18" name="Shape 14"/>
          <p:cNvSpPr/>
          <p:nvPr/>
        </p:nvSpPr>
        <p:spPr>
          <a:xfrm>
            <a:off x="3419484" y="2610315"/>
            <a:ext cx="5153016" cy="1893094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9" name="Text 15"/>
          <p:cNvSpPr/>
          <p:nvPr/>
        </p:nvSpPr>
        <p:spPr>
          <a:xfrm>
            <a:off x="3548072" y="2738903"/>
            <a:ext cx="4406243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Масштабирование</a:t>
            </a:r>
            <a:endParaRPr lang="en-US" sz="2121" dirty="0"/>
          </a:p>
        </p:txBody>
      </p:sp>
      <p:sp>
        <p:nvSpPr>
          <p:cNvPr id="20" name="Text 16"/>
          <p:cNvSpPr/>
          <p:nvPr/>
        </p:nvSpPr>
        <p:spPr>
          <a:xfrm>
            <a:off x="3548072" y="3414768"/>
            <a:ext cx="4161458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Расширение продукта на новые рынки, сегменты или платформы. Обеспечение технической и операционной готовности к росту пользовательской базы.</a:t>
            </a:r>
            <a:endParaRPr lang="en-US" sz="1269" dirty="0"/>
          </a:p>
        </p:txBody>
      </p:sp>
      <p:sp>
        <p:nvSpPr>
          <p:cNvPr id="21" name="Text 17"/>
          <p:cNvSpPr/>
          <p:nvPr/>
        </p:nvSpPr>
        <p:spPr>
          <a:xfrm>
            <a:off x="7956296" y="3674734"/>
            <a:ext cx="40189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974" b="1" dirty="0">
                <a:solidFill>
                  <a:srgbClr val="000000">
                    <a:alpha val="80000"/>
                  </a:srgbClr>
                </a:solidFill>
              </a:rPr>
              <a:t>5</a:t>
            </a:r>
            <a:endParaRPr lang="en-US" sz="49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6429375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Как мы измеряем успех продукта?</a:t>
            </a:r>
            <a:endParaRPr lang="en-US" sz="2862" dirty="0"/>
          </a:p>
        </p:txBody>
      </p:sp>
      <p:sp>
        <p:nvSpPr>
          <p:cNvPr id="6" name="Text 2"/>
          <p:cNvSpPr/>
          <p:nvPr/>
        </p:nvSpPr>
        <p:spPr>
          <a:xfrm>
            <a:off x="571500" y="1451577"/>
            <a:ext cx="571500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B2B2B2"/>
                </a:solidFill>
              </a:rPr>
              <a:t>Продуктовые метрики помогают команде понять, насколько эффективно продукт решает задачи пользователей и бизнеса. Они делятся на 4 ключевые категории:</a:t>
            </a:r>
            <a:endParaRPr lang="en-US" sz="1269" dirty="0"/>
          </a:p>
        </p:txBody>
      </p:sp>
      <p:sp>
        <p:nvSpPr>
          <p:cNvPr id="7" name="Shape 3"/>
          <p:cNvSpPr/>
          <p:nvPr/>
        </p:nvSpPr>
        <p:spPr>
          <a:xfrm>
            <a:off x="571500" y="2528804"/>
            <a:ext cx="3929063" cy="1028728"/>
          </a:xfrm>
          <a:prstGeom prst="rect">
            <a:avLst/>
          </a:prstGeom>
          <a:solidFill>
            <a:srgbClr val="32CD32">
              <a:alpha val="10000"/>
            </a:srgbClr>
          </a:solidFill>
          <a:ln w="18288">
            <a:solidFill>
              <a:srgbClr val="32CD32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2871704"/>
            <a:ext cx="342900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71625" y="2781514"/>
            <a:ext cx="20375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Вовлеченность</a:t>
            </a:r>
            <a:endParaRPr lang="en-US" sz="1602" dirty="0"/>
          </a:p>
        </p:txBody>
      </p:sp>
      <p:sp>
        <p:nvSpPr>
          <p:cNvPr id="10" name="Text 5"/>
          <p:cNvSpPr/>
          <p:nvPr/>
        </p:nvSpPr>
        <p:spPr>
          <a:xfrm>
            <a:off x="1571625" y="3129772"/>
            <a:ext cx="203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ENGAGEMENT</a:t>
            </a:r>
            <a:endParaRPr lang="en-US" sz="942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2871704"/>
            <a:ext cx="385763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57850" y="2781514"/>
            <a:ext cx="60350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Рост</a:t>
            </a:r>
            <a:endParaRPr lang="en-US" sz="1602" dirty="0"/>
          </a:p>
        </p:txBody>
      </p:sp>
      <p:sp>
        <p:nvSpPr>
          <p:cNvPr id="13" name="Text 7"/>
          <p:cNvSpPr/>
          <p:nvPr/>
        </p:nvSpPr>
        <p:spPr>
          <a:xfrm>
            <a:off x="5657850" y="3129772"/>
            <a:ext cx="6035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GROWTH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571500" y="3700407"/>
            <a:ext cx="3929063" cy="1028756"/>
          </a:xfrm>
          <a:prstGeom prst="rect">
            <a:avLst/>
          </a:prstGeom>
          <a:solidFill>
            <a:srgbClr val="006400">
              <a:alpha val="20000"/>
            </a:srgbClr>
          </a:solidFill>
          <a:ln w="18288">
            <a:solidFill>
              <a:srgbClr val="006400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3" y="4043335"/>
            <a:ext cx="342900" cy="3429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71625" y="3953145"/>
            <a:ext cx="184551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Монетизация</a:t>
            </a:r>
            <a:endParaRPr lang="en-US" sz="1602" dirty="0"/>
          </a:p>
        </p:txBody>
      </p:sp>
      <p:sp>
        <p:nvSpPr>
          <p:cNvPr id="17" name="Text 10"/>
          <p:cNvSpPr/>
          <p:nvPr/>
        </p:nvSpPr>
        <p:spPr>
          <a:xfrm>
            <a:off x="1571625" y="4301403"/>
            <a:ext cx="18455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REVENUE</a:t>
            </a:r>
            <a:endParaRPr lang="en-US" sz="942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7769" y="4043335"/>
            <a:ext cx="300038" cy="3429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57850" y="3953145"/>
            <a:ext cx="144613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Удержание</a:t>
            </a:r>
            <a:endParaRPr lang="en-US" sz="1602" dirty="0"/>
          </a:p>
        </p:txBody>
      </p:sp>
      <p:sp>
        <p:nvSpPr>
          <p:cNvPr id="20" name="Text 12"/>
          <p:cNvSpPr/>
          <p:nvPr/>
        </p:nvSpPr>
        <p:spPr>
          <a:xfrm>
            <a:off x="5657850" y="4301403"/>
            <a:ext cx="14461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888888"/>
                </a:solidFill>
              </a:rPr>
              <a:t>RETENTION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191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Основные метрики продукта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571500" y="1217284"/>
            <a:ext cx="3893344" cy="1765846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785813" y="1431596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DAU / MAU</a:t>
            </a:r>
            <a:endParaRPr lang="en-US" sz="1808" dirty="0"/>
          </a:p>
        </p:txBody>
      </p:sp>
      <p:sp>
        <p:nvSpPr>
          <p:cNvPr id="8" name="Text 4"/>
          <p:cNvSpPr/>
          <p:nvPr/>
        </p:nvSpPr>
        <p:spPr>
          <a:xfrm>
            <a:off x="785813" y="1888796"/>
            <a:ext cx="3464719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Показатель «липкости» продукта. Отношение дневной аудитории к месячной. Чем выше — тем чаще возвращаются.</a:t>
            </a:r>
            <a:endParaRPr lang="en-US" sz="1090" dirty="0"/>
          </a:p>
        </p:txBody>
      </p:sp>
      <p:sp>
        <p:nvSpPr>
          <p:cNvPr id="9" name="Shape 5"/>
          <p:cNvSpPr/>
          <p:nvPr/>
        </p:nvSpPr>
        <p:spPr>
          <a:xfrm>
            <a:off x="4679156" y="1217284"/>
            <a:ext cx="3893344" cy="1765846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0" name="Text 6"/>
          <p:cNvSpPr/>
          <p:nvPr/>
        </p:nvSpPr>
        <p:spPr>
          <a:xfrm>
            <a:off x="4893469" y="1541599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Retention Rate</a:t>
            </a:r>
            <a:endParaRPr lang="en-US" sz="1808" dirty="0"/>
          </a:p>
        </p:txBody>
      </p:sp>
      <p:sp>
        <p:nvSpPr>
          <p:cNvPr id="11" name="Text 7"/>
          <p:cNvSpPr/>
          <p:nvPr/>
        </p:nvSpPr>
        <p:spPr>
          <a:xfrm>
            <a:off x="4893469" y="1998799"/>
            <a:ext cx="34647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Процент пользователей, которые продолжают использовать продукт через определенный период (Day 1, 7, 30).</a:t>
            </a:r>
            <a:endParaRPr lang="en-US" sz="1090" dirty="0"/>
          </a:p>
        </p:txBody>
      </p:sp>
      <p:sp>
        <p:nvSpPr>
          <p:cNvPr id="12" name="Shape 8"/>
          <p:cNvSpPr/>
          <p:nvPr/>
        </p:nvSpPr>
        <p:spPr>
          <a:xfrm>
            <a:off x="571500" y="3197442"/>
            <a:ext cx="3893344" cy="176584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3" name="Text 9"/>
          <p:cNvSpPr/>
          <p:nvPr/>
        </p:nvSpPr>
        <p:spPr>
          <a:xfrm>
            <a:off x="785813" y="3521757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ARPU</a:t>
            </a:r>
            <a:endParaRPr lang="en-US" sz="1808" dirty="0"/>
          </a:p>
        </p:txBody>
      </p:sp>
      <p:sp>
        <p:nvSpPr>
          <p:cNvPr id="14" name="Text 10"/>
          <p:cNvSpPr/>
          <p:nvPr/>
        </p:nvSpPr>
        <p:spPr>
          <a:xfrm>
            <a:off x="785813" y="3978957"/>
            <a:ext cx="34647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Average Revenue Per User — средний доход на одного пользователя. Ключевой показатель эффективности монетизации.</a:t>
            </a:r>
            <a:endParaRPr lang="en-US" sz="1090" dirty="0"/>
          </a:p>
        </p:txBody>
      </p:sp>
      <p:sp>
        <p:nvSpPr>
          <p:cNvPr id="15" name="Shape 11"/>
          <p:cNvSpPr/>
          <p:nvPr/>
        </p:nvSpPr>
        <p:spPr>
          <a:xfrm>
            <a:off x="4679156" y="3197442"/>
            <a:ext cx="3893344" cy="1765846"/>
          </a:xfrm>
          <a:prstGeom prst="rect">
            <a:avLst/>
          </a:prstGeom>
          <a:solidFill>
            <a:srgbClr val="1A1A1A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3469" y="3521757"/>
            <a:ext cx="3464719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2CD32"/>
                </a:solidFill>
              </a:rPr>
              <a:t>Churn Rate</a:t>
            </a:r>
            <a:endParaRPr lang="en-US" sz="1808" dirty="0"/>
          </a:p>
        </p:txBody>
      </p:sp>
      <p:sp>
        <p:nvSpPr>
          <p:cNvPr id="17" name="Text 13"/>
          <p:cNvSpPr/>
          <p:nvPr/>
        </p:nvSpPr>
        <p:spPr>
          <a:xfrm>
            <a:off x="4893469" y="3978957"/>
            <a:ext cx="34647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Процент пользователей, которые перестали использовать продукт. Обратная метрика к Retention.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8001000" cy="4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Популярные фреймворки</a:t>
            </a:r>
            <a:endParaRPr lang="en-US" sz="2862" dirty="0"/>
          </a:p>
        </p:txBody>
      </p:sp>
      <p:sp>
        <p:nvSpPr>
          <p:cNvPr id="6" name="Shape 2"/>
          <p:cNvSpPr/>
          <p:nvPr/>
        </p:nvSpPr>
        <p:spPr>
          <a:xfrm>
            <a:off x="571500" y="1154413"/>
            <a:ext cx="3836194" cy="3560462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7" name="Text 3"/>
          <p:cNvSpPr/>
          <p:nvPr/>
        </p:nvSpPr>
        <p:spPr>
          <a:xfrm>
            <a:off x="857250" y="1440163"/>
            <a:ext cx="32646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2" dirty="0">
                <a:solidFill>
                  <a:srgbClr val="FFFFFF"/>
                </a:solidFill>
              </a:rPr>
              <a:t>AARRR</a:t>
            </a:r>
            <a:endParaRPr lang="en-US" sz="2436" dirty="0"/>
          </a:p>
        </p:txBody>
      </p:sp>
      <p:sp>
        <p:nvSpPr>
          <p:cNvPr id="8" name="Text 4"/>
          <p:cNvSpPr/>
          <p:nvPr/>
        </p:nvSpPr>
        <p:spPr>
          <a:xfrm>
            <a:off x="857250" y="1977730"/>
            <a:ext cx="32646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>
                    <a:alpha val="80000"/>
                  </a:srgbClr>
                </a:solidFill>
              </a:rPr>
              <a:t>Pirate Metrics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857250" y="2386710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A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1250156" y="2426001"/>
            <a:ext cx="219062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Acquisition (Привлечение)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857250" y="2806405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A</a:t>
            </a:r>
            <a:endParaRPr lang="en-US" sz="1602" dirty="0"/>
          </a:p>
        </p:txBody>
      </p:sp>
      <p:sp>
        <p:nvSpPr>
          <p:cNvPr id="12" name="Text 8"/>
          <p:cNvSpPr/>
          <p:nvPr/>
        </p:nvSpPr>
        <p:spPr>
          <a:xfrm>
            <a:off x="1250156" y="2845696"/>
            <a:ext cx="184601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Activation (Активация)</a:t>
            </a:r>
            <a:endParaRPr lang="en-US" sz="1269" dirty="0"/>
          </a:p>
        </p:txBody>
      </p:sp>
      <p:sp>
        <p:nvSpPr>
          <p:cNvPr id="13" name="Text 9"/>
          <p:cNvSpPr/>
          <p:nvPr/>
        </p:nvSpPr>
        <p:spPr>
          <a:xfrm>
            <a:off x="857250" y="322610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R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1250156" y="3265391"/>
            <a:ext cx="1867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Retention (Удержание)</a:t>
            </a:r>
            <a:endParaRPr lang="en-US" sz="1269" dirty="0"/>
          </a:p>
        </p:txBody>
      </p:sp>
      <p:sp>
        <p:nvSpPr>
          <p:cNvPr id="15" name="Text 11"/>
          <p:cNvSpPr/>
          <p:nvPr/>
        </p:nvSpPr>
        <p:spPr>
          <a:xfrm>
            <a:off x="857250" y="3645796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R</a:t>
            </a:r>
            <a:endParaRPr lang="en-US" sz="1602" dirty="0"/>
          </a:p>
        </p:txBody>
      </p:sp>
      <p:sp>
        <p:nvSpPr>
          <p:cNvPr id="16" name="Text 12"/>
          <p:cNvSpPr/>
          <p:nvPr/>
        </p:nvSpPr>
        <p:spPr>
          <a:xfrm>
            <a:off x="1250156" y="3685087"/>
            <a:ext cx="13491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Revenue (Доход)</a:t>
            </a:r>
            <a:endParaRPr lang="en-US" sz="1269" dirty="0"/>
          </a:p>
        </p:txBody>
      </p:sp>
      <p:sp>
        <p:nvSpPr>
          <p:cNvPr id="17" name="Text 13"/>
          <p:cNvSpPr/>
          <p:nvPr/>
        </p:nvSpPr>
        <p:spPr>
          <a:xfrm>
            <a:off x="857250" y="406549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90EE90"/>
                </a:solidFill>
              </a:rPr>
              <a:t>R</a:t>
            </a:r>
            <a:endParaRPr lang="en-US" sz="1602" dirty="0"/>
          </a:p>
        </p:txBody>
      </p:sp>
      <p:sp>
        <p:nvSpPr>
          <p:cNvPr id="18" name="Text 14"/>
          <p:cNvSpPr/>
          <p:nvPr/>
        </p:nvSpPr>
        <p:spPr>
          <a:xfrm>
            <a:off x="1250156" y="4104782"/>
            <a:ext cx="20349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Referral (Рекомендации)</a:t>
            </a:r>
            <a:endParaRPr lang="en-US" sz="1269" dirty="0"/>
          </a:p>
        </p:txBody>
      </p:sp>
      <p:sp>
        <p:nvSpPr>
          <p:cNvPr id="19" name="Shape 15"/>
          <p:cNvSpPr/>
          <p:nvPr/>
        </p:nvSpPr>
        <p:spPr>
          <a:xfrm>
            <a:off x="4693444" y="1154413"/>
            <a:ext cx="3879056" cy="3560462"/>
          </a:xfrm>
          <a:prstGeom prst="rect">
            <a:avLst/>
          </a:prstGeom>
          <a:solidFill>
            <a:srgbClr val="111111"/>
          </a:solidFill>
          <a:ln w="18288">
            <a:solidFill>
              <a:srgbClr val="32CD3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00625" y="1440163"/>
            <a:ext cx="328612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2" dirty="0">
                <a:solidFill>
                  <a:srgbClr val="FFFFFF"/>
                </a:solidFill>
              </a:rPr>
              <a:t>HEART</a:t>
            </a:r>
            <a:endParaRPr lang="en-US" sz="2436" dirty="0"/>
          </a:p>
        </p:txBody>
      </p:sp>
      <p:sp>
        <p:nvSpPr>
          <p:cNvPr id="21" name="Text 17"/>
          <p:cNvSpPr/>
          <p:nvPr/>
        </p:nvSpPr>
        <p:spPr>
          <a:xfrm>
            <a:off x="5000625" y="1977730"/>
            <a:ext cx="32861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FFFFFF">
                    <a:alpha val="80000"/>
                  </a:srgbClr>
                </a:solidFill>
              </a:rPr>
              <a:t>Google Framework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5000625" y="2386710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H</a:t>
            </a:r>
            <a:endParaRPr lang="en-US" sz="1602" dirty="0"/>
          </a:p>
        </p:txBody>
      </p:sp>
      <p:sp>
        <p:nvSpPr>
          <p:cNvPr id="23" name="Text 19"/>
          <p:cNvSpPr/>
          <p:nvPr/>
        </p:nvSpPr>
        <p:spPr>
          <a:xfrm>
            <a:off x="5393531" y="2426001"/>
            <a:ext cx="166136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Happiness (Счастье)</a:t>
            </a:r>
            <a:endParaRPr lang="en-US" sz="1269" dirty="0"/>
          </a:p>
        </p:txBody>
      </p:sp>
      <p:sp>
        <p:nvSpPr>
          <p:cNvPr id="24" name="Text 20"/>
          <p:cNvSpPr/>
          <p:nvPr/>
        </p:nvSpPr>
        <p:spPr>
          <a:xfrm>
            <a:off x="5000625" y="2806405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E</a:t>
            </a:r>
            <a:endParaRPr lang="en-US" sz="1602" dirty="0"/>
          </a:p>
        </p:txBody>
      </p:sp>
      <p:sp>
        <p:nvSpPr>
          <p:cNvPr id="25" name="Text 21"/>
          <p:cNvSpPr/>
          <p:nvPr/>
        </p:nvSpPr>
        <p:spPr>
          <a:xfrm>
            <a:off x="5393531" y="2845696"/>
            <a:ext cx="24767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Engagement (Вовлеченность)</a:t>
            </a:r>
            <a:endParaRPr lang="en-US" sz="1269" dirty="0"/>
          </a:p>
        </p:txBody>
      </p:sp>
      <p:sp>
        <p:nvSpPr>
          <p:cNvPr id="26" name="Text 22"/>
          <p:cNvSpPr/>
          <p:nvPr/>
        </p:nvSpPr>
        <p:spPr>
          <a:xfrm>
            <a:off x="5000625" y="322610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A</a:t>
            </a:r>
            <a:endParaRPr lang="en-US" sz="1602" dirty="0"/>
          </a:p>
        </p:txBody>
      </p:sp>
      <p:sp>
        <p:nvSpPr>
          <p:cNvPr id="27" name="Text 23"/>
          <p:cNvSpPr/>
          <p:nvPr/>
        </p:nvSpPr>
        <p:spPr>
          <a:xfrm>
            <a:off x="5393531" y="3265391"/>
            <a:ext cx="17220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Adoption (Принятие)</a:t>
            </a:r>
            <a:endParaRPr lang="en-US" sz="1269" dirty="0"/>
          </a:p>
        </p:txBody>
      </p:sp>
      <p:sp>
        <p:nvSpPr>
          <p:cNvPr id="28" name="Text 24"/>
          <p:cNvSpPr/>
          <p:nvPr/>
        </p:nvSpPr>
        <p:spPr>
          <a:xfrm>
            <a:off x="5000625" y="3645796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R</a:t>
            </a:r>
            <a:endParaRPr lang="en-US" sz="1602" dirty="0"/>
          </a:p>
        </p:txBody>
      </p:sp>
      <p:sp>
        <p:nvSpPr>
          <p:cNvPr id="29" name="Text 25"/>
          <p:cNvSpPr/>
          <p:nvPr/>
        </p:nvSpPr>
        <p:spPr>
          <a:xfrm>
            <a:off x="5393531" y="3685087"/>
            <a:ext cx="18671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Retention (Удержание)</a:t>
            </a:r>
            <a:endParaRPr lang="en-US" sz="1269" dirty="0"/>
          </a:p>
        </p:txBody>
      </p:sp>
      <p:sp>
        <p:nvSpPr>
          <p:cNvPr id="30" name="Text 26"/>
          <p:cNvSpPr/>
          <p:nvPr/>
        </p:nvSpPr>
        <p:spPr>
          <a:xfrm>
            <a:off x="5000625" y="406549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32CD32"/>
                </a:solidFill>
              </a:rPr>
              <a:t>T</a:t>
            </a:r>
            <a:endParaRPr lang="en-US" sz="1602" dirty="0"/>
          </a:p>
        </p:txBody>
      </p:sp>
      <p:sp>
        <p:nvSpPr>
          <p:cNvPr id="31" name="Text 27"/>
          <p:cNvSpPr/>
          <p:nvPr/>
        </p:nvSpPr>
        <p:spPr>
          <a:xfrm>
            <a:off x="5393531" y="4104782"/>
            <a:ext cx="22852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Task Success (Успех задачи)</a:t>
            </a:r>
            <a:endParaRPr lang="en-US" sz="12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26EFAD-B38D-DC2F-CC1A-B58861D2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146050"/>
            <a:ext cx="52197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373" y="295573"/>
            <a:ext cx="214313" cy="2143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88123" y="285750"/>
            <a:ext cx="8272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X5 Digital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571500" y="428625"/>
            <a:ext cx="71437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0000"/>
                </a:solidFill>
              </a:rPr>
              <a:t>Продукт и маркетинг
работают вместе</a:t>
            </a:r>
            <a:endParaRPr lang="en-US" sz="3294" dirty="0"/>
          </a:p>
        </p:txBody>
      </p:sp>
      <p:sp>
        <p:nvSpPr>
          <p:cNvPr id="6" name="Shape 2"/>
          <p:cNvSpPr/>
          <p:nvPr/>
        </p:nvSpPr>
        <p:spPr>
          <a:xfrm>
            <a:off x="1343025" y="1997376"/>
            <a:ext cx="2714625" cy="1500188"/>
          </a:xfrm>
          <a:prstGeom prst="rect">
            <a:avLst/>
          </a:prstGeom>
          <a:solidFill>
            <a:srgbClr val="FFFFFF">
              <a:alpha val="20000"/>
            </a:srgbClr>
          </a:solidFill>
          <a:ln w="45720">
            <a:solidFill>
              <a:srgbClr val="000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96024" y="2361707"/>
            <a:ext cx="1608627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PRODUCT</a:t>
            </a:r>
            <a:endParaRPr lang="en-US" sz="2436" dirty="0"/>
          </a:p>
        </p:txBody>
      </p:sp>
      <p:sp>
        <p:nvSpPr>
          <p:cNvPr id="8" name="Text 4"/>
          <p:cNvSpPr/>
          <p:nvPr/>
        </p:nvSpPr>
        <p:spPr>
          <a:xfrm>
            <a:off x="1914748" y="2899274"/>
            <a:ext cx="15711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80000"/>
                  </a:srgbClr>
                </a:solidFill>
              </a:rPr>
              <a:t>Создает ценность</a:t>
            </a:r>
            <a:endParaRPr lang="en-US" sz="119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518870"/>
            <a:ext cx="457200" cy="457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86350" y="1997376"/>
            <a:ext cx="2714625" cy="1500188"/>
          </a:xfrm>
          <a:prstGeom prst="rect">
            <a:avLst/>
          </a:prstGeom>
          <a:solidFill>
            <a:srgbClr val="FFFFFF">
              <a:alpha val="20000"/>
            </a:srgbClr>
          </a:solidFill>
          <a:ln w="45720">
            <a:solidFill>
              <a:srgbClr val="00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410916" y="2361707"/>
            <a:ext cx="206546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0000"/>
                </a:solidFill>
              </a:rPr>
              <a:t>MARKETING</a:t>
            </a:r>
            <a:endParaRPr lang="en-US" sz="2436" dirty="0"/>
          </a:p>
        </p:txBody>
      </p:sp>
      <p:sp>
        <p:nvSpPr>
          <p:cNvPr id="12" name="Text 7"/>
          <p:cNvSpPr/>
          <p:nvPr/>
        </p:nvSpPr>
        <p:spPr>
          <a:xfrm>
            <a:off x="5638512" y="2899274"/>
            <a:ext cx="161027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>
                    <a:alpha val="80000"/>
                  </a:srgbClr>
                </a:solidFill>
              </a:rPr>
              <a:t>Доносит ценность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357313" y="3711876"/>
            <a:ext cx="6429375" cy="10115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Продуктовая команда создает ценность и измеряет её метриками. Маркетинг привлекает пользователей на эту ценность. Успех — в синергии.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423</Words>
  <Application>Microsoft Macintosh PowerPoint</Application>
  <PresentationFormat>Экран (16:9)</PresentationFormat>
  <Paragraphs>121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KirillSadchikov</cp:lastModifiedBy>
  <cp:revision>2</cp:revision>
  <dcterms:created xsi:type="dcterms:W3CDTF">2026-02-02T14:08:32Z</dcterms:created>
  <dcterms:modified xsi:type="dcterms:W3CDTF">2026-10-07T20:23:14Z</dcterms:modified>
</cp:coreProperties>
</file>