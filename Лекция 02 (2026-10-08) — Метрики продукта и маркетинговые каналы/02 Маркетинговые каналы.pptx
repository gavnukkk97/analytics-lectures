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handoutMasterIdLst>
    <p:handoutMasterId r:id="rId27"/>
  </p:handoutMasterIdLst>
  <p:sldIdLst>
    <p:sldId id="256" r:id="rId2"/>
    <p:sldId id="319" r:id="rId3"/>
    <p:sldId id="312" r:id="rId4"/>
    <p:sldId id="289" r:id="rId5"/>
    <p:sldId id="313" r:id="rId6"/>
    <p:sldId id="314" r:id="rId7"/>
    <p:sldId id="307" r:id="rId8"/>
    <p:sldId id="315" r:id="rId9"/>
    <p:sldId id="316" r:id="rId10"/>
    <p:sldId id="283" r:id="rId11"/>
    <p:sldId id="296" r:id="rId12"/>
    <p:sldId id="309" r:id="rId13"/>
    <p:sldId id="310" r:id="rId14"/>
    <p:sldId id="311" r:id="rId15"/>
    <p:sldId id="305" r:id="rId16"/>
    <p:sldId id="318" r:id="rId17"/>
    <p:sldId id="317" r:id="rId18"/>
    <p:sldId id="297" r:id="rId19"/>
    <p:sldId id="298" r:id="rId20"/>
    <p:sldId id="300" r:id="rId21"/>
    <p:sldId id="302" r:id="rId22"/>
    <p:sldId id="303" r:id="rId23"/>
    <p:sldId id="304" r:id="rId24"/>
    <p:sldId id="306" r:id="rId2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6" userDrawn="1">
          <p15:clr>
            <a:srgbClr val="747775"/>
          </p15:clr>
        </p15:guide>
        <p15:guide id="2" pos="113" userDrawn="1">
          <p15:clr>
            <a:srgbClr val="747775"/>
          </p15:clr>
        </p15:guide>
        <p15:guide id="3" pos="5647" userDrawn="1">
          <p15:clr>
            <a:srgbClr val="747775"/>
          </p15:clr>
        </p15:guide>
        <p15:guide id="4" orient="horz" pos="3049" userDrawn="1">
          <p15:clr>
            <a:srgbClr val="747775"/>
          </p15:clr>
        </p15:guide>
        <p15:guide id="5" orient="horz" pos="599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FF57"/>
    <a:srgbClr val="05320A"/>
    <a:srgbClr val="B4FA56"/>
    <a:srgbClr val="DCFFB0"/>
    <a:srgbClr val="141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/>
    <p:restoredTop sz="94694"/>
  </p:normalViewPr>
  <p:slideViewPr>
    <p:cSldViewPr snapToGrid="0">
      <p:cViewPr varScale="1">
        <p:scale>
          <a:sx n="161" d="100"/>
          <a:sy n="161" d="100"/>
        </p:scale>
        <p:origin x="696" y="200"/>
      </p:cViewPr>
      <p:guideLst>
        <p:guide orient="horz" pos="146"/>
        <p:guide pos="113"/>
        <p:guide pos="5647"/>
        <p:guide orient="horz" pos="3049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4" d="100"/>
          <a:sy n="124" d="100"/>
        </p:scale>
        <p:origin x="322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AE90609-8783-3BE8-B83F-A5813CF052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8F9776-7D79-7B0E-2135-848C2C4F95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E34DD-E889-6743-A8CB-21756B3356C6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753DC2-59B6-6EE2-DB9B-75E36D4241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366BE1-E67D-44BE-FD56-D6819CDBB5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BA62A-7F7E-2A41-BBB6-940E426D48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58908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975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13682-75E8-9187-1081-B360E726D6D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075924" y="129125"/>
            <a:ext cx="923693" cy="26894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21715" y="3098765"/>
            <a:ext cx="8520600" cy="1148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>
                <a:solidFill>
                  <a:schemeClr val="bg1"/>
                </a:solidFill>
              </a:rPr>
              <a:t>МАРКЕТИНГОВЫЕ</a:t>
            </a:r>
            <a:br>
              <a:rPr lang="ru-RU" sz="4500" dirty="0">
                <a:solidFill>
                  <a:schemeClr val="bg1"/>
                </a:solidFill>
              </a:rPr>
            </a:br>
            <a:r>
              <a:rPr lang="ru-RU" sz="4500" dirty="0">
                <a:solidFill>
                  <a:schemeClr val="bg1"/>
                </a:solidFill>
              </a:rPr>
              <a:t>КАНАЛЫ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21715" y="4410117"/>
            <a:ext cx="8520600" cy="481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 algn="l"/>
            <a:r>
              <a:rPr lang="ru-RU" sz="2000" dirty="0">
                <a:solidFill>
                  <a:srgbClr val="B8FF57"/>
                </a:solidFill>
              </a:rPr>
              <a:t>Садчиков Кирилл (</a:t>
            </a:r>
            <a:r>
              <a:rPr lang="en-US" sz="2000" dirty="0">
                <a:solidFill>
                  <a:srgbClr val="B8FF57"/>
                </a:solidFill>
              </a:rPr>
              <a:t>@</a:t>
            </a:r>
            <a:r>
              <a:rPr lang="en-US" sz="2000" dirty="0" err="1">
                <a:solidFill>
                  <a:srgbClr val="B8FF57"/>
                </a:solidFill>
              </a:rPr>
              <a:t>Kirish_molodez</a:t>
            </a:r>
            <a:r>
              <a:rPr lang="ru-RU" sz="2000" dirty="0">
                <a:solidFill>
                  <a:srgbClr val="B8FF57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34A82-3E0D-B0C9-482F-AC947BAD468A}"/>
              </a:ext>
            </a:extLst>
          </p:cNvPr>
          <p:cNvSpPr txBox="1"/>
          <p:nvPr/>
        </p:nvSpPr>
        <p:spPr>
          <a:xfrm>
            <a:off x="244017" y="26480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Лекция 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B74C5F-7095-DEEA-46DB-C41BD3F35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849" y="140332"/>
            <a:ext cx="958764" cy="279159"/>
          </a:xfrm>
          <a:prstGeom prst="rect">
            <a:avLst/>
          </a:prstGeom>
        </p:spPr>
      </p:pic>
      <p:sp>
        <p:nvSpPr>
          <p:cNvPr id="7" name="Молния 6">
            <a:extLst>
              <a:ext uri="{FF2B5EF4-FFF2-40B4-BE49-F238E27FC236}">
                <a16:creationId xmlns:a16="http://schemas.microsoft.com/office/drawing/2014/main" id="{CC84F962-80A6-9C93-68A1-AC3547B9A531}"/>
              </a:ext>
            </a:extLst>
          </p:cNvPr>
          <p:cNvSpPr/>
          <p:nvPr/>
        </p:nvSpPr>
        <p:spPr>
          <a:xfrm rot="21030840">
            <a:off x="3873544" y="-1553584"/>
            <a:ext cx="5641341" cy="5641341"/>
          </a:xfrm>
          <a:prstGeom prst="lightningBolt">
            <a:avLst/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E912F-1211-EDBC-CE6C-D3F65588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B6C8AB-0C56-534E-FAAC-C439D5EA4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620EE5-D32D-7CC2-5EDD-58927C85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50" y="393959"/>
            <a:ext cx="8832300" cy="474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7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BA6F9-5F10-D8B8-4DE7-016D04F9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96FEB760-E0EB-B28A-2A68-254095E38748}"/>
              </a:ext>
            </a:extLst>
          </p:cNvPr>
          <p:cNvSpPr txBox="1">
            <a:spLocks/>
          </p:cNvSpPr>
          <p:nvPr/>
        </p:nvSpPr>
        <p:spPr>
          <a:xfrm>
            <a:off x="57665" y="1172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Быстрое повторение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DB2E8F7D-5131-7D84-EC18-C05BD144522D}"/>
              </a:ext>
            </a:extLst>
          </p:cNvPr>
          <p:cNvSpPr txBox="1">
            <a:spLocks/>
          </p:cNvSpPr>
          <p:nvPr/>
        </p:nvSpPr>
        <p:spPr>
          <a:xfrm>
            <a:off x="88770" y="863550"/>
            <a:ext cx="8520600" cy="3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>
              <a:buClr>
                <a:schemeClr val="tx1"/>
              </a:buClr>
              <a:buSzPct val="80000"/>
            </a:pPr>
            <a:r>
              <a:rPr lang="ru-RU" sz="1600" b="1" dirty="0">
                <a:solidFill>
                  <a:schemeClr val="tx1"/>
                </a:solidFill>
              </a:rPr>
              <a:t>Цель</a:t>
            </a:r>
            <a:r>
              <a:rPr lang="ru-RU" sz="1600" dirty="0">
                <a:solidFill>
                  <a:schemeClr val="tx1"/>
                </a:solidFill>
              </a:rPr>
              <a:t> – </a:t>
            </a:r>
            <a:r>
              <a:rPr lang="ru-RU" sz="1600" strike="sngStrike" dirty="0">
                <a:solidFill>
                  <a:schemeClr val="tx1"/>
                </a:solidFill>
              </a:rPr>
              <a:t>привлечение</a:t>
            </a:r>
            <a:r>
              <a:rPr lang="ru-RU" sz="1600" dirty="0">
                <a:solidFill>
                  <a:schemeClr val="tx1"/>
                </a:solidFill>
              </a:rPr>
              <a:t> дешевое привлечение </a:t>
            </a:r>
          </a:p>
          <a:p>
            <a:pPr marL="0" indent="0">
              <a:buClr>
                <a:schemeClr val="tx1"/>
              </a:buClr>
              <a:buSzPct val="80000"/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CC5A8712-2791-E087-6CD1-676332BE3B5E}"/>
              </a:ext>
            </a:extLst>
          </p:cNvPr>
          <p:cNvSpPr/>
          <p:nvPr/>
        </p:nvSpPr>
        <p:spPr>
          <a:xfrm>
            <a:off x="1961964" y="1988281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</a:t>
            </a:r>
            <a:endParaRPr lang="ru-RU" dirty="0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770F2A1-0590-AFE6-162E-F6B59985BFB2}"/>
              </a:ext>
            </a:extLst>
          </p:cNvPr>
          <p:cNvSpPr/>
          <p:nvPr/>
        </p:nvSpPr>
        <p:spPr>
          <a:xfrm>
            <a:off x="5495277" y="1988281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  <a:endParaRPr lang="ru-RU" dirty="0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1EA517F-4569-61B5-1F1C-9F8E68D3D5FA}"/>
              </a:ext>
            </a:extLst>
          </p:cNvPr>
          <p:cNvSpPr/>
          <p:nvPr/>
        </p:nvSpPr>
        <p:spPr>
          <a:xfrm>
            <a:off x="1961964" y="3583804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494CFD84-F4AE-56AB-AFF7-572B433F5FAD}"/>
              </a:ext>
            </a:extLst>
          </p:cNvPr>
          <p:cNvSpPr/>
          <p:nvPr/>
        </p:nvSpPr>
        <p:spPr>
          <a:xfrm>
            <a:off x="5495277" y="3583804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</a:t>
            </a: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2288ADA-B021-AC85-ADC3-B0B779DFBD8F}"/>
              </a:ext>
            </a:extLst>
          </p:cNvPr>
          <p:cNvCxnSpPr>
            <a:cxnSpLocks/>
          </p:cNvCxnSpPr>
          <p:nvPr/>
        </p:nvCxnSpPr>
        <p:spPr>
          <a:xfrm>
            <a:off x="3759693" y="4056778"/>
            <a:ext cx="1624614" cy="0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F75A0C5-78B1-08C1-64E9-C5687EFBA6CC}"/>
              </a:ext>
            </a:extLst>
          </p:cNvPr>
          <p:cNvCxnSpPr>
            <a:cxnSpLocks/>
          </p:cNvCxnSpPr>
          <p:nvPr/>
        </p:nvCxnSpPr>
        <p:spPr>
          <a:xfrm>
            <a:off x="2743200" y="3045041"/>
            <a:ext cx="0" cy="432549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DCD73BA-0850-607A-60A0-A26EF4CB20C0}"/>
              </a:ext>
            </a:extLst>
          </p:cNvPr>
          <p:cNvCxnSpPr>
            <a:cxnSpLocks/>
          </p:cNvCxnSpPr>
          <p:nvPr/>
        </p:nvCxnSpPr>
        <p:spPr>
          <a:xfrm>
            <a:off x="6356411" y="3045041"/>
            <a:ext cx="0" cy="432549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CA76BDD-B172-6D52-AFA8-ED77BF5A7150}"/>
              </a:ext>
            </a:extLst>
          </p:cNvPr>
          <p:cNvCxnSpPr>
            <a:cxnSpLocks/>
          </p:cNvCxnSpPr>
          <p:nvPr/>
        </p:nvCxnSpPr>
        <p:spPr>
          <a:xfrm>
            <a:off x="3759693" y="2467675"/>
            <a:ext cx="1624614" cy="0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Google Shape;60;p14">
            <a:extLst>
              <a:ext uri="{FF2B5EF4-FFF2-40B4-BE49-F238E27FC236}">
                <a16:creationId xmlns:a16="http://schemas.microsoft.com/office/drawing/2014/main" id="{F637F399-227E-1E71-A23A-E83B1BED483E}"/>
              </a:ext>
            </a:extLst>
          </p:cNvPr>
          <p:cNvSpPr txBox="1">
            <a:spLocks/>
          </p:cNvSpPr>
          <p:nvPr/>
        </p:nvSpPr>
        <p:spPr>
          <a:xfrm>
            <a:off x="3706429" y="2193609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Market/Product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Google Shape;60;p14">
            <a:extLst>
              <a:ext uri="{FF2B5EF4-FFF2-40B4-BE49-F238E27FC236}">
                <a16:creationId xmlns:a16="http://schemas.microsoft.com/office/drawing/2014/main" id="{65B201B9-E1B8-C7CD-D8B6-9358AC9AA96B}"/>
              </a:ext>
            </a:extLst>
          </p:cNvPr>
          <p:cNvSpPr txBox="1">
            <a:spLocks/>
          </p:cNvSpPr>
          <p:nvPr/>
        </p:nvSpPr>
        <p:spPr>
          <a:xfrm>
            <a:off x="3706429" y="4160730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Channel/Model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60;p14">
            <a:extLst>
              <a:ext uri="{FF2B5EF4-FFF2-40B4-BE49-F238E27FC236}">
                <a16:creationId xmlns:a16="http://schemas.microsoft.com/office/drawing/2014/main" id="{5A9D6ECA-5575-4DC5-725C-B247268EE1C0}"/>
              </a:ext>
            </a:extLst>
          </p:cNvPr>
          <p:cNvSpPr txBox="1">
            <a:spLocks/>
          </p:cNvSpPr>
          <p:nvPr/>
        </p:nvSpPr>
        <p:spPr>
          <a:xfrm>
            <a:off x="1029810" y="3190397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Model/Market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289E4AF4-A84E-F3D5-1429-7E94584139AC}"/>
              </a:ext>
            </a:extLst>
          </p:cNvPr>
          <p:cNvSpPr txBox="1">
            <a:spLocks/>
          </p:cNvSpPr>
          <p:nvPr/>
        </p:nvSpPr>
        <p:spPr>
          <a:xfrm>
            <a:off x="6498451" y="3190397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Product/Channel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B0033B2B-C90D-AF73-E030-AA7398F17AB5}"/>
              </a:ext>
            </a:extLst>
          </p:cNvPr>
          <p:cNvSpPr txBox="1">
            <a:spLocks/>
          </p:cNvSpPr>
          <p:nvPr/>
        </p:nvSpPr>
        <p:spPr>
          <a:xfrm>
            <a:off x="57665" y="1172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Быстрое повторение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3DF98474-7959-C1AE-52F6-B1A4D5A0FE1B}"/>
              </a:ext>
            </a:extLst>
          </p:cNvPr>
          <p:cNvSpPr txBox="1">
            <a:spLocks/>
          </p:cNvSpPr>
          <p:nvPr/>
        </p:nvSpPr>
        <p:spPr>
          <a:xfrm>
            <a:off x="88770" y="863550"/>
            <a:ext cx="8520600" cy="3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>
              <a:buClr>
                <a:schemeClr val="tx1"/>
              </a:buClr>
              <a:buSzPct val="80000"/>
            </a:pPr>
            <a:r>
              <a:rPr lang="ru-RU" sz="1600" b="1" dirty="0">
                <a:solidFill>
                  <a:schemeClr val="tx1"/>
                </a:solidFill>
              </a:rPr>
              <a:t>Цель</a:t>
            </a:r>
            <a:r>
              <a:rPr lang="ru-RU" sz="1600" dirty="0">
                <a:solidFill>
                  <a:schemeClr val="tx1"/>
                </a:solidFill>
              </a:rPr>
              <a:t> – </a:t>
            </a:r>
            <a:r>
              <a:rPr lang="ru-RU" sz="1600" strike="sngStrike" dirty="0">
                <a:solidFill>
                  <a:schemeClr val="tx1"/>
                </a:solidFill>
              </a:rPr>
              <a:t>привлечение</a:t>
            </a:r>
            <a:r>
              <a:rPr lang="ru-RU" sz="1600" dirty="0">
                <a:solidFill>
                  <a:schemeClr val="tx1"/>
                </a:solidFill>
              </a:rPr>
              <a:t> дешевое привлечение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Как достигать цель? — Для этого есть </a:t>
            </a:r>
            <a:r>
              <a:rPr lang="ru-RU" sz="1600" b="1" dirty="0">
                <a:solidFill>
                  <a:schemeClr val="tx1"/>
                </a:solidFill>
              </a:rPr>
              <a:t>стратегия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Clr>
                <a:schemeClr val="tx1"/>
              </a:buClr>
              <a:buSzPct val="80000"/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10BD90D-F6A5-6A17-985F-0969A421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75" y="1885950"/>
            <a:ext cx="5317050" cy="2954338"/>
          </a:xfrm>
          <a:prstGeom prst="roundRect">
            <a:avLst>
              <a:gd name="adj" fmla="val 4761"/>
            </a:avLst>
          </a:prstGeom>
        </p:spPr>
      </p:pic>
    </p:spTree>
    <p:extLst>
      <p:ext uri="{BB962C8B-B14F-4D97-AF65-F5344CB8AC3E}">
        <p14:creationId xmlns:p14="http://schemas.microsoft.com/office/powerpoint/2010/main" val="280483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1EC27-7633-67BA-12E4-D7683E60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0DCE856-1770-5840-787A-AFEDC7514974}"/>
              </a:ext>
            </a:extLst>
          </p:cNvPr>
          <p:cNvSpPr/>
          <p:nvPr/>
        </p:nvSpPr>
        <p:spPr>
          <a:xfrm>
            <a:off x="5263470" y="2680285"/>
            <a:ext cx="2948519" cy="1150988"/>
          </a:xfrm>
          <a:prstGeom prst="roundRect">
            <a:avLst>
              <a:gd name="adj" fmla="val 103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C70DD0A5-96F2-E206-8EF5-D2158B9C7DEC}"/>
              </a:ext>
            </a:extLst>
          </p:cNvPr>
          <p:cNvSpPr txBox="1">
            <a:spLocks/>
          </p:cNvSpPr>
          <p:nvPr/>
        </p:nvSpPr>
        <p:spPr>
          <a:xfrm>
            <a:off x="57665" y="1172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Быстрое повторение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2D8E3DFC-67AC-29B9-F663-3B3BF862E3FE}"/>
              </a:ext>
            </a:extLst>
          </p:cNvPr>
          <p:cNvSpPr txBox="1">
            <a:spLocks/>
          </p:cNvSpPr>
          <p:nvPr/>
        </p:nvSpPr>
        <p:spPr>
          <a:xfrm>
            <a:off x="88770" y="863550"/>
            <a:ext cx="8520600" cy="115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>
              <a:buClr>
                <a:schemeClr val="tx1"/>
              </a:buClr>
              <a:buSzPct val="80000"/>
            </a:pPr>
            <a:r>
              <a:rPr lang="ru-RU" sz="1600" b="1" dirty="0">
                <a:solidFill>
                  <a:schemeClr val="tx1"/>
                </a:solidFill>
              </a:rPr>
              <a:t>Цель</a:t>
            </a:r>
            <a:r>
              <a:rPr lang="ru-RU" sz="1600" dirty="0">
                <a:solidFill>
                  <a:schemeClr val="tx1"/>
                </a:solidFill>
              </a:rPr>
              <a:t> – </a:t>
            </a:r>
            <a:r>
              <a:rPr lang="ru-RU" sz="1600" strike="sngStrike" dirty="0">
                <a:solidFill>
                  <a:schemeClr val="tx1"/>
                </a:solidFill>
              </a:rPr>
              <a:t>привлечение</a:t>
            </a:r>
            <a:r>
              <a:rPr lang="ru-RU" sz="1600" dirty="0">
                <a:solidFill>
                  <a:schemeClr val="tx1"/>
                </a:solidFill>
              </a:rPr>
              <a:t> дешевое привлечение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Как достигать цель? — Для этого есть </a:t>
            </a:r>
            <a:r>
              <a:rPr lang="ru-RU" sz="1600" b="1" dirty="0">
                <a:solidFill>
                  <a:schemeClr val="tx1"/>
                </a:solidFill>
              </a:rPr>
              <a:t>стратегия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Важные моменты в стратегии: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Снижаем </a:t>
            </a:r>
            <a:r>
              <a:rPr lang="en" sz="1600" dirty="0">
                <a:solidFill>
                  <a:schemeClr val="tx1"/>
                </a:solidFill>
              </a:rPr>
              <a:t>CPO </a:t>
            </a:r>
            <a:endParaRPr lang="ru-RU" sz="1600" dirty="0">
              <a:solidFill>
                <a:schemeClr val="tx1"/>
              </a:solidFill>
            </a:endParaRP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Следим за САС и </a:t>
            </a:r>
            <a:r>
              <a:rPr lang="en" sz="1600" dirty="0">
                <a:solidFill>
                  <a:schemeClr val="tx1"/>
                </a:solidFill>
              </a:rPr>
              <a:t>LTV</a:t>
            </a:r>
          </a:p>
          <a:p>
            <a:pPr marL="0">
              <a:buClr>
                <a:schemeClr val="tx1"/>
              </a:buClr>
              <a:buSzPct val="80000"/>
            </a:pPr>
            <a:endParaRPr lang="en" sz="1600" dirty="0">
              <a:solidFill>
                <a:schemeClr val="tx1"/>
              </a:solidFill>
            </a:endParaRPr>
          </a:p>
          <a:p>
            <a:pPr marL="0">
              <a:buClr>
                <a:schemeClr val="tx1"/>
              </a:buClr>
              <a:buSzPct val="80000"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SzPct val="80000"/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E72EA2D-D060-6723-89D9-10FE1C762303}"/>
              </a:ext>
            </a:extLst>
          </p:cNvPr>
          <p:cNvSpPr/>
          <p:nvPr/>
        </p:nvSpPr>
        <p:spPr>
          <a:xfrm>
            <a:off x="1093787" y="2684057"/>
            <a:ext cx="3199917" cy="1150988"/>
          </a:xfrm>
          <a:prstGeom prst="roundRect">
            <a:avLst>
              <a:gd name="adj" fmla="val 103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6E2C65C2-03A5-E423-2C43-BA2D18533A29}"/>
              </a:ext>
            </a:extLst>
          </p:cNvPr>
          <p:cNvGrpSpPr/>
          <p:nvPr/>
        </p:nvGrpSpPr>
        <p:grpSpPr>
          <a:xfrm>
            <a:off x="1154118" y="2921847"/>
            <a:ext cx="2888188" cy="729404"/>
            <a:chOff x="3493297" y="2700040"/>
            <a:chExt cx="2888188" cy="7294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156DC8-306D-90E6-0622-C69B69EF53D2}"/>
                </a:ext>
              </a:extLst>
            </p:cNvPr>
            <p:cNvSpPr txBox="1"/>
            <p:nvPr/>
          </p:nvSpPr>
          <p:spPr>
            <a:xfrm>
              <a:off x="3493297" y="2914352"/>
              <a:ext cx="877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CPO</a:t>
              </a:r>
              <a:r>
                <a:rPr lang="ru-RU" dirty="0"/>
                <a:t>    =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797658-A551-66F5-E045-A74ED9C9DC38}"/>
                </a:ext>
              </a:extLst>
            </p:cNvPr>
            <p:cNvSpPr txBox="1"/>
            <p:nvPr/>
          </p:nvSpPr>
          <p:spPr>
            <a:xfrm>
              <a:off x="4471988" y="2700040"/>
              <a:ext cx="19094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Расходы на рекламу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F05678-EE24-E170-69E0-C3798EAAB29A}"/>
                </a:ext>
              </a:extLst>
            </p:cNvPr>
            <p:cNvSpPr txBox="1"/>
            <p:nvPr/>
          </p:nvSpPr>
          <p:spPr>
            <a:xfrm>
              <a:off x="4571999" y="3121667"/>
              <a:ext cx="17059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Заказы с рекламы</a:t>
              </a:r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8D997F2-7E3B-A93C-AFCD-51FA402F06C0}"/>
                </a:ext>
              </a:extLst>
            </p:cNvPr>
            <p:cNvCxnSpPr/>
            <p:nvPr/>
          </p:nvCxnSpPr>
          <p:spPr>
            <a:xfrm>
              <a:off x="4520214" y="3075384"/>
              <a:ext cx="1809486" cy="0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050B8B6-1591-218F-FF29-A946B0C59F72}"/>
              </a:ext>
            </a:extLst>
          </p:cNvPr>
          <p:cNvSpPr txBox="1"/>
          <p:nvPr/>
        </p:nvSpPr>
        <p:spPr>
          <a:xfrm>
            <a:off x="6088768" y="3136158"/>
            <a:ext cx="1297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/>
              </a:rPr>
              <a:t>LTV/CAC </a:t>
            </a:r>
            <a:r>
              <a:rPr lang="ru-RU" sz="1400" b="0" i="0" u="none" strike="noStrike">
                <a:solidFill>
                  <a:srgbClr val="000000"/>
                </a:solidFill>
                <a:effectLst/>
                <a:latin typeface="Arial"/>
              </a:rPr>
              <a:t>≥ </a:t>
            </a:r>
            <a:r>
              <a:rPr lang="ru-RU"/>
              <a:t>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726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BA7A3-9753-FC3A-0ABE-00B84D2D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14EE3800-CFFA-0011-551D-29F6EB6EDD85}"/>
              </a:ext>
            </a:extLst>
          </p:cNvPr>
          <p:cNvSpPr txBox="1">
            <a:spLocks/>
          </p:cNvSpPr>
          <p:nvPr/>
        </p:nvSpPr>
        <p:spPr>
          <a:xfrm>
            <a:off x="57665" y="1172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Быстрое повторение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7421A8CE-3979-5027-1D07-6035E83B455D}"/>
              </a:ext>
            </a:extLst>
          </p:cNvPr>
          <p:cNvSpPr txBox="1">
            <a:spLocks/>
          </p:cNvSpPr>
          <p:nvPr/>
        </p:nvSpPr>
        <p:spPr>
          <a:xfrm>
            <a:off x="88770" y="863550"/>
            <a:ext cx="8520600" cy="115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>
              <a:buClr>
                <a:schemeClr val="tx1"/>
              </a:buClr>
              <a:buSzPct val="80000"/>
            </a:pPr>
            <a:r>
              <a:rPr lang="ru-RU" sz="1600" b="1" dirty="0">
                <a:solidFill>
                  <a:schemeClr val="tx1"/>
                </a:solidFill>
              </a:rPr>
              <a:t>Цель</a:t>
            </a:r>
            <a:r>
              <a:rPr lang="ru-RU" sz="1600" dirty="0">
                <a:solidFill>
                  <a:schemeClr val="tx1"/>
                </a:solidFill>
              </a:rPr>
              <a:t> – </a:t>
            </a:r>
            <a:r>
              <a:rPr lang="ru-RU" sz="1600" strike="sngStrike" dirty="0">
                <a:solidFill>
                  <a:schemeClr val="tx1"/>
                </a:solidFill>
              </a:rPr>
              <a:t>привлечение</a:t>
            </a:r>
            <a:r>
              <a:rPr lang="ru-RU" sz="1600" dirty="0">
                <a:solidFill>
                  <a:schemeClr val="tx1"/>
                </a:solidFill>
              </a:rPr>
              <a:t> дешевое привлечение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Как достигать цель? — Для этого есть </a:t>
            </a:r>
            <a:r>
              <a:rPr lang="ru-RU" sz="1600" b="1" dirty="0">
                <a:solidFill>
                  <a:schemeClr val="tx1"/>
                </a:solidFill>
              </a:rPr>
              <a:t>стратегия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Важные моменты в стратегии: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Снижаем </a:t>
            </a:r>
            <a:r>
              <a:rPr lang="en" sz="1600" dirty="0">
                <a:solidFill>
                  <a:schemeClr val="tx1"/>
                </a:solidFill>
              </a:rPr>
              <a:t>CPO 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Следим за САС и </a:t>
            </a:r>
            <a:r>
              <a:rPr lang="en" sz="1600" dirty="0">
                <a:solidFill>
                  <a:schemeClr val="tx1"/>
                </a:solidFill>
              </a:rPr>
              <a:t>LTV</a:t>
            </a:r>
            <a:endParaRPr lang="ru-RU" sz="1600" dirty="0">
              <a:solidFill>
                <a:schemeClr val="tx1"/>
              </a:solidFill>
            </a:endParaRP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Ищем баланс между перфоманс- и бренд- маркетингом</a:t>
            </a:r>
            <a:endParaRPr lang="en" sz="1600" dirty="0">
              <a:solidFill>
                <a:schemeClr val="tx1"/>
              </a:solidFill>
            </a:endParaRPr>
          </a:p>
          <a:p>
            <a:pPr marL="0">
              <a:buClr>
                <a:schemeClr val="tx1"/>
              </a:buClr>
              <a:buSzPct val="80000"/>
            </a:pPr>
            <a:endParaRPr lang="en" sz="1600" dirty="0">
              <a:solidFill>
                <a:schemeClr val="tx1"/>
              </a:solidFill>
            </a:endParaRPr>
          </a:p>
          <a:p>
            <a:pPr marL="0">
              <a:buClr>
                <a:schemeClr val="tx1"/>
              </a:buClr>
              <a:buSzPct val="80000"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SzPct val="80000"/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BABC44-E91A-BEC8-DC25-AB5A6F52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096" y="2744568"/>
            <a:ext cx="4217808" cy="2281697"/>
          </a:xfrm>
          <a:prstGeom prst="roundRect">
            <a:avLst>
              <a:gd name="adj" fmla="val 7260"/>
            </a:avLst>
          </a:prstGeom>
        </p:spPr>
      </p:pic>
    </p:spTree>
    <p:extLst>
      <p:ext uri="{BB962C8B-B14F-4D97-AF65-F5344CB8AC3E}">
        <p14:creationId xmlns:p14="http://schemas.microsoft.com/office/powerpoint/2010/main" val="258952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41891DD-5E02-9062-CBFF-9DE983AF2BD7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74071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Инвестиции в бренд дают долгосрочный рост продаж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A932F30-61E8-5C6B-C927-DE1228144736}"/>
              </a:ext>
            </a:extLst>
          </p:cNvPr>
          <p:cNvCxnSpPr>
            <a:cxnSpLocks/>
          </p:cNvCxnSpPr>
          <p:nvPr/>
        </p:nvCxnSpPr>
        <p:spPr>
          <a:xfrm flipH="1">
            <a:off x="594930" y="4668272"/>
            <a:ext cx="7268231" cy="0"/>
          </a:xfrm>
          <a:prstGeom prst="line">
            <a:avLst/>
          </a:prstGeom>
          <a:ln w="19050" cap="rnd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878310-D9E9-93AE-9877-64391A9E0EEE}"/>
              </a:ext>
            </a:extLst>
          </p:cNvPr>
          <p:cNvSpPr txBox="1"/>
          <p:nvPr/>
        </p:nvSpPr>
        <p:spPr>
          <a:xfrm rot="16200000">
            <a:off x="-1027137" y="2868848"/>
            <a:ext cx="271166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b="1" dirty="0"/>
              <a:t>Рост продаж по сравнению с базовыми показателями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7A632-25F9-04D4-7AE0-5F3D9FEF88A7}"/>
              </a:ext>
            </a:extLst>
          </p:cNvPr>
          <p:cNvSpPr txBox="1"/>
          <p:nvPr/>
        </p:nvSpPr>
        <p:spPr>
          <a:xfrm>
            <a:off x="3134959" y="4182643"/>
            <a:ext cx="271166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b="1" dirty="0"/>
              <a:t>Преобладают краткосрочные эффекты (около шести месяцев)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98CCD-DABF-D3D1-9E16-12992D88FA52}"/>
              </a:ext>
            </a:extLst>
          </p:cNvPr>
          <p:cNvSpPr txBox="1"/>
          <p:nvPr/>
        </p:nvSpPr>
        <p:spPr>
          <a:xfrm>
            <a:off x="572592" y="4729182"/>
            <a:ext cx="271166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b="1" dirty="0"/>
              <a:t>Время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04106-FB6C-C22D-D93E-A6E87747DF78}"/>
              </a:ext>
            </a:extLst>
          </p:cNvPr>
          <p:cNvSpPr txBox="1"/>
          <p:nvPr/>
        </p:nvSpPr>
        <p:spPr>
          <a:xfrm>
            <a:off x="7863161" y="4562982"/>
            <a:ext cx="120365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b="1" dirty="0"/>
              <a:t>Стадия роста бизнеса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639F5D-9335-5A13-BE20-94466A4B7FBE}"/>
              </a:ext>
            </a:extLst>
          </p:cNvPr>
          <p:cNvSpPr txBox="1"/>
          <p:nvPr/>
        </p:nvSpPr>
        <p:spPr>
          <a:xfrm>
            <a:off x="712519" y="1841936"/>
            <a:ext cx="271166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b="1" dirty="0"/>
              <a:t>Активизация продаж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8CBE-6C03-3C19-C9CB-EF1A94395A60}"/>
              </a:ext>
            </a:extLst>
          </p:cNvPr>
          <p:cNvSpPr txBox="1"/>
          <p:nvPr/>
        </p:nvSpPr>
        <p:spPr>
          <a:xfrm>
            <a:off x="4120610" y="1605697"/>
            <a:ext cx="271166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b="1" dirty="0"/>
              <a:t>Создание бренда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CA3497-BC01-0207-DE28-66D457271F10}"/>
              </a:ext>
            </a:extLst>
          </p:cNvPr>
          <p:cNvSpPr txBox="1"/>
          <p:nvPr/>
        </p:nvSpPr>
        <p:spPr>
          <a:xfrm>
            <a:off x="712519" y="2043818"/>
            <a:ext cx="271166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dirty="0"/>
              <a:t>Краткосрочный рост продаж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391171-B2AC-3469-8348-DD63AC949DDD}"/>
              </a:ext>
            </a:extLst>
          </p:cNvPr>
          <p:cNvSpPr txBox="1"/>
          <p:nvPr/>
        </p:nvSpPr>
        <p:spPr>
          <a:xfrm>
            <a:off x="4132485" y="1807579"/>
            <a:ext cx="271166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200" dirty="0"/>
              <a:t>Долгосрочный рост продаж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2B424F7-19B4-49A2-615B-C785C62CBD9E}"/>
              </a:ext>
            </a:extLst>
          </p:cNvPr>
          <p:cNvCxnSpPr>
            <a:cxnSpLocks/>
          </p:cNvCxnSpPr>
          <p:nvPr/>
        </p:nvCxnSpPr>
        <p:spPr>
          <a:xfrm flipH="1">
            <a:off x="712519" y="4407015"/>
            <a:ext cx="2422440" cy="0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155FA6A-263F-6AC2-94D5-4C9CEA915DA2}"/>
              </a:ext>
            </a:extLst>
          </p:cNvPr>
          <p:cNvCxnSpPr>
            <a:cxnSpLocks/>
          </p:cNvCxnSpPr>
          <p:nvPr/>
        </p:nvCxnSpPr>
        <p:spPr>
          <a:xfrm flipV="1">
            <a:off x="2057640" y="2290718"/>
            <a:ext cx="0" cy="514565"/>
          </a:xfrm>
          <a:prstGeom prst="line">
            <a:avLst/>
          </a:prstGeom>
          <a:ln w="19050" cap="rnd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B2D1062-88A0-3754-EDDF-26E7ECF8F4E3}"/>
              </a:ext>
            </a:extLst>
          </p:cNvPr>
          <p:cNvCxnSpPr>
            <a:cxnSpLocks/>
          </p:cNvCxnSpPr>
          <p:nvPr/>
        </p:nvCxnSpPr>
        <p:spPr>
          <a:xfrm flipV="1">
            <a:off x="5477606" y="2054479"/>
            <a:ext cx="0" cy="514565"/>
          </a:xfrm>
          <a:prstGeom prst="line">
            <a:avLst/>
          </a:prstGeom>
          <a:ln w="19050" cap="rnd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FFA79104-2D07-DB16-F86A-1D1F2988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6" y="2830300"/>
            <a:ext cx="7347202" cy="1360360"/>
          </a:xfrm>
          <a:prstGeom prst="rect">
            <a:avLst/>
          </a:prstGeom>
        </p:spPr>
      </p:pic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141356AF-6358-047A-18AD-90C9C1831214}"/>
              </a:ext>
            </a:extLst>
          </p:cNvPr>
          <p:cNvGrpSpPr/>
          <p:nvPr/>
        </p:nvGrpSpPr>
        <p:grpSpPr>
          <a:xfrm>
            <a:off x="594930" y="1959232"/>
            <a:ext cx="7444664" cy="2204665"/>
            <a:chOff x="594930" y="1543194"/>
            <a:chExt cx="7444664" cy="2346711"/>
          </a:xfrm>
        </p:grpSpPr>
        <p:cxnSp>
          <p:nvCxnSpPr>
            <p:cNvPr id="37" name="Соединительная линия уступом 36">
              <a:extLst>
                <a:ext uri="{FF2B5EF4-FFF2-40B4-BE49-F238E27FC236}">
                  <a16:creationId xmlns:a16="http://schemas.microsoft.com/office/drawing/2014/main" id="{34537B00-AAD6-0EBF-275B-CC2FD18CE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930" y="3630949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Соединительная линия уступом 42">
              <a:extLst>
                <a:ext uri="{FF2B5EF4-FFF2-40B4-BE49-F238E27FC236}">
                  <a16:creationId xmlns:a16="http://schemas.microsoft.com/office/drawing/2014/main" id="{142631C7-EC98-339B-C2E2-E399350C8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3075" y="3369692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Соединительная линия уступом 43">
              <a:extLst>
                <a:ext uri="{FF2B5EF4-FFF2-40B4-BE49-F238E27FC236}">
                  <a16:creationId xmlns:a16="http://schemas.microsoft.com/office/drawing/2014/main" id="{D850E4A0-9E6D-F618-5E9F-039B8B29F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9345" y="3110736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Соединительная линия уступом 44">
              <a:extLst>
                <a:ext uri="{FF2B5EF4-FFF2-40B4-BE49-F238E27FC236}">
                  <a16:creationId xmlns:a16="http://schemas.microsoft.com/office/drawing/2014/main" id="{BE19BDDF-0828-7790-2C4E-666F2040C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7490" y="2849479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Соединительная линия уступом 45">
              <a:extLst>
                <a:ext uri="{FF2B5EF4-FFF2-40B4-BE49-F238E27FC236}">
                  <a16:creationId xmlns:a16="http://schemas.microsoft.com/office/drawing/2014/main" id="{43BD0B68-5BA4-D83A-EF75-024F20554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3760" y="2588222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Соединительная линия уступом 46">
              <a:extLst>
                <a:ext uri="{FF2B5EF4-FFF2-40B4-BE49-F238E27FC236}">
                  <a16:creationId xmlns:a16="http://schemas.microsoft.com/office/drawing/2014/main" id="{94D18CA3-50F2-9289-3536-E10EFC50A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1905" y="2326965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Соединительная линия уступом 47">
              <a:extLst>
                <a:ext uri="{FF2B5EF4-FFF2-40B4-BE49-F238E27FC236}">
                  <a16:creationId xmlns:a16="http://schemas.microsoft.com/office/drawing/2014/main" id="{E6D41569-050A-7AD5-6913-E5541E4FF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1926" y="2065708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Соединительная линия уступом 48">
              <a:extLst>
                <a:ext uri="{FF2B5EF4-FFF2-40B4-BE49-F238E27FC236}">
                  <a16:creationId xmlns:a16="http://schemas.microsoft.com/office/drawing/2014/main" id="{AF021451-1A4F-191E-7A47-59516077B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0071" y="1804451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Соединительная линия уступом 49">
              <a:extLst>
                <a:ext uri="{FF2B5EF4-FFF2-40B4-BE49-F238E27FC236}">
                  <a16:creationId xmlns:a16="http://schemas.microsoft.com/office/drawing/2014/main" id="{B49833CD-FE79-6CDD-9045-AAFE58857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6342" y="1543194"/>
              <a:ext cx="1483252" cy="258956"/>
            </a:xfrm>
            <a:prstGeom prst="bentConnector3">
              <a:avLst/>
            </a:prstGeom>
            <a:ln w="63500" cap="rnd">
              <a:solidFill>
                <a:srgbClr val="B8FF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BA9E2DC-96DD-3D97-4F44-E6388FCC8CBB}"/>
              </a:ext>
            </a:extLst>
          </p:cNvPr>
          <p:cNvCxnSpPr>
            <a:cxnSpLocks/>
          </p:cNvCxnSpPr>
          <p:nvPr/>
        </p:nvCxnSpPr>
        <p:spPr>
          <a:xfrm>
            <a:off x="594930" y="1394234"/>
            <a:ext cx="0" cy="3274038"/>
          </a:xfrm>
          <a:prstGeom prst="line">
            <a:avLst/>
          </a:prstGeom>
          <a:ln w="19050" cap="rnd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31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96AF5-D1DD-FC90-1300-5465569E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594BA9F3-CC38-3E68-7044-9999E1DD0E51}"/>
              </a:ext>
            </a:extLst>
          </p:cNvPr>
          <p:cNvSpPr txBox="1">
            <a:spLocks/>
          </p:cNvSpPr>
          <p:nvPr/>
        </p:nvSpPr>
        <p:spPr>
          <a:xfrm>
            <a:off x="57665" y="1172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Быстрое повторение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CE9CA3F7-7239-14C6-AF72-76644C0EBFCD}"/>
              </a:ext>
            </a:extLst>
          </p:cNvPr>
          <p:cNvSpPr txBox="1">
            <a:spLocks/>
          </p:cNvSpPr>
          <p:nvPr/>
        </p:nvSpPr>
        <p:spPr>
          <a:xfrm>
            <a:off x="88770" y="863550"/>
            <a:ext cx="8520600" cy="1543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>
              <a:buClr>
                <a:schemeClr val="tx1"/>
              </a:buClr>
              <a:buSzPct val="80000"/>
            </a:pPr>
            <a:r>
              <a:rPr lang="ru-RU" sz="1600" b="1" dirty="0">
                <a:solidFill>
                  <a:schemeClr val="tx1"/>
                </a:solidFill>
              </a:rPr>
              <a:t>Цель</a:t>
            </a:r>
            <a:r>
              <a:rPr lang="ru-RU" sz="1600" dirty="0">
                <a:solidFill>
                  <a:schemeClr val="tx1"/>
                </a:solidFill>
              </a:rPr>
              <a:t> – </a:t>
            </a:r>
            <a:r>
              <a:rPr lang="ru-RU" sz="1600" strike="sngStrike" dirty="0">
                <a:solidFill>
                  <a:schemeClr val="tx1"/>
                </a:solidFill>
              </a:rPr>
              <a:t>привлечение</a:t>
            </a:r>
            <a:r>
              <a:rPr lang="ru-RU" sz="1600" dirty="0">
                <a:solidFill>
                  <a:schemeClr val="tx1"/>
                </a:solidFill>
              </a:rPr>
              <a:t> дешевое привлечение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Как достигать цель? — Для этого есть </a:t>
            </a:r>
            <a:r>
              <a:rPr lang="ru-RU" sz="1600" b="1" dirty="0">
                <a:solidFill>
                  <a:schemeClr val="tx1"/>
                </a:solidFill>
              </a:rPr>
              <a:t>стратегия</a:t>
            </a:r>
          </a:p>
          <a:p>
            <a:pPr marL="0">
              <a:buClr>
                <a:schemeClr val="tx1"/>
              </a:buClr>
              <a:buSzPct val="80000"/>
            </a:pPr>
            <a:r>
              <a:rPr lang="ru-RU" sz="1600" dirty="0">
                <a:solidFill>
                  <a:schemeClr val="tx1"/>
                </a:solidFill>
              </a:rPr>
              <a:t>Важные моменты в стратегии: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Снижаем </a:t>
            </a:r>
            <a:r>
              <a:rPr lang="en" sz="1600" dirty="0">
                <a:solidFill>
                  <a:schemeClr val="tx1"/>
                </a:solidFill>
              </a:rPr>
              <a:t>CPO 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Следим за САС и </a:t>
            </a:r>
            <a:r>
              <a:rPr lang="en" sz="1600" dirty="0">
                <a:solidFill>
                  <a:schemeClr val="tx1"/>
                </a:solidFill>
              </a:rPr>
              <a:t>LTV</a:t>
            </a:r>
            <a:endParaRPr lang="ru-RU" sz="1600" dirty="0">
              <a:solidFill>
                <a:schemeClr val="tx1"/>
              </a:solidFill>
            </a:endParaRP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Ищем баланс между перфоманс- и бренд- маркетингом</a:t>
            </a:r>
          </a:p>
          <a:p>
            <a:pPr marL="6840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Стратегия должна эволюционировать</a:t>
            </a:r>
            <a:endParaRPr lang="en" sz="1600" dirty="0">
              <a:solidFill>
                <a:schemeClr val="tx1"/>
              </a:solidFill>
            </a:endParaRPr>
          </a:p>
          <a:p>
            <a:pPr marL="0">
              <a:buClr>
                <a:schemeClr val="tx1"/>
              </a:buClr>
              <a:buSzPct val="80000"/>
            </a:pPr>
            <a:endParaRPr lang="en" sz="1600" dirty="0">
              <a:solidFill>
                <a:schemeClr val="tx1"/>
              </a:solidFill>
            </a:endParaRPr>
          </a:p>
          <a:p>
            <a:pPr marL="0">
              <a:buClr>
                <a:schemeClr val="tx1"/>
              </a:buClr>
              <a:buSzPct val="80000"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SzPct val="80000"/>
              <a:buNone/>
            </a:pPr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3" name="Picture 2" descr="https://leonardo.osnova.io/4a25becf-5192-527e-8a30-e5e8c1df6920/-/preview/900x/">
            <a:extLst>
              <a:ext uri="{FF2B5EF4-FFF2-40B4-BE49-F238E27FC236}">
                <a16:creationId xmlns:a16="http://schemas.microsoft.com/office/drawing/2014/main" id="{2B3806DB-89C1-087C-AF37-277A3D75D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27" y="3005069"/>
            <a:ext cx="2731346" cy="2021196"/>
          </a:xfrm>
          <a:prstGeom prst="roundRect">
            <a:avLst>
              <a:gd name="adj" fmla="val 605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04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16B4BCB-6983-7927-2048-2BCA66C9B953}"/>
              </a:ext>
            </a:extLst>
          </p:cNvPr>
          <p:cNvSpPr/>
          <p:nvPr/>
        </p:nvSpPr>
        <p:spPr>
          <a:xfrm>
            <a:off x="1949834" y="2622481"/>
            <a:ext cx="1003611" cy="1003611"/>
          </a:xfrm>
          <a:prstGeom prst="roundRect">
            <a:avLst>
              <a:gd name="adj" fmla="val 12369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2EE68-785A-E2A3-3AFA-6DC876BBBBEA}"/>
              </a:ext>
            </a:extLst>
          </p:cNvPr>
          <p:cNvSpPr txBox="1"/>
          <p:nvPr/>
        </p:nvSpPr>
        <p:spPr>
          <a:xfrm>
            <a:off x="4378422" y="1897719"/>
            <a:ext cx="2668859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Вести бизнес без реклам — всё равно, что подмигивать девушке в полной темноте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A9B91-700B-BDF1-1574-242374AC185F}"/>
              </a:ext>
            </a:extLst>
          </p:cNvPr>
          <p:cNvSpPr txBox="1"/>
          <p:nvPr/>
        </p:nvSpPr>
        <p:spPr>
          <a:xfrm>
            <a:off x="4636291" y="2662622"/>
            <a:ext cx="2151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i="1" dirty="0">
                <a:latin typeface="Arial" panose="020B0604020202020204" pitchFamily="34" charset="0"/>
                <a:cs typeface="Arial" panose="020B0604020202020204" pitchFamily="34" charset="0"/>
              </a:rPr>
              <a:t>Стюарт Хендерсон Бритт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DBB6D8-A497-9FF4-C769-217667D5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05" y="1661677"/>
            <a:ext cx="1674365" cy="1674365"/>
          </a:xfrm>
          <a:prstGeom prst="roundRect">
            <a:avLst>
              <a:gd name="adj" fmla="val 7281"/>
            </a:avLst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1A196B-36D6-FD3B-B3F6-404158EC5C0D}"/>
              </a:ext>
            </a:extLst>
          </p:cNvPr>
          <p:cNvSpPr txBox="1"/>
          <p:nvPr/>
        </p:nvSpPr>
        <p:spPr>
          <a:xfrm>
            <a:off x="3685186" y="1236000"/>
            <a:ext cx="5910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0" b="0" i="0" u="none" strike="noStrike" cap="none" normalizeH="0" baseline="0" dirty="0">
                <a:ln>
                  <a:noFill/>
                </a:ln>
                <a:solidFill>
                  <a:srgbClr val="B8FF57"/>
                </a:solidFill>
                <a:effectLst/>
                <a:latin typeface="+mn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26198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0F784960-165F-EEE5-156E-BF2386CE28AD}"/>
              </a:ext>
            </a:extLst>
          </p:cNvPr>
          <p:cNvSpPr txBox="1">
            <a:spLocks/>
          </p:cNvSpPr>
          <p:nvPr/>
        </p:nvSpPr>
        <p:spPr>
          <a:xfrm>
            <a:off x="65987" y="242734"/>
            <a:ext cx="6930035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bg1"/>
                </a:solidFill>
              </a:rPr>
              <a:t>Как будем привлекать аудиторию?</a:t>
            </a:r>
            <a:endParaRPr lang="ru-RU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E0A95B-C2C5-0318-4096-4D4C9ED3A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849" y="140332"/>
            <a:ext cx="958764" cy="27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6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955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88" y="231775"/>
            <a:ext cx="5932079" cy="3403160"/>
          </a:xfrm>
          <a:prstGeom prst="roundRect">
            <a:avLst>
              <a:gd name="adj" fmla="val 3862"/>
            </a:avLst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442" y="1773484"/>
            <a:ext cx="5607170" cy="3066804"/>
          </a:xfrm>
          <a:prstGeom prst="roundRect">
            <a:avLst>
              <a:gd name="adj" fmla="val 4088"/>
            </a:avLst>
          </a:prstGeom>
        </p:spPr>
      </p:pic>
    </p:spTree>
    <p:extLst>
      <p:ext uri="{BB962C8B-B14F-4D97-AF65-F5344CB8AC3E}">
        <p14:creationId xmlns:p14="http://schemas.microsoft.com/office/powerpoint/2010/main" val="1576311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t="15286"/>
          <a:stretch>
            <a:fillRect/>
          </a:stretch>
        </p:blipFill>
        <p:spPr>
          <a:xfrm>
            <a:off x="179388" y="229279"/>
            <a:ext cx="5048220" cy="2918554"/>
          </a:xfrm>
          <a:prstGeom prst="roundRect">
            <a:avLst>
              <a:gd name="adj" fmla="val 6387"/>
            </a:avLst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2091" r="6673" b="10390"/>
          <a:stretch>
            <a:fillRect/>
          </a:stretch>
        </p:blipFill>
        <p:spPr>
          <a:xfrm>
            <a:off x="3850481" y="2286000"/>
            <a:ext cx="5114131" cy="2554288"/>
          </a:xfrm>
          <a:prstGeom prst="roundRect">
            <a:avLst>
              <a:gd name="adj" fmla="val 5917"/>
            </a:avLst>
          </a:prstGeom>
        </p:spPr>
      </p:pic>
    </p:spTree>
    <p:extLst>
      <p:ext uri="{BB962C8B-B14F-4D97-AF65-F5344CB8AC3E}">
        <p14:creationId xmlns:p14="http://schemas.microsoft.com/office/powerpoint/2010/main" val="150340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2051" y="-12700"/>
            <a:ext cx="10751061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7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081" y="-728402"/>
            <a:ext cx="9240163" cy="606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4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D382A-D817-AEF1-984B-2D97FD1A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Волшебное слово: как и зачем компаниям использовать промокоды | Biz360.ru">
            <a:extLst>
              <a:ext uri="{FF2B5EF4-FFF2-40B4-BE49-F238E27FC236}">
                <a16:creationId xmlns:a16="http://schemas.microsoft.com/office/drawing/2014/main" id="{56AA5271-C381-266E-392A-1086565A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620" y="1397122"/>
            <a:ext cx="3881380" cy="2349256"/>
          </a:xfrm>
          <a:prstGeom prst="rect">
            <a:avLst/>
          </a:prstGeom>
        </p:spPr>
      </p:pic>
      <p:pic>
        <p:nvPicPr>
          <p:cNvPr id="5" name="Рисунок 4" descr="Промокоды Пятерочка — Октябрь 2024! На первый и повторный заказ! Самая  лучшая доставка! | Сообщество «Скидки, акции, кодовые слова, купоны,  промокоды» | Для мам">
            <a:extLst>
              <a:ext uri="{FF2B5EF4-FFF2-40B4-BE49-F238E27FC236}">
                <a16:creationId xmlns:a16="http://schemas.microsoft.com/office/drawing/2014/main" id="{7C347E31-6685-66E2-CEA7-200FB058C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425"/>
            <a:ext cx="5320267" cy="299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1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D18E6-3F79-0950-93F7-C6608701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74FD5-2F06-30A0-A2BE-DA15C69C9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0E5AED-3257-98E5-594A-8EA501F67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49338" cy="39910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648598-0BC1-88FD-7105-00BB3C0B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327149"/>
            <a:ext cx="4572000" cy="28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0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88" y="13467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измерить?</a:t>
            </a:r>
          </a:p>
        </p:txBody>
      </p:sp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B6A90B9B-4494-B3A1-0D0C-86358D92325E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Эффективность определенного канала </a:t>
            </a:r>
          </a:p>
        </p:txBody>
      </p:sp>
    </p:spTree>
    <p:extLst>
      <p:ext uri="{BB962C8B-B14F-4D97-AF65-F5344CB8AC3E}">
        <p14:creationId xmlns:p14="http://schemas.microsoft.com/office/powerpoint/2010/main" val="11657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FD6E7ED-1A0A-8FAD-CA1E-2B6AEFDE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8" y="13467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измерить?</a:t>
            </a: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6EEEAAB5-0E84-6B8F-2423-1820B582DEC2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Эффективность определенного канала 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D854C76-217A-946E-9659-5F90A6EE409D}"/>
              </a:ext>
            </a:extLst>
          </p:cNvPr>
          <p:cNvSpPr/>
          <p:nvPr/>
        </p:nvSpPr>
        <p:spPr>
          <a:xfrm>
            <a:off x="179387" y="2057400"/>
            <a:ext cx="1983236" cy="2782888"/>
          </a:xfrm>
          <a:prstGeom prst="roundRect">
            <a:avLst>
              <a:gd name="adj" fmla="val 1026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CPO</a:t>
            </a:r>
            <a:r>
              <a:rPr lang="en-US" dirty="0">
                <a:solidFill>
                  <a:schemeClr val="bg1"/>
                </a:solidFill>
              </a:rPr>
              <a:t> (cost per order) </a:t>
            </a:r>
            <a:endParaRPr lang="ru-RU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bg1"/>
                </a:solidFill>
              </a:rPr>
              <a:t>стоимость привлечения заказа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D1A3CBA-F2EF-09C8-E216-1DD24D2C6435}"/>
              </a:ext>
            </a:extLst>
          </p:cNvPr>
          <p:cNvSpPr/>
          <p:nvPr/>
        </p:nvSpPr>
        <p:spPr>
          <a:xfrm>
            <a:off x="2447314" y="2057400"/>
            <a:ext cx="1983236" cy="2782888"/>
          </a:xfrm>
          <a:prstGeom prst="roundRect">
            <a:avLst>
              <a:gd name="adj" fmla="val 9623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1"/>
                </a:solidFill>
              </a:rPr>
              <a:t>CAC</a:t>
            </a:r>
            <a:r>
              <a:rPr lang="en-US" dirty="0">
                <a:solidFill>
                  <a:schemeClr val="tx1"/>
                </a:solidFill>
              </a:rPr>
              <a:t> (customer </a:t>
            </a:r>
            <a:r>
              <a:rPr lang="en-US" dirty="0">
                <a:solidFill>
                  <a:schemeClr val="tx1"/>
                </a:solidFill>
                <a:sym typeface="Roboto"/>
              </a:rPr>
              <a:t>acquisition cost)</a:t>
            </a:r>
            <a:endParaRPr lang="ru-RU" dirty="0">
              <a:solidFill>
                <a:schemeClr val="tx1"/>
              </a:solidFill>
              <a:sym typeface="Roboto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tx1"/>
                </a:solidFill>
                <a:sym typeface="Roboto"/>
              </a:rPr>
              <a:t>стоимость привлечения клиента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dirty="0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950CA44-F623-1CE0-6B46-CDED353A75E8}"/>
              </a:ext>
            </a:extLst>
          </p:cNvPr>
          <p:cNvSpPr/>
          <p:nvPr/>
        </p:nvSpPr>
        <p:spPr>
          <a:xfrm>
            <a:off x="4715240" y="2057400"/>
            <a:ext cx="1983236" cy="2782888"/>
          </a:xfrm>
          <a:prstGeom prst="roundRect">
            <a:avLst>
              <a:gd name="adj" fmla="val 8983"/>
            </a:avLst>
          </a:prstGeom>
          <a:solidFill>
            <a:srgbClr val="B4F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1"/>
                </a:solidFill>
              </a:rPr>
              <a:t>ROI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sym typeface="Roboto"/>
              </a:rPr>
              <a:t>return on investment)</a:t>
            </a:r>
            <a:endParaRPr lang="ru-RU" dirty="0">
              <a:solidFill>
                <a:schemeClr val="tx1"/>
              </a:solidFill>
              <a:sym typeface="Roboto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sym typeface="Roboto"/>
              </a:rPr>
              <a:t>100%*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ru-RU" sz="1200" dirty="0">
                <a:solidFill>
                  <a:schemeClr val="tx1"/>
                </a:solidFill>
              </a:rPr>
              <a:t>доход – затраты) / затраты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dirty="0"/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EB3CEDB2-9176-ED64-7467-47C5694D4212}"/>
              </a:ext>
            </a:extLst>
          </p:cNvPr>
          <p:cNvSpPr/>
          <p:nvPr/>
        </p:nvSpPr>
        <p:spPr>
          <a:xfrm>
            <a:off x="6983166" y="2057400"/>
            <a:ext cx="1983236" cy="2782888"/>
          </a:xfrm>
          <a:prstGeom prst="roundRect">
            <a:avLst>
              <a:gd name="adj" fmla="val 962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1"/>
                </a:solidFill>
                <a:sym typeface="Roboto"/>
              </a:rPr>
              <a:t>CR </a:t>
            </a:r>
            <a:r>
              <a:rPr lang="en-US" dirty="0">
                <a:solidFill>
                  <a:schemeClr val="tx1"/>
                </a:solidFill>
                <a:sym typeface="Roboto"/>
              </a:rPr>
              <a:t>(conversion rate)</a:t>
            </a:r>
            <a:endParaRPr lang="ru-RU" dirty="0">
              <a:solidFill>
                <a:schemeClr val="tx1"/>
              </a:solidFill>
              <a:sym typeface="Roboto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tx1"/>
                </a:solidFill>
                <a:sym typeface="Roboto"/>
              </a:rPr>
              <a:t>заказы / трафик</a:t>
            </a:r>
          </a:p>
        </p:txBody>
      </p:sp>
    </p:spTree>
    <p:extLst>
      <p:ext uri="{BB962C8B-B14F-4D97-AF65-F5344CB8AC3E}">
        <p14:creationId xmlns:p14="http://schemas.microsoft.com/office/powerpoint/2010/main" val="3730490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t="10880" r="36260"/>
          <a:stretch>
            <a:fillRect/>
          </a:stretch>
        </p:blipFill>
        <p:spPr>
          <a:xfrm>
            <a:off x="179389" y="2002759"/>
            <a:ext cx="3263608" cy="290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964" y="1968361"/>
            <a:ext cx="5328070" cy="2971939"/>
          </a:xfrm>
          <a:prstGeom prst="rect">
            <a:avLst/>
          </a:prstGeom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FBC4CC79-5113-4A61-3AA3-CA412E76A77E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Собираем аналитику по каналам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2A8A0-EF82-2C31-E7CD-A406F0D0A1F1}"/>
              </a:ext>
            </a:extLst>
          </p:cNvPr>
          <p:cNvSpPr txBox="1"/>
          <p:nvPr/>
        </p:nvSpPr>
        <p:spPr>
          <a:xfrm>
            <a:off x="95765" y="158302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Визиты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4D967-E381-6C7C-0AA1-E26384FD4B80}"/>
              </a:ext>
            </a:extLst>
          </p:cNvPr>
          <p:cNvSpPr txBox="1"/>
          <p:nvPr/>
        </p:nvSpPr>
        <p:spPr>
          <a:xfrm>
            <a:off x="3255364" y="1583024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Заказы</a:t>
            </a:r>
          </a:p>
        </p:txBody>
      </p:sp>
    </p:spTree>
    <p:extLst>
      <p:ext uri="{BB962C8B-B14F-4D97-AF65-F5344CB8AC3E}">
        <p14:creationId xmlns:p14="http://schemas.microsoft.com/office/powerpoint/2010/main" val="786338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3" r="1277"/>
          <a:stretch/>
        </p:blipFill>
        <p:spPr bwMode="auto">
          <a:xfrm>
            <a:off x="2485569" y="947652"/>
            <a:ext cx="4172862" cy="3884324"/>
          </a:xfrm>
          <a:prstGeom prst="roundRect">
            <a:avLst>
              <a:gd name="adj" fmla="val 425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97426" y="2456134"/>
            <a:ext cx="930560" cy="340519"/>
          </a:xfrm>
          <a:prstGeom prst="roundRect">
            <a:avLst>
              <a:gd name="adj" fmla="val 16667"/>
            </a:avLst>
          </a:prstGeom>
          <a:solidFill>
            <a:srgbClr val="DCFF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5456" y="2456135"/>
            <a:ext cx="1151732" cy="340519"/>
          </a:xfrm>
          <a:prstGeom prst="roundRect">
            <a:avLst/>
          </a:prstGeom>
          <a:solidFill>
            <a:srgbClr val="DCFF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Маркетинг</a:t>
            </a:r>
          </a:p>
        </p:txBody>
      </p:sp>
      <p:sp>
        <p:nvSpPr>
          <p:cNvPr id="6" name="Google Shape;60;p14">
            <a:extLst>
              <a:ext uri="{FF2B5EF4-FFF2-40B4-BE49-F238E27FC236}">
                <a16:creationId xmlns:a16="http://schemas.microsoft.com/office/drawing/2014/main" id="{E1B8C538-4170-B170-665A-3E8E2717422E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Как не надо…</a:t>
            </a:r>
          </a:p>
        </p:txBody>
      </p:sp>
    </p:spTree>
    <p:extLst>
      <p:ext uri="{BB962C8B-B14F-4D97-AF65-F5344CB8AC3E}">
        <p14:creationId xmlns:p14="http://schemas.microsoft.com/office/powerpoint/2010/main" val="1953881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" t="1395" r="635" b="1693"/>
          <a:stretch>
            <a:fillRect/>
          </a:stretch>
        </p:blipFill>
        <p:spPr bwMode="auto">
          <a:xfrm>
            <a:off x="1067571" y="950913"/>
            <a:ext cx="7015838" cy="3877740"/>
          </a:xfrm>
          <a:prstGeom prst="roundRect">
            <a:avLst>
              <a:gd name="adj" fmla="val 461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80554" y="3623094"/>
            <a:ext cx="1052423" cy="340519"/>
          </a:xfrm>
          <a:prstGeom prst="roundRect">
            <a:avLst/>
          </a:prstGeom>
          <a:solidFill>
            <a:srgbClr val="DCFF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7104" y="3623094"/>
            <a:ext cx="1292019" cy="340519"/>
          </a:xfrm>
          <a:prstGeom prst="roundRect">
            <a:avLst/>
          </a:prstGeom>
          <a:solidFill>
            <a:srgbClr val="DCFF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Маркетинг</a:t>
            </a:r>
          </a:p>
        </p:txBody>
      </p:sp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3195FE10-1318-C168-9A7D-C9DA31BA4F48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0795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Как надо…</a:t>
            </a:r>
          </a:p>
        </p:txBody>
      </p:sp>
    </p:spTree>
    <p:extLst>
      <p:ext uri="{BB962C8B-B14F-4D97-AF65-F5344CB8AC3E}">
        <p14:creationId xmlns:p14="http://schemas.microsoft.com/office/powerpoint/2010/main" val="2715436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3433EE2E-901D-B9DD-B875-0E34338A78EC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67338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Что добавим к аналитике каналов привлечения?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5D6A7-4E7A-16EC-66D7-69CBF33338E5}"/>
              </a:ext>
            </a:extLst>
          </p:cNvPr>
          <p:cNvSpPr txBox="1"/>
          <p:nvPr/>
        </p:nvSpPr>
        <p:spPr>
          <a:xfrm>
            <a:off x="86263" y="1560275"/>
            <a:ext cx="85059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Надо работать в команде с продуктом </a:t>
            </a:r>
            <a:r>
              <a:rPr lang="ru-RU" sz="1600" dirty="0"/>
              <a:t>— теперь вы и продуктовый аналитик)))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916BA0A-2C26-DC08-53A1-3A019EEF157F}"/>
              </a:ext>
            </a:extLst>
          </p:cNvPr>
          <p:cNvSpPr/>
          <p:nvPr/>
        </p:nvSpPr>
        <p:spPr>
          <a:xfrm>
            <a:off x="179387" y="2077105"/>
            <a:ext cx="4318675" cy="923790"/>
          </a:xfrm>
          <a:prstGeom prst="roundRect">
            <a:avLst/>
          </a:prstGeom>
          <a:solidFill>
            <a:srgbClr val="B4F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Как привлекать </a:t>
            </a:r>
            <a:r>
              <a:rPr lang="ru-RU" dirty="0">
                <a:solidFill>
                  <a:schemeClr val="tx1"/>
                </a:solidFill>
              </a:rPr>
              <a:t>= Канал + коммуникация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F308F66-3933-3680-5CFE-6859FCE0D8F4}"/>
              </a:ext>
            </a:extLst>
          </p:cNvPr>
          <p:cNvSpPr/>
          <p:nvPr/>
        </p:nvSpPr>
        <p:spPr>
          <a:xfrm>
            <a:off x="4645937" y="2077105"/>
            <a:ext cx="4318675" cy="923790"/>
          </a:xfrm>
          <a:prstGeom prst="round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Важно и как привлекать, </a:t>
            </a:r>
            <a:r>
              <a:rPr lang="ru-RU" b="1" dirty="0">
                <a:solidFill>
                  <a:schemeClr val="tx1"/>
                </a:solidFill>
              </a:rPr>
              <a:t>и кого привлекать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407264-B834-FD90-CEA1-723E8FF5C15F}"/>
              </a:ext>
            </a:extLst>
          </p:cNvPr>
          <p:cNvSpPr txBox="1"/>
          <p:nvPr/>
        </p:nvSpPr>
        <p:spPr>
          <a:xfrm>
            <a:off x="2147557" y="4036144"/>
            <a:ext cx="1277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Источник</a:t>
            </a:r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6B9BB-6D56-1499-4F5E-09C82C52AEBA}"/>
              </a:ext>
            </a:extLst>
          </p:cNvPr>
          <p:cNvSpPr txBox="1"/>
          <p:nvPr/>
        </p:nvSpPr>
        <p:spPr>
          <a:xfrm>
            <a:off x="5422771" y="4036144"/>
            <a:ext cx="1573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Получатель</a:t>
            </a:r>
            <a:endParaRPr lang="ru-RU" sz="1600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433BCE4-0064-7370-3822-3425ACA00FF9}"/>
              </a:ext>
            </a:extLst>
          </p:cNvPr>
          <p:cNvCxnSpPr>
            <a:cxnSpLocks/>
          </p:cNvCxnSpPr>
          <p:nvPr/>
        </p:nvCxnSpPr>
        <p:spPr>
          <a:xfrm>
            <a:off x="3613780" y="4228091"/>
            <a:ext cx="1631289" cy="0"/>
          </a:xfrm>
          <a:prstGeom prst="line">
            <a:avLst/>
          </a:prstGeom>
          <a:ln w="19050" cap="rnd">
            <a:solidFill>
              <a:schemeClr val="tx2">
                <a:lumMod val="50000"/>
              </a:schemeClr>
            </a:solidFill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03C180C-D62E-89B7-AFB8-7AAF9B28561A}"/>
              </a:ext>
            </a:extLst>
          </p:cNvPr>
          <p:cNvSpPr txBox="1"/>
          <p:nvPr/>
        </p:nvSpPr>
        <p:spPr>
          <a:xfrm>
            <a:off x="3602283" y="3771461"/>
            <a:ext cx="1642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Канал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CC80E1-32AC-6974-87EF-302133B1235A}"/>
              </a:ext>
            </a:extLst>
          </p:cNvPr>
          <p:cNvSpPr txBox="1"/>
          <p:nvPr/>
        </p:nvSpPr>
        <p:spPr>
          <a:xfrm>
            <a:off x="3602282" y="4346168"/>
            <a:ext cx="1631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2">
                    <a:lumMod val="50000"/>
                  </a:schemeClr>
                </a:solidFill>
              </a:rPr>
              <a:t>Сообщение</a:t>
            </a:r>
          </a:p>
        </p:txBody>
      </p:sp>
    </p:spTree>
    <p:extLst>
      <p:ext uri="{BB962C8B-B14F-4D97-AF65-F5344CB8AC3E}">
        <p14:creationId xmlns:p14="http://schemas.microsoft.com/office/powerpoint/2010/main" val="1255881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FF57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7666" y="1483263"/>
            <a:ext cx="5713742" cy="3416400"/>
          </a:xfrm>
        </p:spPr>
        <p:txBody>
          <a:bodyPr>
            <a:noAutofit/>
          </a:bodyPr>
          <a:lstStyle/>
          <a:p>
            <a:pPr marL="360000">
              <a:lnSpc>
                <a:spcPct val="90000"/>
              </a:lnSpc>
              <a:buClr>
                <a:schemeClr val="tx1"/>
              </a:buClr>
              <a:buSzPct val="70000"/>
            </a:pPr>
            <a:r>
              <a:rPr lang="ru-RU" sz="1600" dirty="0">
                <a:solidFill>
                  <a:schemeClr val="tx1"/>
                </a:solidFill>
              </a:rPr>
              <a:t>Вы лучше понимаете своего клиента, если продолжаете анализировать его путь в продукте — </a:t>
            </a:r>
            <a:r>
              <a:rPr lang="ru-RU" sz="1600" b="1" dirty="0">
                <a:solidFill>
                  <a:schemeClr val="tx1"/>
                </a:solidFill>
              </a:rPr>
              <a:t>смотрим за поведением </a:t>
            </a:r>
          </a:p>
          <a:p>
            <a:pPr marL="360000">
              <a:lnSpc>
                <a:spcPct val="90000"/>
              </a:lnSpc>
              <a:buClr>
                <a:schemeClr val="tx1"/>
              </a:buClr>
              <a:buSzPct val="70000"/>
            </a:pPr>
            <a:endParaRPr lang="ru-RU" sz="1600" dirty="0">
              <a:solidFill>
                <a:schemeClr val="tx1"/>
              </a:solidFill>
            </a:endParaRPr>
          </a:p>
          <a:p>
            <a:pPr marL="360000">
              <a:lnSpc>
                <a:spcPct val="90000"/>
              </a:lnSpc>
              <a:buClr>
                <a:schemeClr val="tx1"/>
              </a:buClr>
              <a:buSzPct val="70000"/>
            </a:pPr>
            <a:r>
              <a:rPr lang="ru-RU" sz="1600" dirty="0">
                <a:solidFill>
                  <a:schemeClr val="tx1"/>
                </a:solidFill>
              </a:rPr>
              <a:t>Воздействие маркетинга </a:t>
            </a:r>
            <a:r>
              <a:rPr lang="ru-RU" sz="1600" b="1" dirty="0">
                <a:solidFill>
                  <a:schemeClr val="tx1"/>
                </a:solidFill>
              </a:rPr>
              <a:t>инертно</a:t>
            </a:r>
          </a:p>
          <a:p>
            <a:pPr marL="360000">
              <a:lnSpc>
                <a:spcPct val="90000"/>
              </a:lnSpc>
              <a:buClr>
                <a:schemeClr val="tx1"/>
              </a:buClr>
              <a:buSzPct val="70000"/>
            </a:pPr>
            <a:endParaRPr lang="ru-RU" sz="1600" dirty="0">
              <a:solidFill>
                <a:schemeClr val="tx1"/>
              </a:solidFill>
            </a:endParaRPr>
          </a:p>
          <a:p>
            <a:pPr marL="360000">
              <a:lnSpc>
                <a:spcPct val="90000"/>
              </a:lnSpc>
              <a:buClr>
                <a:schemeClr val="tx1"/>
              </a:buClr>
              <a:buSzPct val="70000"/>
            </a:pPr>
            <a:r>
              <a:rPr lang="ru-RU" sz="1600" dirty="0">
                <a:solidFill>
                  <a:schemeClr val="tx1"/>
                </a:solidFill>
              </a:rPr>
              <a:t>Работаем с </a:t>
            </a:r>
            <a:r>
              <a:rPr lang="ru-RU" sz="1600" b="1" dirty="0">
                <a:solidFill>
                  <a:schemeClr val="tx1"/>
                </a:solidFill>
              </a:rPr>
              <a:t>несколькими</a:t>
            </a:r>
            <a:r>
              <a:rPr lang="ru-RU" sz="1600" dirty="0">
                <a:solidFill>
                  <a:schemeClr val="tx1"/>
                </a:solidFill>
              </a:rPr>
              <a:t> каналами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1596044"/>
            <a:ext cx="2433184" cy="3244244"/>
          </a:xfrm>
          <a:prstGeom prst="roundRect">
            <a:avLst>
              <a:gd name="adj" fmla="val 8260"/>
            </a:avLst>
          </a:prstGeom>
        </p:spPr>
      </p:pic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833D7C21-31A4-2324-ABF8-25A7EB92ADD5}"/>
              </a:ext>
            </a:extLst>
          </p:cNvPr>
          <p:cNvSpPr txBox="1">
            <a:spLocks/>
          </p:cNvSpPr>
          <p:nvPr/>
        </p:nvSpPr>
        <p:spPr>
          <a:xfrm>
            <a:off x="57665" y="168035"/>
            <a:ext cx="74071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Итого для максимизации эффекта важно:</a:t>
            </a:r>
          </a:p>
        </p:txBody>
      </p:sp>
    </p:spTree>
    <p:extLst>
      <p:ext uri="{BB962C8B-B14F-4D97-AF65-F5344CB8AC3E}">
        <p14:creationId xmlns:p14="http://schemas.microsoft.com/office/powerpoint/2010/main" val="13800647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366</Words>
  <Application>Microsoft Macintosh PowerPoint</Application>
  <PresentationFormat>Экран (16:9)</PresentationFormat>
  <Paragraphs>92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Roboto</vt:lpstr>
      <vt:lpstr>Simple Light</vt:lpstr>
      <vt:lpstr>МАРКЕТИНГОВЫЕ КАНАЛЫ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измерить?</vt:lpstr>
      <vt:lpstr>Как измерить?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1.  Цели и метрики маркетинга</dc:title>
  <dc:creator>Olga Suchkova</dc:creator>
  <cp:lastModifiedBy>KirillSadchikov</cp:lastModifiedBy>
  <cp:revision>71</cp:revision>
  <dcterms:modified xsi:type="dcterms:W3CDTF">2026-10-07T20:54:46Z</dcterms:modified>
</cp:coreProperties>
</file>