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60"/>
  </p:notesMasterIdLst>
  <p:sldIdLst>
    <p:sldId id="269" r:id="rId2"/>
    <p:sldId id="270" r:id="rId3"/>
    <p:sldId id="271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283" r:id="rId16"/>
    <p:sldId id="284" r:id="rId17"/>
    <p:sldId id="285" r:id="rId18"/>
    <p:sldId id="286" r:id="rId19"/>
    <p:sldId id="287" r:id="rId20"/>
    <p:sldId id="288" r:id="rId21"/>
    <p:sldId id="289" r:id="rId22"/>
    <p:sldId id="336" r:id="rId23"/>
    <p:sldId id="337" r:id="rId24"/>
    <p:sldId id="338" r:id="rId25"/>
    <p:sldId id="339" r:id="rId26"/>
    <p:sldId id="290" r:id="rId27"/>
    <p:sldId id="291" r:id="rId28"/>
    <p:sldId id="292" r:id="rId29"/>
    <p:sldId id="293" r:id="rId30"/>
    <p:sldId id="294" r:id="rId31"/>
    <p:sldId id="295" r:id="rId32"/>
    <p:sldId id="340" r:id="rId33"/>
    <p:sldId id="296" r:id="rId34"/>
    <p:sldId id="341" r:id="rId35"/>
    <p:sldId id="342" r:id="rId36"/>
    <p:sldId id="343" r:id="rId37"/>
    <p:sldId id="344" r:id="rId38"/>
    <p:sldId id="345" r:id="rId39"/>
    <p:sldId id="297" r:id="rId40"/>
    <p:sldId id="298" r:id="rId41"/>
    <p:sldId id="299" r:id="rId42"/>
    <p:sldId id="300" r:id="rId43"/>
    <p:sldId id="301" r:id="rId44"/>
    <p:sldId id="302" r:id="rId45"/>
    <p:sldId id="304" r:id="rId46"/>
    <p:sldId id="346" r:id="rId47"/>
    <p:sldId id="347" r:id="rId48"/>
    <p:sldId id="305" r:id="rId49"/>
    <p:sldId id="306" r:id="rId50"/>
    <p:sldId id="307" r:id="rId51"/>
    <p:sldId id="311" r:id="rId52"/>
    <p:sldId id="312" r:id="rId53"/>
    <p:sldId id="313" r:id="rId54"/>
    <p:sldId id="314" r:id="rId55"/>
    <p:sldId id="315" r:id="rId56"/>
    <p:sldId id="316" r:id="rId57"/>
    <p:sldId id="317" r:id="rId58"/>
    <p:sldId id="318" r:id="rId59"/>
  </p:sldIdLst>
  <p:sldSz cx="18288000" cy="10287000"/>
  <p:notesSz cx="6858000" cy="9144000"/>
  <p:embeddedFontLst>
    <p:embeddedFont>
      <p:font typeface="X5 Sans" panose="020B0403020203020204" pitchFamily="34" charset="0"/>
      <p:regular r:id="rId61"/>
      <p:bold r:id="rId62"/>
    </p:embeddedFont>
    <p:embeddedFont>
      <p:font typeface="X5 Sans Medium" panose="020B0403020203020204" pitchFamily="34" charset="0"/>
      <p:regular r:id="rId63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ADE"/>
    <a:srgbClr val="C4C5C6"/>
    <a:srgbClr val="E6E7E9"/>
    <a:srgbClr val="DFDF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55"/>
    <p:restoredTop sz="94626"/>
  </p:normalViewPr>
  <p:slideViewPr>
    <p:cSldViewPr snapToGrid="0">
      <p:cViewPr varScale="1">
        <p:scale>
          <a:sx n="77" d="100"/>
          <a:sy n="77" d="100"/>
        </p:scale>
        <p:origin x="224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font" Target="fonts/font3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font" Target="fonts/font1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7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7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7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7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7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7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7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72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ru" smtClean="0"/>
              <a:pPr algn="r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3595449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914400" lvl="0" indent="-685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828800" lvl="1" indent="-635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2743200" lvl="2" indent="-6350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3657600" lvl="3" indent="-6350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4572000" lvl="4" indent="-635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5486400" lvl="5" indent="-6350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6400800" lvl="6" indent="-6350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7315200" lvl="7" indent="-635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8229600" lvl="8" indent="-6350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ru" smtClean="0"/>
              <a:pPr algn="r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535406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EFEF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jp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2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Текстовый блок">
            <a:extLst>
              <a:ext uri="{FF2B5EF4-FFF2-40B4-BE49-F238E27FC236}">
                <a16:creationId xmlns:a16="http://schemas.microsoft.com/office/drawing/2014/main" id="{83BF2DA4-8395-4896-98A1-EE8ADF637024}"/>
              </a:ext>
            </a:extLst>
          </p:cNvPr>
          <p:cNvSpPr>
            <a:spLocks noGrp="1"/>
          </p:cNvSpPr>
          <p:nvPr/>
        </p:nvSpPr>
        <p:spPr>
          <a:xfrm>
            <a:off x="476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Список">
            <a:extLst>
              <a:ext uri="{FF2B5EF4-FFF2-40B4-BE49-F238E27FC236}">
                <a16:creationId xmlns:a16="http://schemas.microsoft.com/office/drawing/2014/main" id="{EE991465-5A34-4773-A228-4F61ECBBE8E6}"/>
              </a:ext>
            </a:extLst>
          </p:cNvPr>
          <p:cNvSpPr>
            <a:spLocks noGrp="1"/>
          </p:cNvSpPr>
          <p:nvPr/>
        </p:nvSpPr>
        <p:spPr>
          <a:xfrm>
            <a:off x="9239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Заголовок">
            <a:extLst>
              <a:ext uri="{FF2B5EF4-FFF2-40B4-BE49-F238E27FC236}">
                <a16:creationId xmlns:a16="http://schemas.microsoft.com/office/drawing/2014/main" id="{70B4469F-6CF4-4B36-8D14-80B170FE0D58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500" b="0">
                <a:solidFill>
                  <a:srgbClr val="3A3A3A"/>
                </a:solidFill>
                <a:latin typeface="X5 Sans Medium"/>
              </a:rPr>
              <a:t>План на сегодня</a:t>
            </a:r>
          </a:p>
        </p:txBody>
      </p:sp>
      <p:sp>
        <p:nvSpPr>
          <p:cNvPr id="6" name="Подзаголовок">
            <a:extLst>
              <a:ext uri="{FF2B5EF4-FFF2-40B4-BE49-F238E27FC236}">
                <a16:creationId xmlns:a16="http://schemas.microsoft.com/office/drawing/2014/main" id="{EADA99A8-63FD-4201-8FB7-7752A0FD2CE4}"/>
              </a:ext>
            </a:extLst>
          </p:cNvPr>
          <p:cNvSpPr>
            <a:spLocks noGrp="1"/>
          </p:cNvSpPr>
          <p:nvPr/>
        </p:nvSpPr>
        <p:spPr>
          <a:xfrm>
            <a:off x="476250" y="1485900"/>
            <a:ext cx="857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7" name="Текстовый блок — заголовок">
            <a:extLst>
              <a:ext uri="{FF2B5EF4-FFF2-40B4-BE49-F238E27FC236}">
                <a16:creationId xmlns:a16="http://schemas.microsoft.com/office/drawing/2014/main" id="{60D8FFDF-B59C-4B0A-8CBE-3EF79B76F9B8}"/>
              </a:ext>
            </a:extLst>
          </p:cNvPr>
          <p:cNvSpPr>
            <a:spLocks noGrp="1"/>
          </p:cNvSpPr>
          <p:nvPr/>
        </p:nvSpPr>
        <p:spPr>
          <a:xfrm>
            <a:off x="800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0">
                <a:solidFill>
                  <a:srgbClr val="3A3A3A"/>
                </a:solidFill>
                <a:latin typeface="X5 Sans Medium"/>
              </a:rPr>
              <a:t>Две части</a:t>
            </a:r>
          </a:p>
        </p:txBody>
      </p:sp>
      <p:sp>
        <p:nvSpPr>
          <p:cNvPr id="8" name="Текстовый блок — текст">
            <a:extLst>
              <a:ext uri="{FF2B5EF4-FFF2-40B4-BE49-F238E27FC236}">
                <a16:creationId xmlns:a16="http://schemas.microsoft.com/office/drawing/2014/main" id="{AC333327-0196-4226-8AE6-135E26DFFEF0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79248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9" name="Список — заголовок">
            <a:extLst>
              <a:ext uri="{FF2B5EF4-FFF2-40B4-BE49-F238E27FC236}">
                <a16:creationId xmlns:a16="http://schemas.microsoft.com/office/drawing/2014/main" id="{3C6A7525-86DB-4554-B760-371C8510005B}"/>
              </a:ext>
            </a:extLst>
          </p:cNvPr>
          <p:cNvSpPr>
            <a:spLocks noGrp="1"/>
          </p:cNvSpPr>
          <p:nvPr/>
        </p:nvSpPr>
        <p:spPr>
          <a:xfrm>
            <a:off x="9563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10" name="Список — вводная">
            <a:extLst>
              <a:ext uri="{FF2B5EF4-FFF2-40B4-BE49-F238E27FC236}">
                <a16:creationId xmlns:a16="http://schemas.microsoft.com/office/drawing/2014/main" id="{EDD98C9F-4A8D-400A-82D5-F1B2EB5BE324}"/>
              </a:ext>
            </a:extLst>
          </p:cNvPr>
          <p:cNvSpPr>
            <a:spLocks noGrp="1"/>
          </p:cNvSpPr>
          <p:nvPr/>
        </p:nvSpPr>
        <p:spPr>
          <a:xfrm>
            <a:off x="9563100" y="3848100"/>
            <a:ext cx="7924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11" name="Список — пункты">
            <a:extLst>
              <a:ext uri="{FF2B5EF4-FFF2-40B4-BE49-F238E27FC236}">
                <a16:creationId xmlns:a16="http://schemas.microsoft.com/office/drawing/2014/main" id="{F442EF30-93C7-4546-9525-C1AA3D745C53}"/>
              </a:ext>
            </a:extLst>
          </p:cNvPr>
          <p:cNvSpPr>
            <a:spLocks noGrp="1"/>
          </p:cNvSpPr>
          <p:nvPr/>
        </p:nvSpPr>
        <p:spPr>
          <a:xfrm>
            <a:off x="9715500" y="3672840"/>
            <a:ext cx="7620000" cy="5120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0" dirty="0" err="1">
                <a:solidFill>
                  <a:srgbClr val="3A3A3A"/>
                </a:solidFill>
                <a:latin typeface="X5 Sans"/>
              </a:rPr>
              <a:t>Часть</a:t>
            </a:r>
            <a:r>
              <a:rPr sz="2200" b="0" dirty="0">
                <a:solidFill>
                  <a:srgbClr val="3A3A3A"/>
                </a:solidFill>
                <a:latin typeface="X5 Sans"/>
              </a:rPr>
              <a:t> 1 · </a:t>
            </a:r>
            <a:r>
              <a:rPr sz="2200" b="0" dirty="0" err="1">
                <a:solidFill>
                  <a:srgbClr val="3A3A3A"/>
                </a:solidFill>
                <a:latin typeface="X5 Sans"/>
              </a:rPr>
              <a:t>каналы</a:t>
            </a:r>
            <a:r>
              <a:rPr sz="2200" b="0" dirty="0">
                <a:solidFill>
                  <a:srgbClr val="3A3A3A"/>
                </a:solidFill>
                <a:latin typeface="X5 Sans"/>
              </a:rPr>
              <a:t>: </a:t>
            </a:r>
            <a:r>
              <a:rPr sz="2200" b="0" dirty="0" err="1">
                <a:solidFill>
                  <a:srgbClr val="3A3A3A"/>
                </a:solidFill>
                <a:latin typeface="X5 Sans"/>
              </a:rPr>
              <a:t>карта</a:t>
            </a:r>
            <a:r>
              <a:rPr sz="2200" b="0" dirty="0">
                <a:solidFill>
                  <a:srgbClr val="3A3A3A"/>
                </a:solidFill>
                <a:latin typeface="X5 Sans"/>
              </a:rPr>
              <a:t>, </a:t>
            </a:r>
            <a:r>
              <a:rPr sz="2200" b="0" dirty="0" err="1">
                <a:solidFill>
                  <a:srgbClr val="3A3A3A"/>
                </a:solidFill>
                <a:latin typeface="X5 Sans"/>
              </a:rPr>
              <a:t>метрика</a:t>
            </a:r>
            <a:r>
              <a:rPr sz="2200" b="0" dirty="0">
                <a:solidFill>
                  <a:srgbClr val="3A3A3A"/>
                </a:solidFill>
                <a:latin typeface="X5 Sans"/>
              </a:rPr>
              <a:t>, UTM, ТВ </a:t>
            </a:r>
            <a:r>
              <a:rPr sz="2200" b="0" dirty="0" err="1">
                <a:solidFill>
                  <a:srgbClr val="3A3A3A"/>
                </a:solidFill>
                <a:latin typeface="X5 Sans"/>
              </a:rPr>
              <a:t>без</a:t>
            </a:r>
            <a:r>
              <a:rPr sz="2200" b="0" dirty="0">
                <a:solidFill>
                  <a:srgbClr val="3A3A3A"/>
                </a:solidFill>
                <a:latin typeface="X5 Sans"/>
              </a:rPr>
              <a:t> </a:t>
            </a:r>
            <a:r>
              <a:rPr sz="2200" b="0" dirty="0" err="1">
                <a:solidFill>
                  <a:srgbClr val="3A3A3A"/>
                </a:solidFill>
                <a:latin typeface="X5 Sans"/>
              </a:rPr>
              <a:t>разметки</a:t>
            </a:r>
            <a:endParaRPr lang="ru-RU" sz="2200" b="0" dirty="0">
              <a:solidFill>
                <a:srgbClr val="3A3A3A"/>
              </a:solidFill>
              <a:latin typeface="X5 Sans"/>
            </a:endParaRPr>
          </a:p>
          <a:p>
            <a:pPr algn="l"/>
            <a:endParaRPr sz="2200" b="0" dirty="0">
              <a:solidFill>
                <a:srgbClr val="3A3A3A"/>
              </a:solidFill>
              <a:latin typeface="X5 Sans"/>
            </a:endParaRPr>
          </a:p>
          <a:p>
            <a:r>
              <a:rPr sz="2200" b="0" dirty="0" err="1">
                <a:solidFill>
                  <a:srgbClr val="3A3A3A"/>
                </a:solidFill>
                <a:latin typeface="X5 Sans"/>
              </a:rPr>
              <a:t>Часть</a:t>
            </a:r>
            <a:r>
              <a:rPr sz="2200" b="0" dirty="0">
                <a:solidFill>
                  <a:srgbClr val="3A3A3A"/>
                </a:solidFill>
                <a:latin typeface="X5 Sans"/>
              </a:rPr>
              <a:t> 2 · </a:t>
            </a:r>
            <a:r>
              <a:rPr sz="2200" b="0" dirty="0" err="1">
                <a:solidFill>
                  <a:srgbClr val="3A3A3A"/>
                </a:solidFill>
                <a:latin typeface="X5 Sans"/>
              </a:rPr>
              <a:t>сквозная</a:t>
            </a:r>
            <a:r>
              <a:rPr sz="2200" b="0" dirty="0">
                <a:solidFill>
                  <a:srgbClr val="3A3A3A"/>
                </a:solidFill>
                <a:latin typeface="X5 Sans"/>
              </a:rPr>
              <a:t> </a:t>
            </a:r>
            <a:r>
              <a:rPr sz="2200" b="0" dirty="0" err="1">
                <a:solidFill>
                  <a:srgbClr val="3A3A3A"/>
                </a:solidFill>
                <a:latin typeface="X5 Sans"/>
              </a:rPr>
              <a:t>аналитика</a:t>
            </a:r>
            <a:r>
              <a:rPr sz="2200" b="0" dirty="0">
                <a:solidFill>
                  <a:srgbClr val="3A3A3A"/>
                </a:solidFill>
                <a:latin typeface="X5 Sans"/>
              </a:rPr>
              <a:t>: </a:t>
            </a:r>
            <a:r>
              <a:rPr sz="2200" b="0" dirty="0" err="1">
                <a:solidFill>
                  <a:srgbClr val="3A3A3A"/>
                </a:solidFill>
                <a:latin typeface="X5 Sans"/>
              </a:rPr>
              <a:t>сшивка</a:t>
            </a:r>
            <a:r>
              <a:rPr sz="2200" b="0" dirty="0">
                <a:solidFill>
                  <a:srgbClr val="3A3A3A"/>
                </a:solidFill>
                <a:latin typeface="X5 Sans"/>
              </a:rPr>
              <a:t> </a:t>
            </a:r>
            <a:r>
              <a:rPr sz="2200" b="0" dirty="0" err="1">
                <a:solidFill>
                  <a:srgbClr val="3A3A3A"/>
                </a:solidFill>
                <a:latin typeface="X5 Sans"/>
              </a:rPr>
              <a:t>до</a:t>
            </a:r>
            <a:r>
              <a:rPr sz="2200" b="0" dirty="0">
                <a:solidFill>
                  <a:srgbClr val="3A3A3A"/>
                </a:solidFill>
                <a:latin typeface="X5 Sans"/>
              </a:rPr>
              <a:t> </a:t>
            </a:r>
            <a:r>
              <a:rPr sz="2200" b="0" dirty="0" err="1">
                <a:solidFill>
                  <a:srgbClr val="3A3A3A"/>
                </a:solidFill>
                <a:latin typeface="X5 Sans"/>
              </a:rPr>
              <a:t>юнит-таблицы</a:t>
            </a:r>
            <a:endParaRPr lang="ru-RU" sz="2200" b="0" dirty="0">
              <a:solidFill>
                <a:srgbClr val="3A3A3A"/>
              </a:solidFill>
              <a:latin typeface="X5 Sans"/>
            </a:endParaRPr>
          </a:p>
          <a:p>
            <a:endParaRPr sz="2200" b="0" dirty="0">
              <a:solidFill>
                <a:srgbClr val="3A3A3A"/>
              </a:solidFill>
              <a:latin typeface="X5 Sans"/>
            </a:endParaRPr>
          </a:p>
          <a:p>
            <a:r>
              <a:rPr sz="2200" b="0" dirty="0" err="1">
                <a:solidFill>
                  <a:srgbClr val="3A3A3A"/>
                </a:solidFill>
                <a:latin typeface="X5 Sans"/>
              </a:rPr>
              <a:t>Финал</a:t>
            </a:r>
            <a:r>
              <a:rPr sz="2200" b="0" dirty="0">
                <a:solidFill>
                  <a:srgbClr val="3A3A3A"/>
                </a:solidFill>
                <a:latin typeface="X5 Sans"/>
              </a:rPr>
              <a:t> · </a:t>
            </a:r>
            <a:r>
              <a:rPr sz="2200" b="0" dirty="0" err="1">
                <a:solidFill>
                  <a:srgbClr val="3A3A3A"/>
                </a:solidFill>
                <a:latin typeface="X5 Sans"/>
              </a:rPr>
              <a:t>атрибуция</a:t>
            </a:r>
            <a:r>
              <a:rPr sz="2200" b="0" dirty="0">
                <a:solidFill>
                  <a:srgbClr val="3A3A3A"/>
                </a:solidFill>
                <a:latin typeface="X5 Sans"/>
              </a:rPr>
              <a:t>: 5 </a:t>
            </a:r>
            <a:r>
              <a:rPr sz="2200" b="0" dirty="0" err="1">
                <a:solidFill>
                  <a:srgbClr val="3A3A3A"/>
                </a:solidFill>
                <a:latin typeface="X5 Sans"/>
              </a:rPr>
              <a:t>моделей</a:t>
            </a:r>
            <a:r>
              <a:rPr sz="2200" b="0" dirty="0">
                <a:solidFill>
                  <a:srgbClr val="3A3A3A"/>
                </a:solidFill>
                <a:latin typeface="X5 Sans"/>
              </a:rPr>
              <a:t> </a:t>
            </a:r>
            <a:r>
              <a:rPr sz="2200" b="0" dirty="0" err="1">
                <a:solidFill>
                  <a:srgbClr val="3A3A3A"/>
                </a:solidFill>
                <a:latin typeface="X5 Sans"/>
              </a:rPr>
              <a:t>и</a:t>
            </a:r>
            <a:r>
              <a:rPr sz="2200" b="0" dirty="0">
                <a:solidFill>
                  <a:srgbClr val="3A3A3A"/>
                </a:solidFill>
                <a:latin typeface="X5 Sans"/>
              </a:rPr>
              <a:t> ML </a:t>
            </a:r>
            <a:r>
              <a:rPr sz="2200" b="0" dirty="0" err="1">
                <a:solidFill>
                  <a:srgbClr val="3A3A3A"/>
                </a:solidFill>
                <a:latin typeface="X5 Sans"/>
              </a:rPr>
              <a:t>по</a:t>
            </a:r>
            <a:r>
              <a:rPr sz="2200" b="0" dirty="0">
                <a:solidFill>
                  <a:srgbClr val="3A3A3A"/>
                </a:solidFill>
                <a:latin typeface="X5 Sans"/>
              </a:rPr>
              <a:t> </a:t>
            </a:r>
            <a:r>
              <a:rPr sz="2200" b="0" dirty="0" err="1">
                <a:solidFill>
                  <a:srgbClr val="3A3A3A"/>
                </a:solidFill>
                <a:latin typeface="X5 Sans"/>
              </a:rPr>
              <a:t>статье</a:t>
            </a:r>
            <a:r>
              <a:rPr sz="2200" b="0" dirty="0">
                <a:solidFill>
                  <a:srgbClr val="3A3A3A"/>
                </a:solidFill>
                <a:latin typeface="X5 Sans"/>
              </a:rPr>
              <a:t> </a:t>
            </a:r>
            <a:r>
              <a:rPr sz="2200" b="0" dirty="0" err="1">
                <a:solidFill>
                  <a:srgbClr val="3A3A3A"/>
                </a:solidFill>
                <a:latin typeface="X5 Sans"/>
              </a:rPr>
              <a:t>vc.ru</a:t>
            </a:r>
            <a:endParaRPr sz="2200" b="0" dirty="0">
              <a:solidFill>
                <a:srgbClr val="3A3A3A"/>
              </a:solidFill>
              <a:latin typeface="X5 Sans"/>
            </a:endParaRPr>
          </a:p>
          <a:p>
            <a:endParaRPr lang="ru-RU" sz="2200" b="0" dirty="0">
              <a:solidFill>
                <a:srgbClr val="3A3A3A"/>
              </a:solidFill>
              <a:latin typeface="X5 Sans"/>
            </a:endParaRPr>
          </a:p>
          <a:p>
            <a:r>
              <a:rPr sz="2200" b="0" dirty="0" err="1">
                <a:solidFill>
                  <a:srgbClr val="3A3A3A"/>
                </a:solidFill>
                <a:latin typeface="X5 Sans"/>
              </a:rPr>
              <a:t>Симуляции</a:t>
            </a:r>
            <a:r>
              <a:rPr sz="2200" b="0" dirty="0">
                <a:solidFill>
                  <a:srgbClr val="3A3A3A"/>
                </a:solidFill>
                <a:latin typeface="X5 Sans"/>
              </a:rPr>
              <a:t>: </a:t>
            </a:r>
            <a:r>
              <a:rPr sz="2200" b="0" dirty="0" err="1">
                <a:solidFill>
                  <a:srgbClr val="3A3A3A"/>
                </a:solidFill>
                <a:latin typeface="X5 Sans"/>
              </a:rPr>
              <a:t>одни</a:t>
            </a:r>
            <a:r>
              <a:rPr sz="2200" b="0" dirty="0">
                <a:solidFill>
                  <a:srgbClr val="3A3A3A"/>
                </a:solidFill>
                <a:latin typeface="X5 Sans"/>
              </a:rPr>
              <a:t> </a:t>
            </a:r>
            <a:r>
              <a:rPr sz="2200" b="0" dirty="0" err="1">
                <a:solidFill>
                  <a:srgbClr val="3A3A3A"/>
                </a:solidFill>
                <a:latin typeface="X5 Sans"/>
              </a:rPr>
              <a:t>модели</a:t>
            </a:r>
            <a:r>
              <a:rPr sz="2200" b="0" dirty="0">
                <a:solidFill>
                  <a:srgbClr val="3A3A3A"/>
                </a:solidFill>
                <a:latin typeface="X5 Sans"/>
              </a:rPr>
              <a:t> </a:t>
            </a:r>
            <a:r>
              <a:rPr sz="2200" b="0" dirty="0" err="1">
                <a:solidFill>
                  <a:srgbClr val="3A3A3A"/>
                </a:solidFill>
                <a:latin typeface="X5 Sans"/>
              </a:rPr>
              <a:t>на</a:t>
            </a:r>
            <a:r>
              <a:rPr sz="2200" b="0" dirty="0">
                <a:solidFill>
                  <a:srgbClr val="3A3A3A"/>
                </a:solidFill>
                <a:latin typeface="X5 Sans"/>
              </a:rPr>
              <a:t> </a:t>
            </a:r>
            <a:r>
              <a:rPr sz="2200" b="0" dirty="0" err="1">
                <a:solidFill>
                  <a:srgbClr val="3A3A3A"/>
                </a:solidFill>
                <a:latin typeface="X5 Sans"/>
              </a:rPr>
              <a:t>разных</a:t>
            </a:r>
            <a:r>
              <a:rPr sz="2200" b="0" dirty="0">
                <a:solidFill>
                  <a:srgbClr val="3A3A3A"/>
                </a:solidFill>
                <a:latin typeface="X5 Sans"/>
              </a:rPr>
              <a:t> </a:t>
            </a:r>
            <a:r>
              <a:rPr sz="2200" b="0" dirty="0" err="1">
                <a:solidFill>
                  <a:srgbClr val="3A3A3A"/>
                </a:solidFill>
                <a:latin typeface="X5 Sans"/>
              </a:rPr>
              <a:t>данных</a:t>
            </a:r>
            <a:endParaRPr sz="2200" b="0" dirty="0">
              <a:solidFill>
                <a:srgbClr val="3A3A3A"/>
              </a:solidFill>
              <a:latin typeface="X5 Sans"/>
            </a:endParaRP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5"/>
          <a:stretch/>
        </p:blipFill>
        <p:spPr>
          <a:xfrm rot="879000">
            <a:off x="14963775" y="1371600"/>
            <a:ext cx="2276475" cy="2276475"/>
          </a:xfrm>
          <a:prstGeom prst="rect">
            <a:avLst/>
          </a:prstGeom>
        </p:spPr>
      </p:pic>
      <p:pic>
        <p:nvPicPr>
          <p:cNvPr id="33" name="Рисунок 3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095875" y="6562725"/>
            <a:ext cx="4467225" cy="3724275"/>
          </a:xfrm>
          <a:prstGeom prst="rect">
            <a:avLst/>
          </a:prstGeom>
        </p:spPr>
      </p:pic>
      <p:pic>
        <p:nvPicPr>
          <p:cNvPr id="34" name="Рисунок 33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82379" y="9186863"/>
            <a:ext cx="2083242" cy="623888"/>
          </a:xfrm>
          <a:prstGeom prst="rect">
            <a:avLst/>
          </a:prstGeom>
        </p:spPr>
      </p:pic>
      <p:sp>
        <p:nvSpPr>
          <p:cNvPr id="15" name="Номер страницы">
            <a:extLst>
              <a:ext uri="{FF2B5EF4-FFF2-40B4-BE49-F238E27FC236}">
                <a16:creationId xmlns:a16="http://schemas.microsoft.com/office/drawing/2014/main" id="{8CB3DCAF-5969-49CE-B198-E4C5CEA31C56}"/>
              </a:ext>
            </a:extLst>
          </p:cNvPr>
          <p:cNvSpPr>
            <a:spLocks noGrp="1"/>
          </p:cNvSpPr>
          <p:nvPr/>
        </p:nvSpPr>
        <p:spPr>
          <a:xfrm>
            <a:off x="16859250" y="94678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 b="0"/>
              <a:t>1</a:t>
            </a:r>
          </a:p>
        </p:txBody>
      </p:sp>
      <p:pic>
        <p:nvPicPr>
          <p:cNvPr id="2" name="Рисунок 1" descr="Известные маркетологи, которым принадлежит твой мозг — блог ePochta |  www.epochta.ru">
            <a:extLst>
              <a:ext uri="{FF2B5EF4-FFF2-40B4-BE49-F238E27FC236}">
                <a16:creationId xmlns:a16="http://schemas.microsoft.com/office/drawing/2014/main" id="{3AAA59FF-8C00-8A3E-F49E-60192571B9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7803" y="3679756"/>
            <a:ext cx="6563472" cy="41021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62800" y="1933575"/>
            <a:ext cx="8715375" cy="8353425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190601" y="504825"/>
            <a:ext cx="2876741" cy="2876741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5395519" y="6967442"/>
            <a:ext cx="2688194" cy="3191637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4892528" y="1556671"/>
            <a:ext cx="2344484" cy="2344484"/>
          </a:xfrm>
          <a:prstGeom prst="rect">
            <a:avLst/>
          </a:prstGeom>
        </p:spPr>
      </p:pic>
      <p:sp>
        <p:nvSpPr>
          <p:cNvPr id="6" name="Заголовок">
            <a:extLst>
              <a:ext uri="{FF2B5EF4-FFF2-40B4-BE49-F238E27FC236}">
                <a16:creationId xmlns:a16="http://schemas.microsoft.com/office/drawing/2014/main" id="{498BBE52-B56A-4F73-8565-575347066D87}"/>
              </a:ext>
            </a:extLst>
          </p:cNvPr>
          <p:cNvSpPr>
            <a:spLocks noGrp="1"/>
          </p:cNvSpPr>
          <p:nvPr/>
        </p:nvSpPr>
        <p:spPr>
          <a:xfrm>
            <a:off x="476250" y="2895600"/>
            <a:ext cx="7429500" cy="2171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300" b="0">
                <a:solidFill>
                  <a:srgbClr val="3A3A3A"/>
                </a:solidFill>
                <a:latin typeface="X5 Sans Medium"/>
              </a:rPr>
              <a:t>«У нас плохо с трафиком» — не постановка</a:t>
            </a:r>
          </a:p>
        </p:txBody>
      </p:sp>
      <p:sp>
        <p:nvSpPr>
          <p:cNvPr id="7" name="Пояснение">
            <a:extLst>
              <a:ext uri="{FF2B5EF4-FFF2-40B4-BE49-F238E27FC236}">
                <a16:creationId xmlns:a16="http://schemas.microsoft.com/office/drawing/2014/main" id="{7FDFA29B-3B26-457E-8F99-F72D6D317D5E}"/>
              </a:ext>
            </a:extLst>
          </p:cNvPr>
          <p:cNvSpPr>
            <a:spLocks noGrp="1"/>
          </p:cNvSpPr>
          <p:nvPr/>
        </p:nvSpPr>
        <p:spPr>
          <a:xfrm>
            <a:off x="476250" y="5307626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600" b="0" dirty="0" err="1">
                <a:solidFill>
                  <a:srgbClr val="3A3A3A"/>
                </a:solidFill>
                <a:latin typeface="X5 Sans Medium"/>
              </a:rPr>
              <a:t>Каналов</a:t>
            </a:r>
            <a:r>
              <a:rPr sz="2600" b="0" dirty="0">
                <a:solidFill>
                  <a:srgbClr val="3A3A3A"/>
                </a:solidFill>
                <a:latin typeface="X5 Sans Medium"/>
              </a:rPr>
              <a:t> </a:t>
            </a:r>
            <a:r>
              <a:rPr sz="2600" b="0" dirty="0" err="1">
                <a:solidFill>
                  <a:srgbClr val="3A3A3A"/>
                </a:solidFill>
                <a:latin typeface="X5 Sans Medium"/>
              </a:rPr>
              <a:t>десятки</a:t>
            </a:r>
            <a:r>
              <a:rPr sz="2600" b="0" dirty="0">
                <a:solidFill>
                  <a:srgbClr val="3A3A3A"/>
                </a:solidFill>
                <a:latin typeface="X5 Sans Medium"/>
              </a:rPr>
              <a:t>: </a:t>
            </a:r>
            <a:r>
              <a:rPr sz="2600" b="0" dirty="0" err="1">
                <a:solidFill>
                  <a:srgbClr val="3A3A3A"/>
                </a:solidFill>
                <a:latin typeface="X5 Sans Medium"/>
              </a:rPr>
              <a:t>у</a:t>
            </a:r>
            <a:r>
              <a:rPr sz="2600" b="0" dirty="0">
                <a:solidFill>
                  <a:srgbClr val="3A3A3A"/>
                </a:solidFill>
                <a:latin typeface="X5 Sans Medium"/>
              </a:rPr>
              <a:t> </a:t>
            </a:r>
            <a:r>
              <a:rPr sz="2600" b="0" dirty="0" err="1">
                <a:solidFill>
                  <a:srgbClr val="3A3A3A"/>
                </a:solidFill>
                <a:latin typeface="X5 Sans Medium"/>
              </a:rPr>
              <a:t>каждого</a:t>
            </a:r>
            <a:r>
              <a:rPr sz="2600" b="0" dirty="0">
                <a:solidFill>
                  <a:srgbClr val="3A3A3A"/>
                </a:solidFill>
                <a:latin typeface="X5 Sans Medium"/>
              </a:rPr>
              <a:t> </a:t>
            </a:r>
            <a:r>
              <a:rPr sz="2600" b="0" dirty="0" err="1">
                <a:solidFill>
                  <a:srgbClr val="3A3A3A"/>
                </a:solidFill>
                <a:latin typeface="X5 Sans Medium"/>
              </a:rPr>
              <a:t>своя</a:t>
            </a:r>
            <a:r>
              <a:rPr sz="2600" b="0" dirty="0">
                <a:solidFill>
                  <a:srgbClr val="3A3A3A"/>
                </a:solidFill>
                <a:latin typeface="X5 Sans Medium"/>
              </a:rPr>
              <a:t> </a:t>
            </a:r>
            <a:r>
              <a:rPr sz="2600" b="0" dirty="0" err="1">
                <a:solidFill>
                  <a:srgbClr val="3A3A3A"/>
                </a:solidFill>
                <a:latin typeface="X5 Sans Medium"/>
              </a:rPr>
              <a:t>механика</a:t>
            </a:r>
            <a:r>
              <a:rPr sz="2600" b="0" dirty="0">
                <a:solidFill>
                  <a:srgbClr val="3A3A3A"/>
                </a:solidFill>
                <a:latin typeface="X5 Sans Medium"/>
              </a:rPr>
              <a:t>, </a:t>
            </a:r>
            <a:r>
              <a:rPr sz="2600" b="0" dirty="0" err="1">
                <a:solidFill>
                  <a:srgbClr val="3A3A3A"/>
                </a:solidFill>
                <a:latin typeface="X5 Sans Medium"/>
              </a:rPr>
              <a:t>скорость</a:t>
            </a:r>
            <a:r>
              <a:rPr sz="2600" b="0" dirty="0">
                <a:solidFill>
                  <a:srgbClr val="3A3A3A"/>
                </a:solidFill>
                <a:latin typeface="X5 Sans Medium"/>
              </a:rPr>
              <a:t>, </a:t>
            </a:r>
            <a:r>
              <a:rPr sz="2600" b="0" dirty="0" err="1">
                <a:solidFill>
                  <a:srgbClr val="3A3A3A"/>
                </a:solidFill>
                <a:latin typeface="X5 Sans Medium"/>
              </a:rPr>
              <a:t>цена</a:t>
            </a:r>
            <a:r>
              <a:rPr sz="2600" b="0" dirty="0">
                <a:solidFill>
                  <a:srgbClr val="3A3A3A"/>
                </a:solidFill>
                <a:latin typeface="X5 Sans Medium"/>
              </a:rPr>
              <a:t> </a:t>
            </a:r>
            <a:r>
              <a:rPr sz="2600" b="0" dirty="0" err="1">
                <a:solidFill>
                  <a:srgbClr val="3A3A3A"/>
                </a:solidFill>
                <a:latin typeface="X5 Sans Medium"/>
              </a:rPr>
              <a:t>и</a:t>
            </a:r>
            <a:r>
              <a:rPr sz="2600" b="0" dirty="0">
                <a:solidFill>
                  <a:srgbClr val="3A3A3A"/>
                </a:solidFill>
                <a:latin typeface="X5 Sans Medium"/>
              </a:rPr>
              <a:t> </a:t>
            </a:r>
            <a:r>
              <a:rPr sz="2600" b="0" dirty="0" err="1">
                <a:solidFill>
                  <a:srgbClr val="3A3A3A"/>
                </a:solidFill>
                <a:latin typeface="X5 Sans Medium"/>
              </a:rPr>
              <a:t>способ</a:t>
            </a:r>
            <a:r>
              <a:rPr sz="2600" b="0" dirty="0">
                <a:solidFill>
                  <a:srgbClr val="3A3A3A"/>
                </a:solidFill>
                <a:latin typeface="X5 Sans Medium"/>
              </a:rPr>
              <a:t> </a:t>
            </a:r>
            <a:r>
              <a:rPr sz="2600" b="0" dirty="0" err="1">
                <a:solidFill>
                  <a:srgbClr val="3A3A3A"/>
                </a:solidFill>
                <a:latin typeface="X5 Sans Medium"/>
              </a:rPr>
              <a:t>измерения</a:t>
            </a:r>
            <a:r>
              <a:rPr sz="2600" b="0" dirty="0">
                <a:solidFill>
                  <a:srgbClr val="3A3A3A"/>
                </a:solidFill>
                <a:latin typeface="X5 Sans Medium"/>
              </a:rPr>
              <a:t> </a:t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77115" y="476250"/>
            <a:ext cx="1034305" cy="929926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027176" y="907322"/>
            <a:ext cx="453200" cy="500408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499806" y="907592"/>
            <a:ext cx="376904" cy="508821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2076846" y="886682"/>
            <a:ext cx="2050036" cy="67541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62800" y="1933575"/>
            <a:ext cx="8715375" cy="8353425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190601" y="504825"/>
            <a:ext cx="2876741" cy="2876741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5395519" y="6967442"/>
            <a:ext cx="2688194" cy="3191637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4892528" y="1556671"/>
            <a:ext cx="2344484" cy="2344484"/>
          </a:xfrm>
          <a:prstGeom prst="rect">
            <a:avLst/>
          </a:prstGeom>
        </p:spPr>
      </p:pic>
      <p:sp>
        <p:nvSpPr>
          <p:cNvPr id="6" name="Заголовок">
            <a:extLst>
              <a:ext uri="{FF2B5EF4-FFF2-40B4-BE49-F238E27FC236}">
                <a16:creationId xmlns:a16="http://schemas.microsoft.com/office/drawing/2014/main" id="{498BBE52-B56A-4F73-8565-575347066D87}"/>
              </a:ext>
            </a:extLst>
          </p:cNvPr>
          <p:cNvSpPr>
            <a:spLocks noGrp="1"/>
          </p:cNvSpPr>
          <p:nvPr/>
        </p:nvSpPr>
        <p:spPr>
          <a:xfrm>
            <a:off x="476250" y="2895600"/>
            <a:ext cx="7429500" cy="2171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200" b="0">
                <a:solidFill>
                  <a:srgbClr val="3A3A3A"/>
                </a:solidFill>
                <a:latin typeface="X5 Sans Medium"/>
              </a:rPr>
              <a:t>Карта каналов: чем кто измерается</a:t>
            </a:r>
          </a:p>
        </p:txBody>
      </p:sp>
      <p:sp>
        <p:nvSpPr>
          <p:cNvPr id="7" name="Пояснение">
            <a:extLst>
              <a:ext uri="{FF2B5EF4-FFF2-40B4-BE49-F238E27FC236}">
                <a16:creationId xmlns:a16="http://schemas.microsoft.com/office/drawing/2014/main" id="{7FDFA29B-3B26-457E-8F99-F72D6D317D5E}"/>
              </a:ext>
            </a:extLst>
          </p:cNvPr>
          <p:cNvSpPr>
            <a:spLocks noGrp="1"/>
          </p:cNvSpPr>
          <p:nvPr/>
        </p:nvSpPr>
        <p:spPr>
          <a:xfrm>
            <a:off x="476250" y="5307626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77115" y="476250"/>
            <a:ext cx="1034305" cy="929926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027176" y="907322"/>
            <a:ext cx="453200" cy="500408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499806" y="907592"/>
            <a:ext cx="376904" cy="508821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2076846" y="886682"/>
            <a:ext cx="2050036" cy="675418"/>
          </a:xfrm>
          <a:prstGeom prst="rect">
            <a:avLst/>
          </a:prstGeom>
        </p:spPr>
      </p:pic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548640" y="5257800"/>
          <a:ext cx="17190720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X5 Sans"/>
                        </a:rPr>
                        <a:t>Группа</a:t>
                      </a:r>
                    </a:p>
                  </a:txBody>
                  <a:tcPr marL="109728" marR="73152" marT="27432" marB="27432"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X5 Sans"/>
                        </a:rPr>
                        <a:t>Примеры</a:t>
                      </a:r>
                    </a:p>
                  </a:txBody>
                  <a:tcPr marL="109728" marR="73152" marT="27432" marB="27432"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X5 Sans"/>
                        </a:rPr>
                        <a:t>Скорость</a:t>
                      </a:r>
                    </a:p>
                  </a:txBody>
                  <a:tcPr marL="109728" marR="73152" marT="27432" marB="27432"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X5 Sans"/>
                        </a:rPr>
                        <a:t>Чем мерить</a:t>
                      </a:r>
                    </a:p>
                  </a:txBody>
                  <a:tcPr marL="109728" marR="73152" marT="27432" marB="27432" anchor="ctr"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E2841"/>
                          </a:solidFill>
                          <a:latin typeface="X5 Sans"/>
                        </a:rPr>
                        <a:t>Перформанс</a:t>
                      </a:r>
                    </a:p>
                  </a:txBody>
                  <a:tcPr marL="109728" marR="73152" marT="27432" marB="27432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E4055"/>
                          </a:solidFill>
                          <a:latin typeface="X5 Sans"/>
                        </a:rPr>
                        <a:t>контекст · таргет · ритейл-медиа</a:t>
                      </a:r>
                    </a:p>
                  </a:txBody>
                  <a:tcPr marL="109728" marR="73152" marT="27432" marB="27432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E4055"/>
                          </a:solidFill>
                          <a:latin typeface="X5 Sans"/>
                        </a:rPr>
                        <a:t>мгновенно</a:t>
                      </a:r>
                    </a:p>
                  </a:txBody>
                  <a:tcPr marL="109728" marR="73152" marT="27432" marB="27432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E4055"/>
                          </a:solidFill>
                          <a:latin typeface="X5 Sans"/>
                        </a:rPr>
                        <a:t>UTM→заказ: CAC, ROMI</a:t>
                      </a:r>
                    </a:p>
                  </a:txBody>
                  <a:tcPr marL="109728" marR="73152" marT="27432" marB="27432" anchor="ctr"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E2841"/>
                          </a:solidFill>
                          <a:latin typeface="X5 Sans"/>
                        </a:rPr>
                        <a:t>Поиск/SEO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E4055"/>
                          </a:solidFill>
                          <a:latin typeface="X5 Sans"/>
                        </a:rPr>
                        <a:t>органика · маркетплейсы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E4055"/>
                          </a:solidFill>
                          <a:latin typeface="X5 Sans"/>
                        </a:rPr>
                        <a:t>месяцы–годы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E4055"/>
                          </a:solidFill>
                          <a:latin typeface="X5 Sans"/>
                        </a:rPr>
                        <a:t>реферер «organic»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E2841"/>
                          </a:solidFill>
                          <a:latin typeface="X5 Sans"/>
                        </a:rPr>
                        <a:t>Бренд-трафик</a:t>
                      </a:r>
                    </a:p>
                  </a:txBody>
                  <a:tcPr marL="109728" marR="73152" marT="27432" marB="27432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E4055"/>
                          </a:solidFill>
                          <a:latin typeface="X5 Sans"/>
                        </a:rPr>
                        <a:t>бренд-запросы · direct</a:t>
                      </a:r>
                    </a:p>
                  </a:txBody>
                  <a:tcPr marL="109728" marR="73152" marT="27432" marB="27432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E4055"/>
                          </a:solidFill>
                          <a:latin typeface="X5 Sans"/>
                        </a:rPr>
                        <a:t>следствие инвестиций</a:t>
                      </a:r>
                    </a:p>
                  </a:txBody>
                  <a:tcPr marL="109728" marR="73152" marT="27432" marB="27432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E4055"/>
                          </a:solidFill>
                          <a:latin typeface="X5 Sans"/>
                        </a:rPr>
                        <a:t>брендовые запросы</a:t>
                      </a:r>
                    </a:p>
                  </a:txBody>
                  <a:tcPr marL="109728" marR="73152" marT="27432" marB="27432" anchor="ctr"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E2841"/>
                          </a:solidFill>
                          <a:latin typeface="X5 Sans"/>
                        </a:rPr>
                        <a:t>Инфлюенсеры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E4055"/>
                          </a:solidFill>
                          <a:latin typeface="X5 Sans"/>
                        </a:rPr>
                        <a:t>блогеры · Telegram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E4055"/>
                          </a:solidFill>
                          <a:latin typeface="X5 Sans"/>
                        </a:rPr>
                        <a:t>среднее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E4055"/>
                          </a:solidFill>
                          <a:latin typeface="X5 Sans"/>
                        </a:rPr>
                        <a:t>UTM-ссылки, промокоды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E2841"/>
                          </a:solidFill>
                          <a:latin typeface="X5 Sans"/>
                        </a:rPr>
                        <a:t>Партнёрки</a:t>
                      </a:r>
                    </a:p>
                  </a:txBody>
                  <a:tcPr marL="109728" marR="73152" marT="27432" marB="27432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E4055"/>
                          </a:solidFill>
                          <a:latin typeface="X5 Sans"/>
                        </a:rPr>
                        <a:t>CPA-сети · рефералы</a:t>
                      </a:r>
                    </a:p>
                  </a:txBody>
                  <a:tcPr marL="109728" marR="73152" marT="27432" marB="27432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E4055"/>
                          </a:solidFill>
                          <a:latin typeface="X5 Sans"/>
                        </a:rPr>
                        <a:t>среднее</a:t>
                      </a:r>
                    </a:p>
                  </a:txBody>
                  <a:tcPr marL="109728" marR="73152" marT="27432" marB="27432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E4055"/>
                          </a:solidFill>
                          <a:latin typeface="X5 Sans"/>
                        </a:rPr>
                        <a:t>партнёрский ID</a:t>
                      </a:r>
                    </a:p>
                  </a:txBody>
                  <a:tcPr marL="109728" marR="73152" marT="27432" marB="27432" anchor="ctr"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E2841"/>
                          </a:solidFill>
                          <a:latin typeface="X5 Sans"/>
                        </a:rPr>
                        <a:t>Кросс-промо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E4055"/>
                          </a:solidFill>
                          <a:latin typeface="X5 Sans"/>
                        </a:rPr>
                        <a:t>свои базы · пуши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E4055"/>
                          </a:solidFill>
                          <a:latin typeface="X5 Sans"/>
                        </a:rPr>
                        <a:t>мгновенно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E4055"/>
                          </a:solidFill>
                          <a:latin typeface="X5 Sans"/>
                        </a:rPr>
                        <a:t>deep-links, промокоды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E2841"/>
                          </a:solidFill>
                          <a:latin typeface="X5 Sans"/>
                        </a:rPr>
                        <a:t>Офлайн/медийное</a:t>
                      </a:r>
                    </a:p>
                  </a:txBody>
                  <a:tcPr marL="109728" marR="73152" marT="27432" marB="27432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E4055"/>
                          </a:solidFill>
                          <a:latin typeface="X5 Sans"/>
                        </a:rPr>
                        <a:t>ТВ · радио · наружка</a:t>
                      </a:r>
                    </a:p>
                  </a:txBody>
                  <a:tcPr marL="109728" marR="73152" marT="27432" marB="27432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E4055"/>
                          </a:solidFill>
                          <a:latin typeface="X5 Sans"/>
                        </a:rPr>
                        <a:t>недели–месяцы</a:t>
                      </a:r>
                    </a:p>
                  </a:txBody>
                  <a:tcPr marL="109728" marR="73152" marT="27432" marB="27432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E4055"/>
                          </a:solidFill>
                          <a:latin typeface="X5 Sans"/>
                        </a:rPr>
                        <a:t>НЕ размечается — спецметоды</a:t>
                      </a:r>
                    </a:p>
                  </a:txBody>
                  <a:tcPr marL="109728" marR="73152" marT="27432" marB="27432" anchor="ctr"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Текстовый блок">
            <a:extLst>
              <a:ext uri="{FF2B5EF4-FFF2-40B4-BE49-F238E27FC236}">
                <a16:creationId xmlns:a16="http://schemas.microsoft.com/office/drawing/2014/main" id="{83BF2DA4-8395-4896-98A1-EE8ADF637024}"/>
              </a:ext>
            </a:extLst>
          </p:cNvPr>
          <p:cNvSpPr>
            <a:spLocks noGrp="1"/>
          </p:cNvSpPr>
          <p:nvPr/>
        </p:nvSpPr>
        <p:spPr>
          <a:xfrm>
            <a:off x="476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Список">
            <a:extLst>
              <a:ext uri="{FF2B5EF4-FFF2-40B4-BE49-F238E27FC236}">
                <a16:creationId xmlns:a16="http://schemas.microsoft.com/office/drawing/2014/main" id="{EE991465-5A34-4773-A228-4F61ECBBE8E6}"/>
              </a:ext>
            </a:extLst>
          </p:cNvPr>
          <p:cNvSpPr>
            <a:spLocks noGrp="1"/>
          </p:cNvSpPr>
          <p:nvPr/>
        </p:nvSpPr>
        <p:spPr>
          <a:xfrm>
            <a:off x="9239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Заголовок">
            <a:extLst>
              <a:ext uri="{FF2B5EF4-FFF2-40B4-BE49-F238E27FC236}">
                <a16:creationId xmlns:a16="http://schemas.microsoft.com/office/drawing/2014/main" id="{70B4469F-6CF4-4B36-8D14-80B170FE0D58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100" b="0">
                <a:solidFill>
                  <a:srgbClr val="3A3A3A"/>
                </a:solidFill>
                <a:latin typeface="X5 Sans Medium"/>
              </a:rPr>
              <a:t>Карта каналов: скорость × измеримость</a:t>
            </a:r>
          </a:p>
        </p:txBody>
      </p:sp>
      <p:sp>
        <p:nvSpPr>
          <p:cNvPr id="6" name="Подзаголовок">
            <a:extLst>
              <a:ext uri="{FF2B5EF4-FFF2-40B4-BE49-F238E27FC236}">
                <a16:creationId xmlns:a16="http://schemas.microsoft.com/office/drawing/2014/main" id="{EADA99A8-63FD-4201-8FB7-7752A0FD2CE4}"/>
              </a:ext>
            </a:extLst>
          </p:cNvPr>
          <p:cNvSpPr>
            <a:spLocks noGrp="1"/>
          </p:cNvSpPr>
          <p:nvPr/>
        </p:nvSpPr>
        <p:spPr>
          <a:xfrm>
            <a:off x="476250" y="1485900"/>
            <a:ext cx="857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0">
                <a:solidFill>
                  <a:srgbClr val="3A3A3A"/>
                </a:solidFill>
                <a:latin typeface="X5 Sans"/>
              </a:rPr>
              <a:t>Канал, который нельзя разметить, — не «бесплатный»: у него другой способ измерения</a:t>
            </a:r>
          </a:p>
        </p:txBody>
      </p:sp>
      <p:sp>
        <p:nvSpPr>
          <p:cNvPr id="7" name="Текстовый блок — заголовок">
            <a:extLst>
              <a:ext uri="{FF2B5EF4-FFF2-40B4-BE49-F238E27FC236}">
                <a16:creationId xmlns:a16="http://schemas.microsoft.com/office/drawing/2014/main" id="{60D8FFDF-B59C-4B0A-8CBE-3EF79B76F9B8}"/>
              </a:ext>
            </a:extLst>
          </p:cNvPr>
          <p:cNvSpPr>
            <a:spLocks noGrp="1"/>
          </p:cNvSpPr>
          <p:nvPr/>
        </p:nvSpPr>
        <p:spPr>
          <a:xfrm>
            <a:off x="800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8" name="Текстовый блок — текст">
            <a:extLst>
              <a:ext uri="{FF2B5EF4-FFF2-40B4-BE49-F238E27FC236}">
                <a16:creationId xmlns:a16="http://schemas.microsoft.com/office/drawing/2014/main" id="{AC333327-0196-4226-8AE6-135E26DFFEF0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79248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9" name="Список — заголовок">
            <a:extLst>
              <a:ext uri="{FF2B5EF4-FFF2-40B4-BE49-F238E27FC236}">
                <a16:creationId xmlns:a16="http://schemas.microsoft.com/office/drawing/2014/main" id="{3C6A7525-86DB-4554-B760-371C8510005B}"/>
              </a:ext>
            </a:extLst>
          </p:cNvPr>
          <p:cNvSpPr>
            <a:spLocks noGrp="1"/>
          </p:cNvSpPr>
          <p:nvPr/>
        </p:nvSpPr>
        <p:spPr>
          <a:xfrm>
            <a:off x="9563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10" name="Список — вводная">
            <a:extLst>
              <a:ext uri="{FF2B5EF4-FFF2-40B4-BE49-F238E27FC236}">
                <a16:creationId xmlns:a16="http://schemas.microsoft.com/office/drawing/2014/main" id="{EDD98C9F-4A8D-400A-82D5-F1B2EB5BE324}"/>
              </a:ext>
            </a:extLst>
          </p:cNvPr>
          <p:cNvSpPr>
            <a:spLocks noGrp="1"/>
          </p:cNvSpPr>
          <p:nvPr/>
        </p:nvSpPr>
        <p:spPr>
          <a:xfrm>
            <a:off x="9563100" y="3848100"/>
            <a:ext cx="7924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11" name="Список — пункты">
            <a:extLst>
              <a:ext uri="{FF2B5EF4-FFF2-40B4-BE49-F238E27FC236}">
                <a16:creationId xmlns:a16="http://schemas.microsoft.com/office/drawing/2014/main" id="{F442EF30-93C7-4546-9525-C1AA3D745C53}"/>
              </a:ext>
            </a:extLst>
          </p:cNvPr>
          <p:cNvSpPr>
            <a:spLocks noGrp="1"/>
          </p:cNvSpPr>
          <p:nvPr/>
        </p:nvSpPr>
        <p:spPr>
          <a:xfrm>
            <a:off x="9715500" y="4933950"/>
            <a:ext cx="7620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5"/>
          <a:stretch/>
        </p:blipFill>
        <p:spPr>
          <a:xfrm rot="879000">
            <a:off x="14963775" y="1371600"/>
            <a:ext cx="2276475" cy="2276475"/>
          </a:xfrm>
          <a:prstGeom prst="rect">
            <a:avLst/>
          </a:prstGeom>
        </p:spPr>
      </p:pic>
      <p:pic>
        <p:nvPicPr>
          <p:cNvPr id="33" name="Рисунок 3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095875" y="6562725"/>
            <a:ext cx="4467225" cy="3724275"/>
          </a:xfrm>
          <a:prstGeom prst="rect">
            <a:avLst/>
          </a:prstGeom>
        </p:spPr>
      </p:pic>
      <p:pic>
        <p:nvPicPr>
          <p:cNvPr id="34" name="Рисунок 33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82379" y="9186863"/>
            <a:ext cx="2083242" cy="623888"/>
          </a:xfrm>
          <a:prstGeom prst="rect">
            <a:avLst/>
          </a:prstGeom>
        </p:spPr>
      </p:pic>
      <p:sp>
        <p:nvSpPr>
          <p:cNvPr id="15" name="Номер страницы">
            <a:extLst>
              <a:ext uri="{FF2B5EF4-FFF2-40B4-BE49-F238E27FC236}">
                <a16:creationId xmlns:a16="http://schemas.microsoft.com/office/drawing/2014/main" id="{8CB3DCAF-5969-49CE-B198-E4C5CEA31C56}"/>
              </a:ext>
            </a:extLst>
          </p:cNvPr>
          <p:cNvSpPr>
            <a:spLocks noGrp="1"/>
          </p:cNvSpPr>
          <p:nvPr/>
        </p:nvSpPr>
        <p:spPr>
          <a:xfrm>
            <a:off x="16859250" y="94678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 b="0"/>
              <a:t>4</a:t>
            </a:r>
          </a:p>
        </p:txBody>
      </p:sp>
      <p:pic>
        <p:nvPicPr>
          <p:cNvPr id="35" name="Picture 34" descr="chan_01_ma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39326" y="2514600"/>
            <a:ext cx="13209347" cy="6537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Текстовый блок">
            <a:extLst>
              <a:ext uri="{FF2B5EF4-FFF2-40B4-BE49-F238E27FC236}">
                <a16:creationId xmlns:a16="http://schemas.microsoft.com/office/drawing/2014/main" id="{83BF2DA4-8395-4896-98A1-EE8ADF637024}"/>
              </a:ext>
            </a:extLst>
          </p:cNvPr>
          <p:cNvSpPr>
            <a:spLocks noGrp="1"/>
          </p:cNvSpPr>
          <p:nvPr/>
        </p:nvSpPr>
        <p:spPr>
          <a:xfrm>
            <a:off x="511131" y="31623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Список">
            <a:extLst>
              <a:ext uri="{FF2B5EF4-FFF2-40B4-BE49-F238E27FC236}">
                <a16:creationId xmlns:a16="http://schemas.microsoft.com/office/drawing/2014/main" id="{EE991465-5A34-4773-A228-4F61ECBBE8E6}"/>
              </a:ext>
            </a:extLst>
          </p:cNvPr>
          <p:cNvSpPr>
            <a:spLocks noGrp="1"/>
          </p:cNvSpPr>
          <p:nvPr/>
        </p:nvSpPr>
        <p:spPr>
          <a:xfrm>
            <a:off x="9239252" y="3157538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Заголовок">
            <a:extLst>
              <a:ext uri="{FF2B5EF4-FFF2-40B4-BE49-F238E27FC236}">
                <a16:creationId xmlns:a16="http://schemas.microsoft.com/office/drawing/2014/main" id="{70B4469F-6CF4-4B36-8D14-80B170FE0D58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700" b="0">
                <a:solidFill>
                  <a:srgbClr val="3A3A3A"/>
                </a:solidFill>
                <a:latin typeface="X5 Sans Medium"/>
              </a:rPr>
              <a:t>Тип рекламы → показатель продукта</a:t>
            </a:r>
          </a:p>
        </p:txBody>
      </p:sp>
      <p:sp>
        <p:nvSpPr>
          <p:cNvPr id="6" name="Подзаголовок">
            <a:extLst>
              <a:ext uri="{FF2B5EF4-FFF2-40B4-BE49-F238E27FC236}">
                <a16:creationId xmlns:a16="http://schemas.microsoft.com/office/drawing/2014/main" id="{EADA99A8-63FD-4201-8FB7-7752A0FD2CE4}"/>
              </a:ext>
            </a:extLst>
          </p:cNvPr>
          <p:cNvSpPr>
            <a:spLocks noGrp="1"/>
          </p:cNvSpPr>
          <p:nvPr/>
        </p:nvSpPr>
        <p:spPr>
          <a:xfrm>
            <a:off x="476250" y="1485900"/>
            <a:ext cx="857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0">
                <a:solidFill>
                  <a:srgbClr val="3A3A3A"/>
                </a:solidFill>
                <a:latin typeface="X5 Sans"/>
              </a:rPr>
              <a:t>Одна метрика на все каналы = несправедливость к верху воронки</a:t>
            </a:r>
          </a:p>
        </p:txBody>
      </p:sp>
      <p:sp>
        <p:nvSpPr>
          <p:cNvPr id="7" name="Текстовый блок — заголовок">
            <a:extLst>
              <a:ext uri="{FF2B5EF4-FFF2-40B4-BE49-F238E27FC236}">
                <a16:creationId xmlns:a16="http://schemas.microsoft.com/office/drawing/2014/main" id="{60D8FFDF-B59C-4B0A-8CBE-3EF79B76F9B8}"/>
              </a:ext>
            </a:extLst>
          </p:cNvPr>
          <p:cNvSpPr>
            <a:spLocks noGrp="1"/>
          </p:cNvSpPr>
          <p:nvPr/>
        </p:nvSpPr>
        <p:spPr>
          <a:xfrm>
            <a:off x="800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0">
                <a:solidFill>
                  <a:srgbClr val="3A3A3A"/>
                </a:solidFill>
                <a:latin typeface="X5 Sans Medium"/>
              </a:rPr>
              <a:t>Как работает реклама</a:t>
            </a:r>
          </a:p>
        </p:txBody>
      </p:sp>
      <p:sp>
        <p:nvSpPr>
          <p:cNvPr id="8" name="Текстовый блок — текст">
            <a:extLst>
              <a:ext uri="{FF2B5EF4-FFF2-40B4-BE49-F238E27FC236}">
                <a16:creationId xmlns:a16="http://schemas.microsoft.com/office/drawing/2014/main" id="{AC333327-0196-4226-8AE6-135E26DFFEF0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79248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9" name="Список — заголовок">
            <a:extLst>
              <a:ext uri="{FF2B5EF4-FFF2-40B4-BE49-F238E27FC236}">
                <a16:creationId xmlns:a16="http://schemas.microsoft.com/office/drawing/2014/main" id="{3C6A7525-86DB-4554-B760-371C8510005B}"/>
              </a:ext>
            </a:extLst>
          </p:cNvPr>
          <p:cNvSpPr>
            <a:spLocks noGrp="1"/>
          </p:cNvSpPr>
          <p:nvPr/>
        </p:nvSpPr>
        <p:spPr>
          <a:xfrm>
            <a:off x="9563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10" name="Список — вводная">
            <a:extLst>
              <a:ext uri="{FF2B5EF4-FFF2-40B4-BE49-F238E27FC236}">
                <a16:creationId xmlns:a16="http://schemas.microsoft.com/office/drawing/2014/main" id="{EDD98C9F-4A8D-400A-82D5-F1B2EB5BE324}"/>
              </a:ext>
            </a:extLst>
          </p:cNvPr>
          <p:cNvSpPr>
            <a:spLocks noGrp="1"/>
          </p:cNvSpPr>
          <p:nvPr/>
        </p:nvSpPr>
        <p:spPr>
          <a:xfrm>
            <a:off x="9563100" y="3848100"/>
            <a:ext cx="7924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11" name="Список — пункты">
            <a:extLst>
              <a:ext uri="{FF2B5EF4-FFF2-40B4-BE49-F238E27FC236}">
                <a16:creationId xmlns:a16="http://schemas.microsoft.com/office/drawing/2014/main" id="{F442EF30-93C7-4546-9525-C1AA3D745C53}"/>
              </a:ext>
            </a:extLst>
          </p:cNvPr>
          <p:cNvSpPr>
            <a:spLocks noGrp="1"/>
          </p:cNvSpPr>
          <p:nvPr/>
        </p:nvSpPr>
        <p:spPr>
          <a:xfrm>
            <a:off x="9715500" y="3390900"/>
            <a:ext cx="7620000" cy="5120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0" dirty="0" err="1">
                <a:solidFill>
                  <a:srgbClr val="3A3A3A"/>
                </a:solidFill>
                <a:latin typeface="X5 Sans"/>
              </a:rPr>
              <a:t>Контекст</a:t>
            </a:r>
            <a:r>
              <a:rPr sz="2200" b="0" dirty="0">
                <a:solidFill>
                  <a:srgbClr val="3A3A3A"/>
                </a:solidFill>
                <a:latin typeface="X5 Sans"/>
              </a:rPr>
              <a:t> </a:t>
            </a:r>
            <a:r>
              <a:rPr sz="2200" b="0" dirty="0" err="1">
                <a:solidFill>
                  <a:srgbClr val="3A3A3A"/>
                </a:solidFill>
                <a:latin typeface="X5 Sans"/>
              </a:rPr>
              <a:t>ловит</a:t>
            </a:r>
            <a:r>
              <a:rPr sz="2200" b="0" dirty="0">
                <a:solidFill>
                  <a:srgbClr val="3A3A3A"/>
                </a:solidFill>
                <a:latin typeface="X5 Sans"/>
              </a:rPr>
              <a:t> </a:t>
            </a:r>
            <a:r>
              <a:rPr sz="2200" b="0" dirty="0" err="1">
                <a:solidFill>
                  <a:srgbClr val="3A3A3A"/>
                </a:solidFill>
                <a:latin typeface="X5 Sans"/>
              </a:rPr>
              <a:t>сформированный</a:t>
            </a:r>
            <a:r>
              <a:rPr sz="2200" b="0" dirty="0">
                <a:solidFill>
                  <a:srgbClr val="3A3A3A"/>
                </a:solidFill>
                <a:latin typeface="X5 Sans"/>
              </a:rPr>
              <a:t> </a:t>
            </a:r>
            <a:r>
              <a:rPr sz="2200" b="0" dirty="0" err="1">
                <a:solidFill>
                  <a:srgbClr val="3A3A3A"/>
                </a:solidFill>
                <a:latin typeface="X5 Sans"/>
              </a:rPr>
              <a:t>спрос</a:t>
            </a:r>
            <a:r>
              <a:rPr sz="2200" b="0" dirty="0">
                <a:solidFill>
                  <a:srgbClr val="3A3A3A"/>
                </a:solidFill>
                <a:latin typeface="X5 Sans"/>
              </a:rPr>
              <a:t>: </a:t>
            </a:r>
            <a:r>
              <a:rPr sz="2200" b="0" dirty="0" err="1">
                <a:solidFill>
                  <a:srgbClr val="3A3A3A"/>
                </a:solidFill>
                <a:latin typeface="X5 Sans"/>
              </a:rPr>
              <a:t>конверсия</a:t>
            </a:r>
            <a:r>
              <a:rPr sz="2200" b="0" dirty="0">
                <a:solidFill>
                  <a:srgbClr val="3A3A3A"/>
                </a:solidFill>
                <a:latin typeface="X5 Sans"/>
              </a:rPr>
              <a:t> </a:t>
            </a:r>
            <a:r>
              <a:rPr sz="2200" b="0" dirty="0" err="1">
                <a:solidFill>
                  <a:srgbClr val="3A3A3A"/>
                </a:solidFill>
                <a:latin typeface="X5 Sans"/>
              </a:rPr>
              <a:t>высокая</a:t>
            </a:r>
            <a:endParaRPr lang="ru-RU" sz="2200" b="0" dirty="0">
              <a:solidFill>
                <a:srgbClr val="3A3A3A"/>
              </a:solidFill>
              <a:latin typeface="X5 Sans"/>
            </a:endParaRPr>
          </a:p>
          <a:p>
            <a:pPr algn="l"/>
            <a:endParaRPr sz="2200" b="0" dirty="0">
              <a:solidFill>
                <a:srgbClr val="3A3A3A"/>
              </a:solidFill>
              <a:latin typeface="X5 Sans"/>
            </a:endParaRPr>
          </a:p>
          <a:p>
            <a:r>
              <a:rPr sz="2200" b="0" dirty="0" err="1">
                <a:solidFill>
                  <a:srgbClr val="3A3A3A"/>
                </a:solidFill>
                <a:latin typeface="X5 Sans"/>
              </a:rPr>
              <a:t>Медийка</a:t>
            </a:r>
            <a:r>
              <a:rPr sz="2200" b="0" dirty="0">
                <a:solidFill>
                  <a:srgbClr val="3A3A3A"/>
                </a:solidFill>
                <a:latin typeface="X5 Sans"/>
              </a:rPr>
              <a:t> </a:t>
            </a:r>
            <a:r>
              <a:rPr sz="2200" b="0" dirty="0" err="1">
                <a:solidFill>
                  <a:srgbClr val="3A3A3A"/>
                </a:solidFill>
                <a:latin typeface="X5 Sans"/>
              </a:rPr>
              <a:t>формирует</a:t>
            </a:r>
            <a:r>
              <a:rPr sz="2200" b="0" dirty="0">
                <a:solidFill>
                  <a:srgbClr val="3A3A3A"/>
                </a:solidFill>
                <a:latin typeface="X5 Sans"/>
              </a:rPr>
              <a:t> </a:t>
            </a:r>
            <a:r>
              <a:rPr sz="2200" b="0" dirty="0" err="1">
                <a:solidFill>
                  <a:srgbClr val="3A3A3A"/>
                </a:solidFill>
                <a:latin typeface="X5 Sans"/>
              </a:rPr>
              <a:t>спрос</a:t>
            </a:r>
            <a:r>
              <a:rPr sz="2200" b="0" dirty="0">
                <a:solidFill>
                  <a:srgbClr val="3A3A3A"/>
                </a:solidFill>
                <a:latin typeface="X5 Sans"/>
              </a:rPr>
              <a:t>: </a:t>
            </a:r>
            <a:r>
              <a:rPr sz="2200" b="0" dirty="0" err="1">
                <a:solidFill>
                  <a:srgbClr val="3A3A3A"/>
                </a:solidFill>
                <a:latin typeface="X5 Sans"/>
              </a:rPr>
              <a:t>конверсия</a:t>
            </a:r>
            <a:r>
              <a:rPr sz="2200" b="0" dirty="0">
                <a:solidFill>
                  <a:srgbClr val="3A3A3A"/>
                </a:solidFill>
                <a:latin typeface="X5 Sans"/>
              </a:rPr>
              <a:t> </a:t>
            </a:r>
            <a:r>
              <a:rPr sz="2200" b="0" dirty="0" err="1">
                <a:solidFill>
                  <a:srgbClr val="3A3A3A"/>
                </a:solidFill>
                <a:latin typeface="X5 Sans"/>
              </a:rPr>
              <a:t>ниже</a:t>
            </a:r>
            <a:r>
              <a:rPr sz="2200" b="0" dirty="0">
                <a:solidFill>
                  <a:srgbClr val="3A3A3A"/>
                </a:solidFill>
                <a:latin typeface="X5 Sans"/>
              </a:rPr>
              <a:t>, </a:t>
            </a:r>
            <a:r>
              <a:rPr sz="2200" b="0" dirty="0" err="1">
                <a:solidFill>
                  <a:srgbClr val="3A3A3A"/>
                </a:solidFill>
                <a:latin typeface="X5 Sans"/>
              </a:rPr>
              <a:t>объём</a:t>
            </a:r>
            <a:r>
              <a:rPr sz="2200" b="0" dirty="0">
                <a:solidFill>
                  <a:srgbClr val="3A3A3A"/>
                </a:solidFill>
                <a:latin typeface="X5 Sans"/>
              </a:rPr>
              <a:t> </a:t>
            </a:r>
            <a:r>
              <a:rPr sz="2200" b="0" dirty="0" err="1">
                <a:solidFill>
                  <a:srgbClr val="3A3A3A"/>
                </a:solidFill>
                <a:latin typeface="X5 Sans"/>
              </a:rPr>
              <a:t>больше</a:t>
            </a:r>
            <a:endParaRPr lang="ru-RU" sz="2200" b="0" dirty="0">
              <a:solidFill>
                <a:srgbClr val="3A3A3A"/>
              </a:solidFill>
              <a:latin typeface="X5 Sans"/>
            </a:endParaRPr>
          </a:p>
          <a:p>
            <a:endParaRPr sz="2200" b="0" dirty="0">
              <a:solidFill>
                <a:srgbClr val="3A3A3A"/>
              </a:solidFill>
              <a:latin typeface="X5 Sans"/>
            </a:endParaRPr>
          </a:p>
          <a:p>
            <a:r>
              <a:rPr sz="2200" b="0" dirty="0">
                <a:solidFill>
                  <a:srgbClr val="3A3A3A"/>
                </a:solidFill>
                <a:latin typeface="X5 Sans"/>
              </a:rPr>
              <a:t>ТВ/</a:t>
            </a:r>
            <a:r>
              <a:rPr sz="2200" b="0" dirty="0" err="1">
                <a:solidFill>
                  <a:srgbClr val="3A3A3A"/>
                </a:solidFill>
                <a:latin typeface="X5 Sans"/>
              </a:rPr>
              <a:t>наружка</a:t>
            </a:r>
            <a:r>
              <a:rPr sz="2200" b="0" dirty="0">
                <a:solidFill>
                  <a:srgbClr val="3A3A3A"/>
                </a:solidFill>
                <a:latin typeface="X5 Sans"/>
              </a:rPr>
              <a:t> — </a:t>
            </a:r>
            <a:r>
              <a:rPr sz="2200" b="0" dirty="0" err="1">
                <a:solidFill>
                  <a:srgbClr val="3A3A3A"/>
                </a:solidFill>
                <a:latin typeface="X5 Sans"/>
              </a:rPr>
              <a:t>верх</a:t>
            </a:r>
            <a:r>
              <a:rPr sz="2200" b="0" dirty="0">
                <a:solidFill>
                  <a:srgbClr val="3A3A3A"/>
                </a:solidFill>
                <a:latin typeface="X5 Sans"/>
              </a:rPr>
              <a:t> </a:t>
            </a:r>
            <a:r>
              <a:rPr sz="2200" b="0" dirty="0" err="1">
                <a:solidFill>
                  <a:srgbClr val="3A3A3A"/>
                </a:solidFill>
                <a:latin typeface="X5 Sans"/>
              </a:rPr>
              <a:t>воронки</a:t>
            </a:r>
            <a:r>
              <a:rPr sz="2200" b="0" dirty="0">
                <a:solidFill>
                  <a:srgbClr val="3A3A3A"/>
                </a:solidFill>
                <a:latin typeface="X5 Sans"/>
              </a:rPr>
              <a:t>: </a:t>
            </a:r>
            <a:r>
              <a:rPr sz="2200" b="0" dirty="0" err="1">
                <a:solidFill>
                  <a:srgbClr val="3A3A3A"/>
                </a:solidFill>
                <a:latin typeface="X5 Sans"/>
              </a:rPr>
              <a:t>заказы</a:t>
            </a:r>
            <a:r>
              <a:rPr sz="2200" b="0" dirty="0">
                <a:solidFill>
                  <a:srgbClr val="3A3A3A"/>
                </a:solidFill>
                <a:latin typeface="X5 Sans"/>
              </a:rPr>
              <a:t> «</a:t>
            </a:r>
            <a:r>
              <a:rPr sz="2200" b="0" dirty="0" err="1">
                <a:solidFill>
                  <a:srgbClr val="3A3A3A"/>
                </a:solidFill>
                <a:latin typeface="X5 Sans"/>
              </a:rPr>
              <a:t>через</a:t>
            </a:r>
            <a:r>
              <a:rPr sz="2200" b="0" dirty="0">
                <a:solidFill>
                  <a:srgbClr val="3A3A3A"/>
                </a:solidFill>
                <a:latin typeface="X5 Sans"/>
              </a:rPr>
              <a:t> </a:t>
            </a:r>
            <a:r>
              <a:rPr sz="2200" b="0" dirty="0" err="1">
                <a:solidFill>
                  <a:srgbClr val="3A3A3A"/>
                </a:solidFill>
                <a:latin typeface="X5 Sans"/>
              </a:rPr>
              <a:t>чужую</a:t>
            </a:r>
            <a:r>
              <a:rPr sz="2200" b="0" dirty="0">
                <a:solidFill>
                  <a:srgbClr val="3A3A3A"/>
                </a:solidFill>
                <a:latin typeface="X5 Sans"/>
              </a:rPr>
              <a:t>» </a:t>
            </a:r>
            <a:r>
              <a:rPr sz="2200" b="0" dirty="0" err="1">
                <a:solidFill>
                  <a:srgbClr val="3A3A3A"/>
                </a:solidFill>
                <a:latin typeface="X5 Sans"/>
              </a:rPr>
              <a:t>разметку</a:t>
            </a:r>
            <a:endParaRPr lang="ru-RU" sz="2200" b="0" dirty="0">
              <a:solidFill>
                <a:srgbClr val="3A3A3A"/>
              </a:solidFill>
              <a:latin typeface="X5 Sans"/>
            </a:endParaRPr>
          </a:p>
          <a:p>
            <a:endParaRPr sz="2200" b="0" dirty="0">
              <a:solidFill>
                <a:srgbClr val="3A3A3A"/>
              </a:solidFill>
              <a:latin typeface="X5 Sans"/>
            </a:endParaRPr>
          </a:p>
          <a:p>
            <a:r>
              <a:rPr sz="2200" b="0" dirty="0" err="1">
                <a:solidFill>
                  <a:srgbClr val="3A3A3A"/>
                </a:solidFill>
                <a:latin typeface="X5 Sans"/>
              </a:rPr>
              <a:t>Блогеры</a:t>
            </a:r>
            <a:r>
              <a:rPr sz="2200" b="0" dirty="0">
                <a:solidFill>
                  <a:srgbClr val="3A3A3A"/>
                </a:solidFill>
                <a:latin typeface="X5 Sans"/>
              </a:rPr>
              <a:t> </a:t>
            </a:r>
            <a:r>
              <a:rPr sz="2200" b="0" dirty="0" err="1">
                <a:solidFill>
                  <a:srgbClr val="3A3A3A"/>
                </a:solidFill>
                <a:latin typeface="X5 Sans"/>
              </a:rPr>
              <a:t>конвертируют</a:t>
            </a:r>
            <a:r>
              <a:rPr sz="2200" b="0" dirty="0">
                <a:solidFill>
                  <a:srgbClr val="3A3A3A"/>
                </a:solidFill>
                <a:latin typeface="X5 Sans"/>
              </a:rPr>
              <a:t> </a:t>
            </a:r>
            <a:r>
              <a:rPr sz="2200" b="0" dirty="0" err="1">
                <a:solidFill>
                  <a:srgbClr val="3A3A3A"/>
                </a:solidFill>
                <a:latin typeface="X5 Sans"/>
              </a:rPr>
              <a:t>доверием</a:t>
            </a:r>
            <a:r>
              <a:rPr sz="2200" b="0" dirty="0">
                <a:solidFill>
                  <a:srgbClr val="3A3A3A"/>
                </a:solidFill>
                <a:latin typeface="X5 Sans"/>
              </a:rPr>
              <a:t>: retention </a:t>
            </a:r>
            <a:r>
              <a:rPr sz="2200" b="0" dirty="0" err="1">
                <a:solidFill>
                  <a:srgbClr val="3A3A3A"/>
                </a:solidFill>
                <a:latin typeface="X5 Sans"/>
              </a:rPr>
              <a:t>когорт</a:t>
            </a:r>
            <a:r>
              <a:rPr sz="2200" b="0" dirty="0">
                <a:solidFill>
                  <a:srgbClr val="3A3A3A"/>
                </a:solidFill>
                <a:latin typeface="X5 Sans"/>
              </a:rPr>
              <a:t> </a:t>
            </a:r>
            <a:r>
              <a:rPr sz="2200" b="0" dirty="0" err="1">
                <a:solidFill>
                  <a:srgbClr val="3A3A3A"/>
                </a:solidFill>
                <a:latin typeface="X5 Sans"/>
              </a:rPr>
              <a:t>выше</a:t>
            </a:r>
            <a:endParaRPr lang="ru-RU" sz="2200" b="0" dirty="0">
              <a:solidFill>
                <a:srgbClr val="3A3A3A"/>
              </a:solidFill>
              <a:latin typeface="X5 Sans"/>
            </a:endParaRPr>
          </a:p>
          <a:p>
            <a:endParaRPr sz="2200" b="0" dirty="0">
              <a:solidFill>
                <a:srgbClr val="3A3A3A"/>
              </a:solidFill>
              <a:latin typeface="X5 Sans"/>
            </a:endParaRPr>
          </a:p>
          <a:p>
            <a:r>
              <a:rPr sz="2200" b="0" dirty="0" err="1">
                <a:solidFill>
                  <a:srgbClr val="3A3A3A"/>
                </a:solidFill>
                <a:latin typeface="X5 Sans"/>
              </a:rPr>
              <a:t>Кросс-промо</a:t>
            </a:r>
            <a:r>
              <a:rPr sz="2200" b="0" dirty="0">
                <a:solidFill>
                  <a:srgbClr val="3A3A3A"/>
                </a:solidFill>
                <a:latin typeface="X5 Sans"/>
              </a:rPr>
              <a:t> </a:t>
            </a:r>
            <a:r>
              <a:rPr sz="2200" b="0" dirty="0" err="1">
                <a:solidFill>
                  <a:srgbClr val="3A3A3A"/>
                </a:solidFill>
                <a:latin typeface="X5 Sans"/>
              </a:rPr>
              <a:t>дёшево</a:t>
            </a:r>
            <a:r>
              <a:rPr sz="2200" b="0" dirty="0">
                <a:solidFill>
                  <a:srgbClr val="3A3A3A"/>
                </a:solidFill>
                <a:latin typeface="X5 Sans"/>
              </a:rPr>
              <a:t> — </a:t>
            </a:r>
            <a:r>
              <a:rPr sz="2200" b="0" dirty="0" err="1">
                <a:solidFill>
                  <a:srgbClr val="3A3A3A"/>
                </a:solidFill>
                <a:latin typeface="X5 Sans"/>
              </a:rPr>
              <a:t>каннибализация</a:t>
            </a:r>
            <a:r>
              <a:rPr sz="2200" b="0" dirty="0">
                <a:solidFill>
                  <a:srgbClr val="3A3A3A"/>
                </a:solidFill>
                <a:latin typeface="X5 Sans"/>
              </a:rPr>
              <a:t> </a:t>
            </a:r>
            <a:r>
              <a:rPr sz="2200" b="0" dirty="0" err="1">
                <a:solidFill>
                  <a:srgbClr val="3A3A3A"/>
                </a:solidFill>
                <a:latin typeface="X5 Sans"/>
              </a:rPr>
              <a:t>баз</a:t>
            </a:r>
            <a:r>
              <a:rPr sz="2200" b="0" dirty="0">
                <a:solidFill>
                  <a:srgbClr val="3A3A3A"/>
                </a:solidFill>
                <a:latin typeface="X5 Sans"/>
              </a:rPr>
              <a:t> </a:t>
            </a:r>
            <a:r>
              <a:rPr sz="2200" b="0" dirty="0" err="1">
                <a:solidFill>
                  <a:srgbClr val="3A3A3A"/>
                </a:solidFill>
                <a:latin typeface="X5 Sans"/>
              </a:rPr>
              <a:t>и</a:t>
            </a:r>
            <a:r>
              <a:rPr sz="2200" b="0" dirty="0">
                <a:solidFill>
                  <a:srgbClr val="3A3A3A"/>
                </a:solidFill>
                <a:latin typeface="X5 Sans"/>
              </a:rPr>
              <a:t> </a:t>
            </a:r>
            <a:r>
              <a:rPr sz="2200" b="0" dirty="0" err="1">
                <a:solidFill>
                  <a:srgbClr val="3A3A3A"/>
                </a:solidFill>
                <a:latin typeface="X5 Sans"/>
              </a:rPr>
              <a:t>усталость</a:t>
            </a:r>
            <a:endParaRPr sz="2200" b="0" dirty="0">
              <a:solidFill>
                <a:srgbClr val="3A3A3A"/>
              </a:solidFill>
              <a:latin typeface="X5 Sans"/>
            </a:endParaRP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5"/>
          <a:stretch/>
        </p:blipFill>
        <p:spPr>
          <a:xfrm rot="879000">
            <a:off x="14963775" y="1371600"/>
            <a:ext cx="2276475" cy="2276475"/>
          </a:xfrm>
          <a:prstGeom prst="rect">
            <a:avLst/>
          </a:prstGeom>
        </p:spPr>
      </p:pic>
      <p:pic>
        <p:nvPicPr>
          <p:cNvPr id="33" name="Рисунок 3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095875" y="6562725"/>
            <a:ext cx="4467225" cy="3724275"/>
          </a:xfrm>
          <a:prstGeom prst="rect">
            <a:avLst/>
          </a:prstGeom>
        </p:spPr>
      </p:pic>
      <p:pic>
        <p:nvPicPr>
          <p:cNvPr id="34" name="Рисунок 33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82379" y="9186863"/>
            <a:ext cx="2083242" cy="623888"/>
          </a:xfrm>
          <a:prstGeom prst="rect">
            <a:avLst/>
          </a:prstGeom>
        </p:spPr>
      </p:pic>
      <p:sp>
        <p:nvSpPr>
          <p:cNvPr id="15" name="Номер страницы">
            <a:extLst>
              <a:ext uri="{FF2B5EF4-FFF2-40B4-BE49-F238E27FC236}">
                <a16:creationId xmlns:a16="http://schemas.microsoft.com/office/drawing/2014/main" id="{8CB3DCAF-5969-49CE-B198-E4C5CEA31C56}"/>
              </a:ext>
            </a:extLst>
          </p:cNvPr>
          <p:cNvSpPr>
            <a:spLocks noGrp="1"/>
          </p:cNvSpPr>
          <p:nvPr/>
        </p:nvSpPr>
        <p:spPr>
          <a:xfrm>
            <a:off x="16859250" y="94678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 b="0"/>
              <a:t>5</a:t>
            </a:r>
          </a:p>
        </p:txBody>
      </p:sp>
      <p:pic>
        <p:nvPicPr>
          <p:cNvPr id="2" name="Рисунок 1" descr="Реклама — Викицитатник">
            <a:extLst>
              <a:ext uri="{FF2B5EF4-FFF2-40B4-BE49-F238E27FC236}">
                <a16:creationId xmlns:a16="http://schemas.microsoft.com/office/drawing/2014/main" id="{D0D222EC-DD4A-32D5-D97C-D415F285568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6879" y="3848099"/>
            <a:ext cx="6159092" cy="410606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Текстовый блок">
            <a:extLst>
              <a:ext uri="{FF2B5EF4-FFF2-40B4-BE49-F238E27FC236}">
                <a16:creationId xmlns:a16="http://schemas.microsoft.com/office/drawing/2014/main" id="{83BF2DA4-8395-4896-98A1-EE8ADF637024}"/>
              </a:ext>
            </a:extLst>
          </p:cNvPr>
          <p:cNvSpPr>
            <a:spLocks noGrp="1"/>
          </p:cNvSpPr>
          <p:nvPr/>
        </p:nvSpPr>
        <p:spPr>
          <a:xfrm>
            <a:off x="476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Список">
            <a:extLst>
              <a:ext uri="{FF2B5EF4-FFF2-40B4-BE49-F238E27FC236}">
                <a16:creationId xmlns:a16="http://schemas.microsoft.com/office/drawing/2014/main" id="{EE991465-5A34-4773-A228-4F61ECBBE8E6}"/>
              </a:ext>
            </a:extLst>
          </p:cNvPr>
          <p:cNvSpPr>
            <a:spLocks noGrp="1"/>
          </p:cNvSpPr>
          <p:nvPr/>
        </p:nvSpPr>
        <p:spPr>
          <a:xfrm>
            <a:off x="9239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Заголовок">
            <a:extLst>
              <a:ext uri="{FF2B5EF4-FFF2-40B4-BE49-F238E27FC236}">
                <a16:creationId xmlns:a16="http://schemas.microsoft.com/office/drawing/2014/main" id="{70B4469F-6CF4-4B36-8D14-80B170FE0D58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100" b="0">
                <a:solidFill>
                  <a:srgbClr val="3A3A3A"/>
                </a:solidFill>
                <a:latin typeface="X5 Sans Medium"/>
              </a:rPr>
              <a:t>Разные рекламы — на разных этажах воронки</a:t>
            </a:r>
          </a:p>
        </p:txBody>
      </p:sp>
      <p:sp>
        <p:nvSpPr>
          <p:cNvPr id="6" name="Подзаголовок">
            <a:extLst>
              <a:ext uri="{FF2B5EF4-FFF2-40B4-BE49-F238E27FC236}">
                <a16:creationId xmlns:a16="http://schemas.microsoft.com/office/drawing/2014/main" id="{EADA99A8-63FD-4201-8FB7-7752A0FD2CE4}"/>
              </a:ext>
            </a:extLst>
          </p:cNvPr>
          <p:cNvSpPr>
            <a:spLocks noGrp="1"/>
          </p:cNvSpPr>
          <p:nvPr/>
        </p:nvSpPr>
        <p:spPr>
          <a:xfrm>
            <a:off x="476250" y="1485900"/>
            <a:ext cx="857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0">
                <a:solidFill>
                  <a:srgbClr val="3A3A3A"/>
                </a:solidFill>
                <a:latin typeface="X5 Sans"/>
              </a:rPr>
              <a:t>Поиск ловит спрос, медийка и ТВ его создают, CRM возвращает — одной метрикой не измерить</a:t>
            </a:r>
          </a:p>
        </p:txBody>
      </p:sp>
      <p:sp>
        <p:nvSpPr>
          <p:cNvPr id="7" name="Текстовый блок — заголовок">
            <a:extLst>
              <a:ext uri="{FF2B5EF4-FFF2-40B4-BE49-F238E27FC236}">
                <a16:creationId xmlns:a16="http://schemas.microsoft.com/office/drawing/2014/main" id="{60D8FFDF-B59C-4B0A-8CBE-3EF79B76F9B8}"/>
              </a:ext>
            </a:extLst>
          </p:cNvPr>
          <p:cNvSpPr>
            <a:spLocks noGrp="1"/>
          </p:cNvSpPr>
          <p:nvPr/>
        </p:nvSpPr>
        <p:spPr>
          <a:xfrm>
            <a:off x="800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8" name="Текстовый блок — текст">
            <a:extLst>
              <a:ext uri="{FF2B5EF4-FFF2-40B4-BE49-F238E27FC236}">
                <a16:creationId xmlns:a16="http://schemas.microsoft.com/office/drawing/2014/main" id="{AC333327-0196-4226-8AE6-135E26DFFEF0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79248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9" name="Список — заголовок">
            <a:extLst>
              <a:ext uri="{FF2B5EF4-FFF2-40B4-BE49-F238E27FC236}">
                <a16:creationId xmlns:a16="http://schemas.microsoft.com/office/drawing/2014/main" id="{3C6A7525-86DB-4554-B760-371C8510005B}"/>
              </a:ext>
            </a:extLst>
          </p:cNvPr>
          <p:cNvSpPr>
            <a:spLocks noGrp="1"/>
          </p:cNvSpPr>
          <p:nvPr/>
        </p:nvSpPr>
        <p:spPr>
          <a:xfrm>
            <a:off x="9563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10" name="Список — вводная">
            <a:extLst>
              <a:ext uri="{FF2B5EF4-FFF2-40B4-BE49-F238E27FC236}">
                <a16:creationId xmlns:a16="http://schemas.microsoft.com/office/drawing/2014/main" id="{EDD98C9F-4A8D-400A-82D5-F1B2EB5BE324}"/>
              </a:ext>
            </a:extLst>
          </p:cNvPr>
          <p:cNvSpPr>
            <a:spLocks noGrp="1"/>
          </p:cNvSpPr>
          <p:nvPr/>
        </p:nvSpPr>
        <p:spPr>
          <a:xfrm>
            <a:off x="9563100" y="3848100"/>
            <a:ext cx="7924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11" name="Список — пункты">
            <a:extLst>
              <a:ext uri="{FF2B5EF4-FFF2-40B4-BE49-F238E27FC236}">
                <a16:creationId xmlns:a16="http://schemas.microsoft.com/office/drawing/2014/main" id="{F442EF30-93C7-4546-9525-C1AA3D745C53}"/>
              </a:ext>
            </a:extLst>
          </p:cNvPr>
          <p:cNvSpPr>
            <a:spLocks noGrp="1"/>
          </p:cNvSpPr>
          <p:nvPr/>
        </p:nvSpPr>
        <p:spPr>
          <a:xfrm>
            <a:off x="9715500" y="4933950"/>
            <a:ext cx="7620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5"/>
          <a:stretch/>
        </p:blipFill>
        <p:spPr>
          <a:xfrm rot="879000">
            <a:off x="14963775" y="1371600"/>
            <a:ext cx="2276475" cy="2276475"/>
          </a:xfrm>
          <a:prstGeom prst="rect">
            <a:avLst/>
          </a:prstGeom>
        </p:spPr>
      </p:pic>
      <p:pic>
        <p:nvPicPr>
          <p:cNvPr id="33" name="Рисунок 3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095875" y="6562725"/>
            <a:ext cx="4467225" cy="3724275"/>
          </a:xfrm>
          <a:prstGeom prst="rect">
            <a:avLst/>
          </a:prstGeom>
        </p:spPr>
      </p:pic>
      <p:pic>
        <p:nvPicPr>
          <p:cNvPr id="34" name="Рисунок 33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82379" y="9186863"/>
            <a:ext cx="2083242" cy="623888"/>
          </a:xfrm>
          <a:prstGeom prst="rect">
            <a:avLst/>
          </a:prstGeom>
        </p:spPr>
      </p:pic>
      <p:sp>
        <p:nvSpPr>
          <p:cNvPr id="15" name="Номер страницы">
            <a:extLst>
              <a:ext uri="{FF2B5EF4-FFF2-40B4-BE49-F238E27FC236}">
                <a16:creationId xmlns:a16="http://schemas.microsoft.com/office/drawing/2014/main" id="{8CB3DCAF-5969-49CE-B198-E4C5CEA31C56}"/>
              </a:ext>
            </a:extLst>
          </p:cNvPr>
          <p:cNvSpPr>
            <a:spLocks noGrp="1"/>
          </p:cNvSpPr>
          <p:nvPr/>
        </p:nvSpPr>
        <p:spPr>
          <a:xfrm>
            <a:off x="16859250" y="94678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 b="0"/>
              <a:t>6</a:t>
            </a:r>
          </a:p>
        </p:txBody>
      </p:sp>
      <p:pic>
        <p:nvPicPr>
          <p:cNvPr id="35" name="Picture 34" descr="chan_02_floor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00200" y="2200408"/>
            <a:ext cx="14426117" cy="68521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62800" y="1933575"/>
            <a:ext cx="8715375" cy="8353425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190601" y="504825"/>
            <a:ext cx="2876741" cy="2876741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5395519" y="6967442"/>
            <a:ext cx="2688194" cy="3191637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4892528" y="1556671"/>
            <a:ext cx="2344484" cy="2344484"/>
          </a:xfrm>
          <a:prstGeom prst="rect">
            <a:avLst/>
          </a:prstGeom>
        </p:spPr>
      </p:pic>
      <p:sp>
        <p:nvSpPr>
          <p:cNvPr id="6" name="Заголовок">
            <a:extLst>
              <a:ext uri="{FF2B5EF4-FFF2-40B4-BE49-F238E27FC236}">
                <a16:creationId xmlns:a16="http://schemas.microsoft.com/office/drawing/2014/main" id="{498BBE52-B56A-4F73-8565-575347066D87}"/>
              </a:ext>
            </a:extLst>
          </p:cNvPr>
          <p:cNvSpPr>
            <a:spLocks noGrp="1"/>
          </p:cNvSpPr>
          <p:nvPr/>
        </p:nvSpPr>
        <p:spPr>
          <a:xfrm>
            <a:off x="476250" y="2895600"/>
            <a:ext cx="7429500" cy="2171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200" b="0">
                <a:solidFill>
                  <a:srgbClr val="3A3A3A"/>
                </a:solidFill>
                <a:latin typeface="X5 Sans Medium"/>
              </a:rPr>
              <a:t>Быстрые деньги и игла перформанса</a:t>
            </a:r>
          </a:p>
        </p:txBody>
      </p:sp>
      <p:sp>
        <p:nvSpPr>
          <p:cNvPr id="7" name="Пояснение">
            <a:extLst>
              <a:ext uri="{FF2B5EF4-FFF2-40B4-BE49-F238E27FC236}">
                <a16:creationId xmlns:a16="http://schemas.microsoft.com/office/drawing/2014/main" id="{7FDFA29B-3B26-457E-8F99-F72D6D317D5E}"/>
              </a:ext>
            </a:extLst>
          </p:cNvPr>
          <p:cNvSpPr>
            <a:spLocks noGrp="1"/>
          </p:cNvSpPr>
          <p:nvPr/>
        </p:nvSpPr>
        <p:spPr>
          <a:xfrm>
            <a:off x="476250" y="5307626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600" b="0" dirty="0">
                <a:solidFill>
                  <a:srgbClr val="3A3A3A"/>
                </a:solidFill>
                <a:latin typeface="X5 Sans Medium"/>
              </a:rPr>
              <a:t>LTV/CAC </a:t>
            </a:r>
            <a:r>
              <a:rPr sz="2600" b="0" dirty="0" err="1">
                <a:solidFill>
                  <a:srgbClr val="3A3A3A"/>
                </a:solidFill>
                <a:latin typeface="X5 Sans Medium"/>
              </a:rPr>
              <a:t>когорт</a:t>
            </a:r>
            <a:r>
              <a:rPr sz="2600" b="0" dirty="0">
                <a:solidFill>
                  <a:srgbClr val="3A3A3A"/>
                </a:solidFill>
                <a:latin typeface="X5 Sans Medium"/>
              </a:rPr>
              <a:t> &lt; 1–3 </a:t>
            </a:r>
            <a:endParaRPr lang="ru-RU" sz="2600" b="0" dirty="0">
              <a:solidFill>
                <a:srgbClr val="3A3A3A"/>
              </a:solidFill>
              <a:latin typeface="X5 Sans Medium"/>
            </a:endParaRPr>
          </a:p>
          <a:p>
            <a:pPr algn="l"/>
            <a:r>
              <a:rPr sz="2600" b="0" dirty="0">
                <a:solidFill>
                  <a:srgbClr val="3A3A3A"/>
                </a:solidFill>
                <a:latin typeface="X5 Sans Medium"/>
              </a:rPr>
              <a:t>LTV → </a:t>
            </a:r>
            <a:r>
              <a:rPr sz="2600" b="0" dirty="0" err="1">
                <a:solidFill>
                  <a:srgbClr val="3A3A3A"/>
                </a:solidFill>
                <a:latin typeface="X5 Sans Medium"/>
              </a:rPr>
              <a:t>строить</a:t>
            </a:r>
            <a:r>
              <a:rPr sz="2600" b="0" dirty="0">
                <a:solidFill>
                  <a:srgbClr val="3A3A3A"/>
                </a:solidFill>
                <a:latin typeface="X5 Sans Medium"/>
              </a:rPr>
              <a:t> </a:t>
            </a:r>
            <a:r>
              <a:rPr sz="2600" b="0" dirty="0" err="1">
                <a:solidFill>
                  <a:srgbClr val="3A3A3A"/>
                </a:solidFill>
                <a:latin typeface="X5 Sans Medium"/>
              </a:rPr>
              <a:t>активы</a:t>
            </a:r>
            <a:r>
              <a:rPr sz="2600" b="0" dirty="0">
                <a:solidFill>
                  <a:srgbClr val="3A3A3A"/>
                </a:solidFill>
                <a:latin typeface="X5 Sans Medium"/>
              </a:rPr>
              <a:t> (SEO, </a:t>
            </a:r>
            <a:r>
              <a:rPr sz="2600" b="0" dirty="0" err="1">
                <a:solidFill>
                  <a:srgbClr val="3A3A3A"/>
                </a:solidFill>
                <a:latin typeface="X5 Sans Medium"/>
              </a:rPr>
              <a:t>бренд</a:t>
            </a:r>
            <a:r>
              <a:rPr sz="2600" b="0" dirty="0">
                <a:solidFill>
                  <a:srgbClr val="3A3A3A"/>
                </a:solidFill>
                <a:latin typeface="X5 Sans Medium"/>
              </a:rPr>
              <a:t>, </a:t>
            </a:r>
            <a:r>
              <a:rPr sz="2600" b="0" dirty="0" err="1">
                <a:solidFill>
                  <a:srgbClr val="3A3A3A"/>
                </a:solidFill>
                <a:latin typeface="X5 Sans Medium"/>
              </a:rPr>
              <a:t>рефералы</a:t>
            </a:r>
            <a:r>
              <a:rPr sz="2600" b="0" dirty="0">
                <a:solidFill>
                  <a:srgbClr val="3A3A3A"/>
                </a:solidFill>
                <a:latin typeface="X5 Sans Medium"/>
              </a:rPr>
              <a:t>)</a:t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77115" y="476250"/>
            <a:ext cx="1034305" cy="929926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027176" y="907322"/>
            <a:ext cx="453200" cy="500408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499806" y="907592"/>
            <a:ext cx="376904" cy="508821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2076846" y="886682"/>
            <a:ext cx="2050036" cy="67541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Текстовый блок">
            <a:extLst>
              <a:ext uri="{FF2B5EF4-FFF2-40B4-BE49-F238E27FC236}">
                <a16:creationId xmlns:a16="http://schemas.microsoft.com/office/drawing/2014/main" id="{83BF2DA4-8395-4896-98A1-EE8ADF637024}"/>
              </a:ext>
            </a:extLst>
          </p:cNvPr>
          <p:cNvSpPr>
            <a:spLocks noGrp="1"/>
          </p:cNvSpPr>
          <p:nvPr/>
        </p:nvSpPr>
        <p:spPr>
          <a:xfrm>
            <a:off x="476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Список">
            <a:extLst>
              <a:ext uri="{FF2B5EF4-FFF2-40B4-BE49-F238E27FC236}">
                <a16:creationId xmlns:a16="http://schemas.microsoft.com/office/drawing/2014/main" id="{EE991465-5A34-4773-A228-4F61ECBBE8E6}"/>
              </a:ext>
            </a:extLst>
          </p:cNvPr>
          <p:cNvSpPr>
            <a:spLocks noGrp="1"/>
          </p:cNvSpPr>
          <p:nvPr/>
        </p:nvSpPr>
        <p:spPr>
          <a:xfrm>
            <a:off x="9239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Заголовок">
            <a:extLst>
              <a:ext uri="{FF2B5EF4-FFF2-40B4-BE49-F238E27FC236}">
                <a16:creationId xmlns:a16="http://schemas.microsoft.com/office/drawing/2014/main" id="{70B4469F-6CF4-4B36-8D14-80B170FE0D58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500" b="0">
                <a:solidFill>
                  <a:srgbClr val="3A3A3A"/>
                </a:solidFill>
                <a:latin typeface="X5 Sans Medium"/>
              </a:rPr>
              <a:t>Игла перформанса</a:t>
            </a:r>
          </a:p>
        </p:txBody>
      </p:sp>
      <p:sp>
        <p:nvSpPr>
          <p:cNvPr id="6" name="Подзаголовок">
            <a:extLst>
              <a:ext uri="{FF2B5EF4-FFF2-40B4-BE49-F238E27FC236}">
                <a16:creationId xmlns:a16="http://schemas.microsoft.com/office/drawing/2014/main" id="{EADA99A8-63FD-4201-8FB7-7752A0FD2CE4}"/>
              </a:ext>
            </a:extLst>
          </p:cNvPr>
          <p:cNvSpPr>
            <a:spLocks noGrp="1"/>
          </p:cNvSpPr>
          <p:nvPr/>
        </p:nvSpPr>
        <p:spPr>
          <a:xfrm>
            <a:off x="476250" y="1485900"/>
            <a:ext cx="857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0">
                <a:solidFill>
                  <a:srgbClr val="3A3A3A"/>
                </a:solidFill>
                <a:latin typeface="X5 Sans"/>
              </a:rPr>
              <a:t>Аукцион греется по 3–5% в неделю — смотрите тренд CAC, а не месячный срез</a:t>
            </a:r>
          </a:p>
        </p:txBody>
      </p:sp>
      <p:sp>
        <p:nvSpPr>
          <p:cNvPr id="7" name="Текстовый блок — заголовок">
            <a:extLst>
              <a:ext uri="{FF2B5EF4-FFF2-40B4-BE49-F238E27FC236}">
                <a16:creationId xmlns:a16="http://schemas.microsoft.com/office/drawing/2014/main" id="{60D8FFDF-B59C-4B0A-8CBE-3EF79B76F9B8}"/>
              </a:ext>
            </a:extLst>
          </p:cNvPr>
          <p:cNvSpPr>
            <a:spLocks noGrp="1"/>
          </p:cNvSpPr>
          <p:nvPr/>
        </p:nvSpPr>
        <p:spPr>
          <a:xfrm>
            <a:off x="800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8" name="Текстовый блок — текст">
            <a:extLst>
              <a:ext uri="{FF2B5EF4-FFF2-40B4-BE49-F238E27FC236}">
                <a16:creationId xmlns:a16="http://schemas.microsoft.com/office/drawing/2014/main" id="{AC333327-0196-4226-8AE6-135E26DFFEF0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79248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9" name="Список — заголовок">
            <a:extLst>
              <a:ext uri="{FF2B5EF4-FFF2-40B4-BE49-F238E27FC236}">
                <a16:creationId xmlns:a16="http://schemas.microsoft.com/office/drawing/2014/main" id="{3C6A7525-86DB-4554-B760-371C8510005B}"/>
              </a:ext>
            </a:extLst>
          </p:cNvPr>
          <p:cNvSpPr>
            <a:spLocks noGrp="1"/>
          </p:cNvSpPr>
          <p:nvPr/>
        </p:nvSpPr>
        <p:spPr>
          <a:xfrm>
            <a:off x="9563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10" name="Список — вводная">
            <a:extLst>
              <a:ext uri="{FF2B5EF4-FFF2-40B4-BE49-F238E27FC236}">
                <a16:creationId xmlns:a16="http://schemas.microsoft.com/office/drawing/2014/main" id="{EDD98C9F-4A8D-400A-82D5-F1B2EB5BE324}"/>
              </a:ext>
            </a:extLst>
          </p:cNvPr>
          <p:cNvSpPr>
            <a:spLocks noGrp="1"/>
          </p:cNvSpPr>
          <p:nvPr/>
        </p:nvSpPr>
        <p:spPr>
          <a:xfrm>
            <a:off x="9563100" y="3848100"/>
            <a:ext cx="7924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11" name="Список — пункты">
            <a:extLst>
              <a:ext uri="{FF2B5EF4-FFF2-40B4-BE49-F238E27FC236}">
                <a16:creationId xmlns:a16="http://schemas.microsoft.com/office/drawing/2014/main" id="{F442EF30-93C7-4546-9525-C1AA3D745C53}"/>
              </a:ext>
            </a:extLst>
          </p:cNvPr>
          <p:cNvSpPr>
            <a:spLocks noGrp="1"/>
          </p:cNvSpPr>
          <p:nvPr/>
        </p:nvSpPr>
        <p:spPr>
          <a:xfrm>
            <a:off x="9715500" y="4933950"/>
            <a:ext cx="7620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5"/>
          <a:stretch/>
        </p:blipFill>
        <p:spPr>
          <a:xfrm rot="879000">
            <a:off x="14963775" y="1371600"/>
            <a:ext cx="2276475" cy="2276475"/>
          </a:xfrm>
          <a:prstGeom prst="rect">
            <a:avLst/>
          </a:prstGeom>
        </p:spPr>
      </p:pic>
      <p:pic>
        <p:nvPicPr>
          <p:cNvPr id="33" name="Рисунок 3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095875" y="6562725"/>
            <a:ext cx="4467225" cy="3724275"/>
          </a:xfrm>
          <a:prstGeom prst="rect">
            <a:avLst/>
          </a:prstGeom>
        </p:spPr>
      </p:pic>
      <p:pic>
        <p:nvPicPr>
          <p:cNvPr id="34" name="Рисунок 33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82379" y="9186863"/>
            <a:ext cx="2083242" cy="623888"/>
          </a:xfrm>
          <a:prstGeom prst="rect">
            <a:avLst/>
          </a:prstGeom>
        </p:spPr>
      </p:pic>
      <p:sp>
        <p:nvSpPr>
          <p:cNvPr id="15" name="Номер страницы">
            <a:extLst>
              <a:ext uri="{FF2B5EF4-FFF2-40B4-BE49-F238E27FC236}">
                <a16:creationId xmlns:a16="http://schemas.microsoft.com/office/drawing/2014/main" id="{8CB3DCAF-5969-49CE-B198-E4C5CEA31C56}"/>
              </a:ext>
            </a:extLst>
          </p:cNvPr>
          <p:cNvSpPr>
            <a:spLocks noGrp="1"/>
          </p:cNvSpPr>
          <p:nvPr/>
        </p:nvSpPr>
        <p:spPr>
          <a:xfrm>
            <a:off x="16859250" y="94678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 b="0"/>
              <a:t>8</a:t>
            </a:r>
          </a:p>
        </p:txBody>
      </p:sp>
      <p:pic>
        <p:nvPicPr>
          <p:cNvPr id="35" name="Picture 34" descr="chan_03_need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2514600"/>
            <a:ext cx="16824960" cy="642126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62800" y="1933575"/>
            <a:ext cx="8715375" cy="8353425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190601" y="504825"/>
            <a:ext cx="2876741" cy="2876741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5395519" y="6967442"/>
            <a:ext cx="2688194" cy="3191637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4892528" y="1556671"/>
            <a:ext cx="2344484" cy="2344484"/>
          </a:xfrm>
          <a:prstGeom prst="rect">
            <a:avLst/>
          </a:prstGeom>
        </p:spPr>
      </p:pic>
      <p:sp>
        <p:nvSpPr>
          <p:cNvPr id="6" name="Заголовок">
            <a:extLst>
              <a:ext uri="{FF2B5EF4-FFF2-40B4-BE49-F238E27FC236}">
                <a16:creationId xmlns:a16="http://schemas.microsoft.com/office/drawing/2014/main" id="{498BBE52-B56A-4F73-8565-575347066D87}"/>
              </a:ext>
            </a:extLst>
          </p:cNvPr>
          <p:cNvSpPr>
            <a:spLocks noGrp="1"/>
          </p:cNvSpPr>
          <p:nvPr/>
        </p:nvSpPr>
        <p:spPr>
          <a:xfrm>
            <a:off x="476250" y="2895600"/>
            <a:ext cx="7429500" cy="2171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300" b="0">
                <a:solidFill>
                  <a:srgbClr val="3A3A3A"/>
                </a:solidFill>
                <a:latin typeface="X5 Sans Medium"/>
              </a:rPr>
              <a:t>Портфель «ЕдаДома»: месяц, учебные числа</a:t>
            </a:r>
          </a:p>
        </p:txBody>
      </p:sp>
      <p:sp>
        <p:nvSpPr>
          <p:cNvPr id="7" name="Пояснение">
            <a:extLst>
              <a:ext uri="{FF2B5EF4-FFF2-40B4-BE49-F238E27FC236}">
                <a16:creationId xmlns:a16="http://schemas.microsoft.com/office/drawing/2014/main" id="{7FDFA29B-3B26-457E-8F99-F72D6D317D5E}"/>
              </a:ext>
            </a:extLst>
          </p:cNvPr>
          <p:cNvSpPr>
            <a:spLocks noGrp="1"/>
          </p:cNvSpPr>
          <p:nvPr/>
        </p:nvSpPr>
        <p:spPr>
          <a:xfrm>
            <a:off x="476250" y="5307626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77115" y="476250"/>
            <a:ext cx="1034305" cy="929926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027176" y="907322"/>
            <a:ext cx="453200" cy="500408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499806" y="907592"/>
            <a:ext cx="376904" cy="508821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2076846" y="886682"/>
            <a:ext cx="2050036" cy="675418"/>
          </a:xfrm>
          <a:prstGeom prst="rect">
            <a:avLst/>
          </a:prstGeom>
        </p:spPr>
      </p:pic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548640" y="5257800"/>
          <a:ext cx="171907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95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X5 Sans"/>
                        </a:rPr>
                        <a:t>Канал</a:t>
                      </a:r>
                    </a:p>
                  </a:txBody>
                  <a:tcPr marL="109728" marR="73152" marT="27432" marB="27432"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X5 Sans"/>
                        </a:rPr>
                        <a:t>CAC</a:t>
                      </a:r>
                    </a:p>
                  </a:txBody>
                  <a:tcPr marL="109728" marR="73152" marT="27432" marB="27432"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X5 Sans"/>
                        </a:rPr>
                        <a:t>LTV/CAC</a:t>
                      </a:r>
                    </a:p>
                  </a:txBody>
                  <a:tcPr marL="109728" marR="73152" marT="27432" marB="27432"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X5 Sans"/>
                        </a:rPr>
                        <a:t>Вердикт</a:t>
                      </a:r>
                    </a:p>
                  </a:txBody>
                  <a:tcPr marL="109728" marR="73152" marT="27432" marB="27432" anchor="ctr"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E2841"/>
                          </a:solidFill>
                          <a:latin typeface="X5 Sans"/>
                        </a:rPr>
                        <a:t>Контекст</a:t>
                      </a:r>
                    </a:p>
                  </a:txBody>
                  <a:tcPr marL="109728" marR="73152" marT="27432" marB="27432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E4055"/>
                          </a:solidFill>
                          <a:latin typeface="X5 Sans"/>
                        </a:rPr>
                        <a:t>420 ₽</a:t>
                      </a:r>
                    </a:p>
                  </a:txBody>
                  <a:tcPr marL="109728" marR="73152" marT="27432" marB="27432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E4055"/>
                          </a:solidFill>
                          <a:latin typeface="X5 Sans"/>
                        </a:rPr>
                        <a:t>1,8</a:t>
                      </a:r>
                    </a:p>
                  </a:txBody>
                  <a:tcPr marL="109728" marR="73152" marT="27432" marB="27432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E4055"/>
                          </a:solidFill>
                          <a:latin typeface="X5 Sans"/>
                        </a:rPr>
                        <a:t>рабочая лошадка, у потолка объёма</a:t>
                      </a:r>
                    </a:p>
                  </a:txBody>
                  <a:tcPr marL="109728" marR="73152" marT="27432" marB="27432" anchor="ctr"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E2841"/>
                          </a:solidFill>
                          <a:latin typeface="X5 Sans"/>
                        </a:rPr>
                        <a:t>Таргет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E4055"/>
                          </a:solidFill>
                          <a:latin typeface="X5 Sans"/>
                        </a:rPr>
                        <a:t>610 ₽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E4055"/>
                          </a:solidFill>
                          <a:latin typeface="X5 Sans"/>
                        </a:rPr>
                        <a:t>1,1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E4055"/>
                          </a:solidFill>
                          <a:latin typeface="X5 Sans"/>
                        </a:rPr>
                        <a:t>на грани — тестировать связки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E2841"/>
                          </a:solidFill>
                          <a:latin typeface="X5 Sans"/>
                        </a:rPr>
                        <a:t>Блогеры</a:t>
                      </a:r>
                    </a:p>
                  </a:txBody>
                  <a:tcPr marL="109728" marR="73152" marT="27432" marB="27432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E4055"/>
                          </a:solidFill>
                          <a:latin typeface="X5 Sans"/>
                        </a:rPr>
                        <a:t>780 ₽</a:t>
                      </a:r>
                    </a:p>
                  </a:txBody>
                  <a:tcPr marL="109728" marR="73152" marT="27432" marB="27432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E4055"/>
                          </a:solidFill>
                          <a:latin typeface="X5 Sans"/>
                        </a:rPr>
                        <a:t>1,6</a:t>
                      </a:r>
                    </a:p>
                  </a:txBody>
                  <a:tcPr marL="109728" marR="73152" marT="27432" marB="27432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E4055"/>
                          </a:solidFill>
                          <a:latin typeface="X5 Sans"/>
                        </a:rPr>
                        <a:t>дорогой вход, дорогой LTV</a:t>
                      </a:r>
                    </a:p>
                  </a:txBody>
                  <a:tcPr marL="109728" marR="73152" marT="27432" marB="27432" anchor="ctr"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E2841"/>
                          </a:solidFill>
                          <a:latin typeface="X5 Sans"/>
                        </a:rPr>
                        <a:t>ТВ (2 города)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E4055"/>
                          </a:solidFill>
                          <a:latin typeface="X5 Sans"/>
                        </a:rPr>
                        <a:t>≈900 ₽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E4055"/>
                          </a:solidFill>
                          <a:latin typeface="X5 Sans"/>
                        </a:rPr>
                        <a:t>—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E4055"/>
                          </a:solidFill>
                          <a:latin typeface="X5 Sans"/>
                        </a:rPr>
                        <a:t>растит всё остальное: гео-оценка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Текстовый блок">
            <a:extLst>
              <a:ext uri="{FF2B5EF4-FFF2-40B4-BE49-F238E27FC236}">
                <a16:creationId xmlns:a16="http://schemas.microsoft.com/office/drawing/2014/main" id="{83BF2DA4-8395-4896-98A1-EE8ADF637024}"/>
              </a:ext>
            </a:extLst>
          </p:cNvPr>
          <p:cNvSpPr>
            <a:spLocks noGrp="1"/>
          </p:cNvSpPr>
          <p:nvPr/>
        </p:nvSpPr>
        <p:spPr>
          <a:xfrm>
            <a:off x="476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Список">
            <a:extLst>
              <a:ext uri="{FF2B5EF4-FFF2-40B4-BE49-F238E27FC236}">
                <a16:creationId xmlns:a16="http://schemas.microsoft.com/office/drawing/2014/main" id="{EE991465-5A34-4773-A228-4F61ECBBE8E6}"/>
              </a:ext>
            </a:extLst>
          </p:cNvPr>
          <p:cNvSpPr>
            <a:spLocks noGrp="1"/>
          </p:cNvSpPr>
          <p:nvPr/>
        </p:nvSpPr>
        <p:spPr>
          <a:xfrm>
            <a:off x="9239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Заголовок">
            <a:extLst>
              <a:ext uri="{FF2B5EF4-FFF2-40B4-BE49-F238E27FC236}">
                <a16:creationId xmlns:a16="http://schemas.microsoft.com/office/drawing/2014/main" id="{70B4469F-6CF4-4B36-8D14-80B170FE0D58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500" b="0">
                <a:solidFill>
                  <a:srgbClr val="3A3A3A"/>
                </a:solidFill>
                <a:latin typeface="X5 Sans Medium"/>
              </a:rPr>
              <a:t>Портфель «ЕдаДома»</a:t>
            </a:r>
          </a:p>
        </p:txBody>
      </p:sp>
      <p:sp>
        <p:nvSpPr>
          <p:cNvPr id="6" name="Подзаголовок">
            <a:extLst>
              <a:ext uri="{FF2B5EF4-FFF2-40B4-BE49-F238E27FC236}">
                <a16:creationId xmlns:a16="http://schemas.microsoft.com/office/drawing/2014/main" id="{EADA99A8-63FD-4201-8FB7-7752A0FD2CE4}"/>
              </a:ext>
            </a:extLst>
          </p:cNvPr>
          <p:cNvSpPr>
            <a:spLocks noGrp="1"/>
          </p:cNvSpPr>
          <p:nvPr/>
        </p:nvSpPr>
        <p:spPr>
          <a:xfrm>
            <a:off x="476250" y="1485900"/>
            <a:ext cx="857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0">
                <a:solidFill>
                  <a:srgbClr val="3A3A3A"/>
                </a:solidFill>
                <a:latin typeface="X5 Sans"/>
              </a:rPr>
              <a:t>ТВ хуже по «CAC», но удешевляет брендовые кампании и органику — эффект на весь рынок города</a:t>
            </a:r>
          </a:p>
        </p:txBody>
      </p:sp>
      <p:sp>
        <p:nvSpPr>
          <p:cNvPr id="7" name="Текстовый блок — заголовок">
            <a:extLst>
              <a:ext uri="{FF2B5EF4-FFF2-40B4-BE49-F238E27FC236}">
                <a16:creationId xmlns:a16="http://schemas.microsoft.com/office/drawing/2014/main" id="{60D8FFDF-B59C-4B0A-8CBE-3EF79B76F9B8}"/>
              </a:ext>
            </a:extLst>
          </p:cNvPr>
          <p:cNvSpPr>
            <a:spLocks noGrp="1"/>
          </p:cNvSpPr>
          <p:nvPr/>
        </p:nvSpPr>
        <p:spPr>
          <a:xfrm>
            <a:off x="800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8" name="Текстовый блок — текст">
            <a:extLst>
              <a:ext uri="{FF2B5EF4-FFF2-40B4-BE49-F238E27FC236}">
                <a16:creationId xmlns:a16="http://schemas.microsoft.com/office/drawing/2014/main" id="{AC333327-0196-4226-8AE6-135E26DFFEF0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79248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9" name="Список — заголовок">
            <a:extLst>
              <a:ext uri="{FF2B5EF4-FFF2-40B4-BE49-F238E27FC236}">
                <a16:creationId xmlns:a16="http://schemas.microsoft.com/office/drawing/2014/main" id="{3C6A7525-86DB-4554-B760-371C8510005B}"/>
              </a:ext>
            </a:extLst>
          </p:cNvPr>
          <p:cNvSpPr>
            <a:spLocks noGrp="1"/>
          </p:cNvSpPr>
          <p:nvPr/>
        </p:nvSpPr>
        <p:spPr>
          <a:xfrm>
            <a:off x="9563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10" name="Список — вводная">
            <a:extLst>
              <a:ext uri="{FF2B5EF4-FFF2-40B4-BE49-F238E27FC236}">
                <a16:creationId xmlns:a16="http://schemas.microsoft.com/office/drawing/2014/main" id="{EDD98C9F-4A8D-400A-82D5-F1B2EB5BE324}"/>
              </a:ext>
            </a:extLst>
          </p:cNvPr>
          <p:cNvSpPr>
            <a:spLocks noGrp="1"/>
          </p:cNvSpPr>
          <p:nvPr/>
        </p:nvSpPr>
        <p:spPr>
          <a:xfrm>
            <a:off x="9563100" y="3848100"/>
            <a:ext cx="7924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11" name="Список — пункты">
            <a:extLst>
              <a:ext uri="{FF2B5EF4-FFF2-40B4-BE49-F238E27FC236}">
                <a16:creationId xmlns:a16="http://schemas.microsoft.com/office/drawing/2014/main" id="{F442EF30-93C7-4546-9525-C1AA3D745C53}"/>
              </a:ext>
            </a:extLst>
          </p:cNvPr>
          <p:cNvSpPr>
            <a:spLocks noGrp="1"/>
          </p:cNvSpPr>
          <p:nvPr/>
        </p:nvSpPr>
        <p:spPr>
          <a:xfrm>
            <a:off x="9715500" y="4933950"/>
            <a:ext cx="7620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5"/>
          <a:stretch/>
        </p:blipFill>
        <p:spPr>
          <a:xfrm rot="879000">
            <a:off x="14963775" y="1371600"/>
            <a:ext cx="2276475" cy="2276475"/>
          </a:xfrm>
          <a:prstGeom prst="rect">
            <a:avLst/>
          </a:prstGeom>
        </p:spPr>
      </p:pic>
      <p:pic>
        <p:nvPicPr>
          <p:cNvPr id="33" name="Рисунок 3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095875" y="6562725"/>
            <a:ext cx="4467225" cy="3724275"/>
          </a:xfrm>
          <a:prstGeom prst="rect">
            <a:avLst/>
          </a:prstGeom>
        </p:spPr>
      </p:pic>
      <p:pic>
        <p:nvPicPr>
          <p:cNvPr id="34" name="Рисунок 33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82379" y="9186863"/>
            <a:ext cx="2083242" cy="623888"/>
          </a:xfrm>
          <a:prstGeom prst="rect">
            <a:avLst/>
          </a:prstGeom>
        </p:spPr>
      </p:pic>
      <p:sp>
        <p:nvSpPr>
          <p:cNvPr id="15" name="Номер страницы">
            <a:extLst>
              <a:ext uri="{FF2B5EF4-FFF2-40B4-BE49-F238E27FC236}">
                <a16:creationId xmlns:a16="http://schemas.microsoft.com/office/drawing/2014/main" id="{8CB3DCAF-5969-49CE-B198-E4C5CEA31C56}"/>
              </a:ext>
            </a:extLst>
          </p:cNvPr>
          <p:cNvSpPr>
            <a:spLocks noGrp="1"/>
          </p:cNvSpPr>
          <p:nvPr/>
        </p:nvSpPr>
        <p:spPr>
          <a:xfrm>
            <a:off x="16859250" y="94678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 b="0"/>
              <a:t>10</a:t>
            </a:r>
          </a:p>
        </p:txBody>
      </p:sp>
      <p:pic>
        <p:nvPicPr>
          <p:cNvPr id="35" name="Picture 34" descr="chan_04_portfoli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0609" y="2514600"/>
            <a:ext cx="15786781" cy="65379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62800" y="1933575"/>
            <a:ext cx="8715375" cy="8353425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190601" y="504825"/>
            <a:ext cx="2876741" cy="2876741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5395519" y="6967442"/>
            <a:ext cx="2688194" cy="3191637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4892528" y="1556671"/>
            <a:ext cx="2344484" cy="2344484"/>
          </a:xfrm>
          <a:prstGeom prst="rect">
            <a:avLst/>
          </a:prstGeom>
        </p:spPr>
      </p:pic>
      <p:sp>
        <p:nvSpPr>
          <p:cNvPr id="6" name="Заголовок">
            <a:extLst>
              <a:ext uri="{FF2B5EF4-FFF2-40B4-BE49-F238E27FC236}">
                <a16:creationId xmlns:a16="http://schemas.microsoft.com/office/drawing/2014/main" id="{498BBE52-B56A-4F73-8565-575347066D87}"/>
              </a:ext>
            </a:extLst>
          </p:cNvPr>
          <p:cNvSpPr>
            <a:spLocks noGrp="1"/>
          </p:cNvSpPr>
          <p:nvPr/>
        </p:nvSpPr>
        <p:spPr>
          <a:xfrm>
            <a:off x="476250" y="2895600"/>
            <a:ext cx="7429500" cy="2171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300" b="0">
                <a:solidFill>
                  <a:srgbClr val="3A3A3A"/>
                </a:solidFill>
                <a:latin typeface="X5 Sans Medium"/>
              </a:rPr>
              <a:t>Половина «странного» в отчётах — опечатки в метках</a:t>
            </a:r>
          </a:p>
        </p:txBody>
      </p:sp>
      <p:sp>
        <p:nvSpPr>
          <p:cNvPr id="7" name="Пояснение">
            <a:extLst>
              <a:ext uri="{FF2B5EF4-FFF2-40B4-BE49-F238E27FC236}">
                <a16:creationId xmlns:a16="http://schemas.microsoft.com/office/drawing/2014/main" id="{7FDFA29B-3B26-457E-8F99-F72D6D317D5E}"/>
              </a:ext>
            </a:extLst>
          </p:cNvPr>
          <p:cNvSpPr>
            <a:spLocks noGrp="1"/>
          </p:cNvSpPr>
          <p:nvPr/>
        </p:nvSpPr>
        <p:spPr>
          <a:xfrm>
            <a:off x="476250" y="5307626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600" b="0">
                <a:solidFill>
                  <a:srgbClr val="3A3A3A"/>
                </a:solidFill>
                <a:latin typeface="X5 Sans Medium"/>
              </a:rPr>
              <a:t>yandex ≠ Yandex, пробел обрезает ссылку: без UTM-дисциплины всё downstream мертво (3.2)</a:t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77115" y="476250"/>
            <a:ext cx="1034305" cy="929926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027176" y="907322"/>
            <a:ext cx="453200" cy="500408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499806" y="907592"/>
            <a:ext cx="376904" cy="508821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2076846" y="886682"/>
            <a:ext cx="2050036" cy="67541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62800" y="1933575"/>
            <a:ext cx="8715375" cy="8353425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190601" y="504825"/>
            <a:ext cx="2876741" cy="2876741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5395519" y="6967442"/>
            <a:ext cx="2688194" cy="3191637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4892528" y="1556671"/>
            <a:ext cx="2344484" cy="2344484"/>
          </a:xfrm>
          <a:prstGeom prst="rect">
            <a:avLst/>
          </a:prstGeom>
        </p:spPr>
      </p:pic>
      <p:sp>
        <p:nvSpPr>
          <p:cNvPr id="6" name="Заголовок">
            <a:extLst>
              <a:ext uri="{FF2B5EF4-FFF2-40B4-BE49-F238E27FC236}">
                <a16:creationId xmlns:a16="http://schemas.microsoft.com/office/drawing/2014/main" id="{498BBE52-B56A-4F73-8565-575347066D87}"/>
              </a:ext>
            </a:extLst>
          </p:cNvPr>
          <p:cNvSpPr>
            <a:spLocks noGrp="1"/>
          </p:cNvSpPr>
          <p:nvPr/>
        </p:nvSpPr>
        <p:spPr>
          <a:xfrm>
            <a:off x="476250" y="2895600"/>
            <a:ext cx="7429500" cy="2171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200" b="0">
                <a:solidFill>
                  <a:srgbClr val="3A3A3A"/>
                </a:solidFill>
                <a:latin typeface="X5 Sans Medium"/>
              </a:rPr>
              <a:t>UTM: 5 параметров, 3 обязательны</a:t>
            </a:r>
          </a:p>
        </p:txBody>
      </p:sp>
      <p:sp>
        <p:nvSpPr>
          <p:cNvPr id="7" name="Пояснение">
            <a:extLst>
              <a:ext uri="{FF2B5EF4-FFF2-40B4-BE49-F238E27FC236}">
                <a16:creationId xmlns:a16="http://schemas.microsoft.com/office/drawing/2014/main" id="{7FDFA29B-3B26-457E-8F99-F72D6D317D5E}"/>
              </a:ext>
            </a:extLst>
          </p:cNvPr>
          <p:cNvSpPr>
            <a:spLocks noGrp="1"/>
          </p:cNvSpPr>
          <p:nvPr/>
        </p:nvSpPr>
        <p:spPr>
          <a:xfrm>
            <a:off x="476250" y="5307626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77115" y="476250"/>
            <a:ext cx="1034305" cy="929926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027176" y="907322"/>
            <a:ext cx="453200" cy="500408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499806" y="907592"/>
            <a:ext cx="376904" cy="508821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2076846" y="886682"/>
            <a:ext cx="2050036" cy="675418"/>
          </a:xfrm>
          <a:prstGeom prst="rect">
            <a:avLst/>
          </a:prstGeom>
        </p:spPr>
      </p:pic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548640" y="5257800"/>
          <a:ext cx="1719072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49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X5 Sans"/>
                        </a:rPr>
                        <a:t>Параметр</a:t>
                      </a:r>
                    </a:p>
                  </a:txBody>
                  <a:tcPr marL="109728" marR="73152" marT="27432" marB="27432"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X5 Sans"/>
                        </a:rPr>
                        <a:t>Обяз.</a:t>
                      </a:r>
                    </a:p>
                  </a:txBody>
                  <a:tcPr marL="109728" marR="73152" marT="27432" marB="27432"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X5 Sans"/>
                        </a:rPr>
                        <a:t>Что кодирует</a:t>
                      </a:r>
                    </a:p>
                  </a:txBody>
                  <a:tcPr marL="109728" marR="73152" marT="27432" marB="27432"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X5 Sans"/>
                        </a:rPr>
                        <a:t>Пример</a:t>
                      </a:r>
                    </a:p>
                  </a:txBody>
                  <a:tcPr marL="109728" marR="73152" marT="27432" marB="27432" anchor="ctr"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E2841"/>
                          </a:solidFill>
                          <a:latin typeface="X5 Sans"/>
                        </a:rPr>
                        <a:t>utm_source</a:t>
                      </a:r>
                    </a:p>
                  </a:txBody>
                  <a:tcPr marL="109728" marR="73152" marT="27432" marB="27432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E4055"/>
                          </a:solidFill>
                          <a:latin typeface="X5 Sans"/>
                        </a:rPr>
                        <a:t>✔</a:t>
                      </a:r>
                    </a:p>
                  </a:txBody>
                  <a:tcPr marL="109728" marR="73152" marT="27432" marB="27432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E4055"/>
                          </a:solidFill>
                          <a:latin typeface="X5 Sans"/>
                        </a:rPr>
                        <a:t>площадка</a:t>
                      </a:r>
                    </a:p>
                  </a:txBody>
                  <a:tcPr marL="109728" marR="73152" marT="27432" marB="27432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E4055"/>
                          </a:solidFill>
                          <a:latin typeface="X5 Sans"/>
                        </a:rPr>
                        <a:t>yandex · vk · telegram</a:t>
                      </a:r>
                    </a:p>
                  </a:txBody>
                  <a:tcPr marL="109728" marR="73152" marT="27432" marB="27432" anchor="ctr"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E2841"/>
                          </a:solidFill>
                          <a:latin typeface="X5 Sans"/>
                        </a:rPr>
                        <a:t>utm_medium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E4055"/>
                          </a:solidFill>
                          <a:latin typeface="X5 Sans"/>
                        </a:rPr>
                        <a:t>✔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E4055"/>
                          </a:solidFill>
                          <a:latin typeface="X5 Sans"/>
                        </a:rPr>
                        <a:t>тип трафика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E4055"/>
                          </a:solidFill>
                          <a:latin typeface="X5 Sans"/>
                        </a:rPr>
                        <a:t>cpc · cpm · email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E2841"/>
                          </a:solidFill>
                          <a:latin typeface="X5 Sans"/>
                        </a:rPr>
                        <a:t>utm_campaign</a:t>
                      </a:r>
                    </a:p>
                  </a:txBody>
                  <a:tcPr marL="109728" marR="73152" marT="27432" marB="27432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E4055"/>
                          </a:solidFill>
                          <a:latin typeface="X5 Sans"/>
                        </a:rPr>
                        <a:t>✔</a:t>
                      </a:r>
                    </a:p>
                  </a:txBody>
                  <a:tcPr marL="109728" marR="73152" marT="27432" marB="27432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E4055"/>
                          </a:solidFill>
                          <a:latin typeface="X5 Sans"/>
                        </a:rPr>
                        <a:t>кампания</a:t>
                      </a:r>
                    </a:p>
                  </a:txBody>
                  <a:tcPr marL="109728" marR="73152" marT="27432" marB="27432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E4055"/>
                          </a:solidFill>
                          <a:latin typeface="X5 Sans"/>
                        </a:rPr>
                        <a:t>spring_delivery_msk</a:t>
                      </a:r>
                    </a:p>
                  </a:txBody>
                  <a:tcPr marL="109728" marR="73152" marT="27432" marB="27432" anchor="ctr"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E2841"/>
                          </a:solidFill>
                          <a:latin typeface="X5 Sans"/>
                        </a:rPr>
                        <a:t>utm_content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E4055"/>
                          </a:solidFill>
                          <a:latin typeface="X5 Sans"/>
                        </a:rPr>
                        <a:t>—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E4055"/>
                          </a:solidFill>
                          <a:latin typeface="X5 Sans"/>
                        </a:rPr>
                        <a:t>креатив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E4055"/>
                          </a:solidFill>
                          <a:latin typeface="X5 Sans"/>
                        </a:rPr>
                        <a:t>banner_top · {creative_id}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E2841"/>
                          </a:solidFill>
                          <a:latin typeface="X5 Sans"/>
                        </a:rPr>
                        <a:t>utm_term</a:t>
                      </a:r>
                    </a:p>
                  </a:txBody>
                  <a:tcPr marL="109728" marR="73152" marT="27432" marB="27432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E4055"/>
                          </a:solidFill>
                          <a:latin typeface="X5 Sans"/>
                        </a:rPr>
                        <a:t>—</a:t>
                      </a:r>
                    </a:p>
                  </a:txBody>
                  <a:tcPr marL="109728" marR="73152" marT="27432" marB="27432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E4055"/>
                          </a:solidFill>
                          <a:latin typeface="X5 Sans"/>
                        </a:rPr>
                        <a:t>ключевое слово</a:t>
                      </a:r>
                    </a:p>
                  </a:txBody>
                  <a:tcPr marL="109728" marR="73152" marT="27432" marB="27432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E4055"/>
                          </a:solidFill>
                          <a:latin typeface="X5 Sans"/>
                        </a:rPr>
                        <a:t>{keyword}</a:t>
                      </a:r>
                    </a:p>
                  </a:txBody>
                  <a:tcPr marL="109728" marR="73152" marT="27432" marB="27432" anchor="ctr"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Текстовый блок">
            <a:extLst>
              <a:ext uri="{FF2B5EF4-FFF2-40B4-BE49-F238E27FC236}">
                <a16:creationId xmlns:a16="http://schemas.microsoft.com/office/drawing/2014/main" id="{83BF2DA4-8395-4896-98A1-EE8ADF637024}"/>
              </a:ext>
            </a:extLst>
          </p:cNvPr>
          <p:cNvSpPr>
            <a:spLocks noGrp="1"/>
          </p:cNvSpPr>
          <p:nvPr/>
        </p:nvSpPr>
        <p:spPr>
          <a:xfrm>
            <a:off x="476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Список">
            <a:extLst>
              <a:ext uri="{FF2B5EF4-FFF2-40B4-BE49-F238E27FC236}">
                <a16:creationId xmlns:a16="http://schemas.microsoft.com/office/drawing/2014/main" id="{EE991465-5A34-4773-A228-4F61ECBBE8E6}"/>
              </a:ext>
            </a:extLst>
          </p:cNvPr>
          <p:cNvSpPr>
            <a:spLocks noGrp="1"/>
          </p:cNvSpPr>
          <p:nvPr/>
        </p:nvSpPr>
        <p:spPr>
          <a:xfrm>
            <a:off x="9239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Заголовок">
            <a:extLst>
              <a:ext uri="{FF2B5EF4-FFF2-40B4-BE49-F238E27FC236}">
                <a16:creationId xmlns:a16="http://schemas.microsoft.com/office/drawing/2014/main" id="{70B4469F-6CF4-4B36-8D14-80B170FE0D58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700" b="0">
                <a:solidFill>
                  <a:srgbClr val="3A3A3A"/>
                </a:solidFill>
                <a:latin typeface="X5 Sans Medium"/>
              </a:rPr>
              <a:t>Анатомия размеченной ссылки</a:t>
            </a:r>
          </a:p>
        </p:txBody>
      </p:sp>
      <p:sp>
        <p:nvSpPr>
          <p:cNvPr id="6" name="Подзаголовок">
            <a:extLst>
              <a:ext uri="{FF2B5EF4-FFF2-40B4-BE49-F238E27FC236}">
                <a16:creationId xmlns:a16="http://schemas.microsoft.com/office/drawing/2014/main" id="{EADA99A8-63FD-4201-8FB7-7752A0FD2CE4}"/>
              </a:ext>
            </a:extLst>
          </p:cNvPr>
          <p:cNvSpPr>
            <a:spLocks noGrp="1"/>
          </p:cNvSpPr>
          <p:nvPr/>
        </p:nvSpPr>
        <p:spPr>
          <a:xfrm>
            <a:off x="476250" y="1485900"/>
            <a:ext cx="857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0">
                <a:solidFill>
                  <a:srgbClr val="3A3A3A"/>
                </a:solidFill>
                <a:latin typeface="X5 Sans"/>
              </a:rPr>
              <a:t>Макросы {creative_id}, {keyword} дают детализацию до креатива без ручной разметки</a:t>
            </a:r>
          </a:p>
        </p:txBody>
      </p:sp>
      <p:sp>
        <p:nvSpPr>
          <p:cNvPr id="7" name="Текстовый блок — заголовок">
            <a:extLst>
              <a:ext uri="{FF2B5EF4-FFF2-40B4-BE49-F238E27FC236}">
                <a16:creationId xmlns:a16="http://schemas.microsoft.com/office/drawing/2014/main" id="{60D8FFDF-B59C-4B0A-8CBE-3EF79B76F9B8}"/>
              </a:ext>
            </a:extLst>
          </p:cNvPr>
          <p:cNvSpPr>
            <a:spLocks noGrp="1"/>
          </p:cNvSpPr>
          <p:nvPr/>
        </p:nvSpPr>
        <p:spPr>
          <a:xfrm>
            <a:off x="800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8" name="Текстовый блок — текст">
            <a:extLst>
              <a:ext uri="{FF2B5EF4-FFF2-40B4-BE49-F238E27FC236}">
                <a16:creationId xmlns:a16="http://schemas.microsoft.com/office/drawing/2014/main" id="{AC333327-0196-4226-8AE6-135E26DFFEF0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79248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9" name="Список — заголовок">
            <a:extLst>
              <a:ext uri="{FF2B5EF4-FFF2-40B4-BE49-F238E27FC236}">
                <a16:creationId xmlns:a16="http://schemas.microsoft.com/office/drawing/2014/main" id="{3C6A7525-86DB-4554-B760-371C8510005B}"/>
              </a:ext>
            </a:extLst>
          </p:cNvPr>
          <p:cNvSpPr>
            <a:spLocks noGrp="1"/>
          </p:cNvSpPr>
          <p:nvPr/>
        </p:nvSpPr>
        <p:spPr>
          <a:xfrm>
            <a:off x="9563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10" name="Список — вводная">
            <a:extLst>
              <a:ext uri="{FF2B5EF4-FFF2-40B4-BE49-F238E27FC236}">
                <a16:creationId xmlns:a16="http://schemas.microsoft.com/office/drawing/2014/main" id="{EDD98C9F-4A8D-400A-82D5-F1B2EB5BE324}"/>
              </a:ext>
            </a:extLst>
          </p:cNvPr>
          <p:cNvSpPr>
            <a:spLocks noGrp="1"/>
          </p:cNvSpPr>
          <p:nvPr/>
        </p:nvSpPr>
        <p:spPr>
          <a:xfrm>
            <a:off x="9563100" y="3848100"/>
            <a:ext cx="7924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11" name="Список — пункты">
            <a:extLst>
              <a:ext uri="{FF2B5EF4-FFF2-40B4-BE49-F238E27FC236}">
                <a16:creationId xmlns:a16="http://schemas.microsoft.com/office/drawing/2014/main" id="{F442EF30-93C7-4546-9525-C1AA3D745C53}"/>
              </a:ext>
            </a:extLst>
          </p:cNvPr>
          <p:cNvSpPr>
            <a:spLocks noGrp="1"/>
          </p:cNvSpPr>
          <p:nvPr/>
        </p:nvSpPr>
        <p:spPr>
          <a:xfrm>
            <a:off x="9715500" y="4933950"/>
            <a:ext cx="7620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5"/>
          <a:stretch/>
        </p:blipFill>
        <p:spPr>
          <a:xfrm rot="879000">
            <a:off x="14963775" y="1371600"/>
            <a:ext cx="2276475" cy="2276475"/>
          </a:xfrm>
          <a:prstGeom prst="rect">
            <a:avLst/>
          </a:prstGeom>
        </p:spPr>
      </p:pic>
      <p:pic>
        <p:nvPicPr>
          <p:cNvPr id="33" name="Рисунок 3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095875" y="6562725"/>
            <a:ext cx="4467225" cy="3724275"/>
          </a:xfrm>
          <a:prstGeom prst="rect">
            <a:avLst/>
          </a:prstGeom>
        </p:spPr>
      </p:pic>
      <p:pic>
        <p:nvPicPr>
          <p:cNvPr id="34" name="Рисунок 33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82379" y="9186863"/>
            <a:ext cx="2083242" cy="623888"/>
          </a:xfrm>
          <a:prstGeom prst="rect">
            <a:avLst/>
          </a:prstGeom>
        </p:spPr>
      </p:pic>
      <p:sp>
        <p:nvSpPr>
          <p:cNvPr id="15" name="Номер страницы">
            <a:extLst>
              <a:ext uri="{FF2B5EF4-FFF2-40B4-BE49-F238E27FC236}">
                <a16:creationId xmlns:a16="http://schemas.microsoft.com/office/drawing/2014/main" id="{8CB3DCAF-5969-49CE-B198-E4C5CEA31C56}"/>
              </a:ext>
            </a:extLst>
          </p:cNvPr>
          <p:cNvSpPr>
            <a:spLocks noGrp="1"/>
          </p:cNvSpPr>
          <p:nvPr/>
        </p:nvSpPr>
        <p:spPr>
          <a:xfrm>
            <a:off x="16859250" y="94678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 b="0"/>
              <a:t>13</a:t>
            </a:r>
          </a:p>
        </p:txBody>
      </p:sp>
      <p:pic>
        <p:nvPicPr>
          <p:cNvPr id="35" name="Picture 34" descr="chan_05_utm_anatom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28266" y="2514600"/>
            <a:ext cx="14231466" cy="65379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Текстовый блок">
            <a:extLst>
              <a:ext uri="{FF2B5EF4-FFF2-40B4-BE49-F238E27FC236}">
                <a16:creationId xmlns:a16="http://schemas.microsoft.com/office/drawing/2014/main" id="{83BF2DA4-8395-4896-98A1-EE8ADF637024}"/>
              </a:ext>
            </a:extLst>
          </p:cNvPr>
          <p:cNvSpPr>
            <a:spLocks noGrp="1"/>
          </p:cNvSpPr>
          <p:nvPr/>
        </p:nvSpPr>
        <p:spPr>
          <a:xfrm>
            <a:off x="476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Список">
            <a:extLst>
              <a:ext uri="{FF2B5EF4-FFF2-40B4-BE49-F238E27FC236}">
                <a16:creationId xmlns:a16="http://schemas.microsoft.com/office/drawing/2014/main" id="{EE991465-5A34-4773-A228-4F61ECBBE8E6}"/>
              </a:ext>
            </a:extLst>
          </p:cNvPr>
          <p:cNvSpPr>
            <a:spLocks noGrp="1"/>
          </p:cNvSpPr>
          <p:nvPr/>
        </p:nvSpPr>
        <p:spPr>
          <a:xfrm>
            <a:off x="9239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Заголовок">
            <a:extLst>
              <a:ext uri="{FF2B5EF4-FFF2-40B4-BE49-F238E27FC236}">
                <a16:creationId xmlns:a16="http://schemas.microsoft.com/office/drawing/2014/main" id="{70B4469F-6CF4-4B36-8D14-80B170FE0D58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500" b="0">
                <a:solidFill>
                  <a:srgbClr val="3A3A3A"/>
                </a:solidFill>
                <a:latin typeface="X5 Sans Medium"/>
              </a:rPr>
              <a:t>Гигиена разметки</a:t>
            </a:r>
          </a:p>
        </p:txBody>
      </p:sp>
      <p:sp>
        <p:nvSpPr>
          <p:cNvPr id="6" name="Подзаголовок">
            <a:extLst>
              <a:ext uri="{FF2B5EF4-FFF2-40B4-BE49-F238E27FC236}">
                <a16:creationId xmlns:a16="http://schemas.microsoft.com/office/drawing/2014/main" id="{EADA99A8-63FD-4201-8FB7-7752A0FD2CE4}"/>
              </a:ext>
            </a:extLst>
          </p:cNvPr>
          <p:cNvSpPr>
            <a:spLocks noGrp="1"/>
          </p:cNvSpPr>
          <p:nvPr/>
        </p:nvSpPr>
        <p:spPr>
          <a:xfrm>
            <a:off x="476250" y="1485900"/>
            <a:ext cx="857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0">
                <a:solidFill>
                  <a:srgbClr val="3A3A3A"/>
                </a:solidFill>
                <a:latin typeface="X5 Sans"/>
              </a:rPr>
              <a:t>Аудит 30 ссылок: ~30% месяца — в слепой зоне или с искажениями</a:t>
            </a:r>
          </a:p>
        </p:txBody>
      </p:sp>
      <p:sp>
        <p:nvSpPr>
          <p:cNvPr id="7" name="Текстовый блок — заголовок">
            <a:extLst>
              <a:ext uri="{FF2B5EF4-FFF2-40B4-BE49-F238E27FC236}">
                <a16:creationId xmlns:a16="http://schemas.microsoft.com/office/drawing/2014/main" id="{60D8FFDF-B59C-4B0A-8CBE-3EF79B76F9B8}"/>
              </a:ext>
            </a:extLst>
          </p:cNvPr>
          <p:cNvSpPr>
            <a:spLocks noGrp="1"/>
          </p:cNvSpPr>
          <p:nvPr/>
        </p:nvSpPr>
        <p:spPr>
          <a:xfrm>
            <a:off x="800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0">
                <a:solidFill>
                  <a:srgbClr val="3A3A3A"/>
                </a:solidFill>
                <a:latin typeface="X5 Sans Medium"/>
              </a:rPr>
              <a:t>Регламент команды</a:t>
            </a:r>
          </a:p>
        </p:txBody>
      </p:sp>
      <p:sp>
        <p:nvSpPr>
          <p:cNvPr id="8" name="Текстовый блок — текст">
            <a:extLst>
              <a:ext uri="{FF2B5EF4-FFF2-40B4-BE49-F238E27FC236}">
                <a16:creationId xmlns:a16="http://schemas.microsoft.com/office/drawing/2014/main" id="{AC333327-0196-4226-8AE6-135E26DFFEF0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79248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9" name="Список — заголовок">
            <a:extLst>
              <a:ext uri="{FF2B5EF4-FFF2-40B4-BE49-F238E27FC236}">
                <a16:creationId xmlns:a16="http://schemas.microsoft.com/office/drawing/2014/main" id="{3C6A7525-86DB-4554-B760-371C8510005B}"/>
              </a:ext>
            </a:extLst>
          </p:cNvPr>
          <p:cNvSpPr>
            <a:spLocks noGrp="1"/>
          </p:cNvSpPr>
          <p:nvPr/>
        </p:nvSpPr>
        <p:spPr>
          <a:xfrm>
            <a:off x="9563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10" name="Список — вводная">
            <a:extLst>
              <a:ext uri="{FF2B5EF4-FFF2-40B4-BE49-F238E27FC236}">
                <a16:creationId xmlns:a16="http://schemas.microsoft.com/office/drawing/2014/main" id="{EDD98C9F-4A8D-400A-82D5-F1B2EB5BE324}"/>
              </a:ext>
            </a:extLst>
          </p:cNvPr>
          <p:cNvSpPr>
            <a:spLocks noGrp="1"/>
          </p:cNvSpPr>
          <p:nvPr/>
        </p:nvSpPr>
        <p:spPr>
          <a:xfrm>
            <a:off x="9563100" y="3848100"/>
            <a:ext cx="7924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11" name="Список — пункты">
            <a:extLst>
              <a:ext uri="{FF2B5EF4-FFF2-40B4-BE49-F238E27FC236}">
                <a16:creationId xmlns:a16="http://schemas.microsoft.com/office/drawing/2014/main" id="{F442EF30-93C7-4546-9525-C1AA3D745C53}"/>
              </a:ext>
            </a:extLst>
          </p:cNvPr>
          <p:cNvSpPr>
            <a:spLocks noGrp="1"/>
          </p:cNvSpPr>
          <p:nvPr/>
        </p:nvSpPr>
        <p:spPr>
          <a:xfrm>
            <a:off x="9715500" y="4206240"/>
            <a:ext cx="7620000" cy="5120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0">
                <a:solidFill>
                  <a:srgbClr val="3A3A3A"/>
                </a:solidFill>
                <a:latin typeface="X5 Sans"/>
              </a:rPr>
              <a:t>Латиница и дефисы; регистр важен: yandex ≠ Yandex</a:t>
            </a:r>
          </a:p>
          <a:p>
            <a:r>
              <a:rPr sz="2200" b="0">
                <a:solidFill>
                  <a:srgbClr val="3A3A3A"/>
                </a:solidFill>
                <a:latin typeface="X5 Sans"/>
              </a:rPr>
              <a:t>Справочник кампаний: проект_сегмент_гео_месяц</a:t>
            </a:r>
          </a:p>
          <a:p>
            <a:r>
              <a:rPr sz="2200" b="0">
                <a:solidFill>
                  <a:srgbClr val="3A3A3A"/>
                </a:solidFill>
                <a:latin typeface="X5 Sans"/>
              </a:rPr>
              <a:t>Макросы {creative_id}, {keyword} — ссылки без рутины</a:t>
            </a:r>
          </a:p>
          <a:p>
            <a:r>
              <a:rPr sz="2200" b="0">
                <a:solidFill>
                  <a:srgbClr val="3A3A3A"/>
                </a:solidFill>
                <a:latin typeface="X5 Sans"/>
              </a:rPr>
              <a:t>Еженедельный аудит; тесты — только с префиксом test_</a:t>
            </a:r>
          </a:p>
          <a:p>
            <a:r>
              <a:rPr sz="2200" b="0">
                <a:solidFill>
                  <a:srgbClr val="3A3A3A"/>
                </a:solidFill>
                <a:latin typeface="X5 Sans"/>
              </a:rPr>
              <a:t>UTM — буквальные обучающие фичи ML-атрибуции</a:t>
            </a: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5"/>
          <a:stretch/>
        </p:blipFill>
        <p:spPr>
          <a:xfrm rot="879000">
            <a:off x="14963775" y="1371600"/>
            <a:ext cx="2276475" cy="2276475"/>
          </a:xfrm>
          <a:prstGeom prst="rect">
            <a:avLst/>
          </a:prstGeom>
        </p:spPr>
      </p:pic>
      <p:pic>
        <p:nvPicPr>
          <p:cNvPr id="33" name="Рисунок 3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095875" y="6562725"/>
            <a:ext cx="4467225" cy="3724275"/>
          </a:xfrm>
          <a:prstGeom prst="rect">
            <a:avLst/>
          </a:prstGeom>
        </p:spPr>
      </p:pic>
      <p:pic>
        <p:nvPicPr>
          <p:cNvPr id="34" name="Рисунок 33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82379" y="9186863"/>
            <a:ext cx="2083242" cy="623888"/>
          </a:xfrm>
          <a:prstGeom prst="rect">
            <a:avLst/>
          </a:prstGeom>
        </p:spPr>
      </p:pic>
      <p:sp>
        <p:nvSpPr>
          <p:cNvPr id="15" name="Номер страницы">
            <a:extLst>
              <a:ext uri="{FF2B5EF4-FFF2-40B4-BE49-F238E27FC236}">
                <a16:creationId xmlns:a16="http://schemas.microsoft.com/office/drawing/2014/main" id="{8CB3DCAF-5969-49CE-B198-E4C5CEA31C56}"/>
              </a:ext>
            </a:extLst>
          </p:cNvPr>
          <p:cNvSpPr>
            <a:spLocks noGrp="1"/>
          </p:cNvSpPr>
          <p:nvPr/>
        </p:nvSpPr>
        <p:spPr>
          <a:xfrm>
            <a:off x="16859250" y="94678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 b="0"/>
              <a:t>14</a:t>
            </a:r>
          </a:p>
        </p:txBody>
      </p:sp>
      <p:pic>
        <p:nvPicPr>
          <p:cNvPr id="2" name="Рисунок 1" descr="UTM метки — что это и как создать ютм и использовать для аналитики">
            <a:extLst>
              <a:ext uri="{FF2B5EF4-FFF2-40B4-BE49-F238E27FC236}">
                <a16:creationId xmlns:a16="http://schemas.microsoft.com/office/drawing/2014/main" id="{830A1187-11FA-8666-E3B5-6E5284ABAB6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7750" y="3867807"/>
            <a:ext cx="762000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Показатель">
            <a:extLst>
              <a:ext uri="{FF2B5EF4-FFF2-40B4-BE49-F238E27FC236}">
                <a16:creationId xmlns:a16="http://schemas.microsoft.com/office/drawing/2014/main" id="{D7FD9C11-1ACD-4A70-9915-4682CD113FD9}"/>
              </a:ext>
            </a:extLst>
          </p:cNvPr>
          <p:cNvSpPr>
            <a:spLocks noGrp="1"/>
          </p:cNvSpPr>
          <p:nvPr/>
        </p:nvSpPr>
        <p:spPr>
          <a:xfrm>
            <a:off x="476250" y="3200400"/>
            <a:ext cx="17335500" cy="4827614"/>
          </a:xfrm>
          <a:prstGeom prst="roundRect">
            <a:avLst>
              <a:gd name="adj" fmla="val 5485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Заголовок">
            <a:extLst>
              <a:ext uri="{FF2B5EF4-FFF2-40B4-BE49-F238E27FC236}">
                <a16:creationId xmlns:a16="http://schemas.microsoft.com/office/drawing/2014/main" id="{D14659ED-5032-414C-9D68-2A2E46BA510E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000" b="0">
                <a:solidFill>
                  <a:srgbClr val="3A3A3A"/>
                </a:solidFill>
                <a:latin typeface="X5 Sans Medium"/>
              </a:rPr>
              <a:t>бюджета в слепой зоне</a:t>
            </a:r>
          </a:p>
        </p:txBody>
      </p:sp>
      <p:sp>
        <p:nvSpPr>
          <p:cNvPr id="5" name="Подзаголовок">
            <a:extLst>
              <a:ext uri="{FF2B5EF4-FFF2-40B4-BE49-F238E27FC236}">
                <a16:creationId xmlns:a16="http://schemas.microsoft.com/office/drawing/2014/main" id="{C45869ED-8F42-40AA-9D66-3D6648BD8BB0}"/>
              </a:ext>
            </a:extLst>
          </p:cNvPr>
          <p:cNvSpPr>
            <a:spLocks noGrp="1"/>
          </p:cNvSpPr>
          <p:nvPr/>
        </p:nvSpPr>
        <p:spPr>
          <a:xfrm>
            <a:off x="476250" y="1485900"/>
            <a:ext cx="8572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400" b="0">
                <a:solidFill>
                  <a:srgbClr val="3A3A3A"/>
                </a:solidFill>
                <a:latin typeface="X5 Sans"/>
              </a:rPr>
              <a:t>Аудит 30 ссылок «ЕдаДома»: 4 без medium, кириллица, пробелы, регистр-двойники</a:t>
            </a:r>
          </a:p>
        </p:txBody>
      </p:sp>
      <p:sp>
        <p:nvSpPr>
          <p:cNvPr id="6" name="Число">
            <a:extLst>
              <a:ext uri="{FF2B5EF4-FFF2-40B4-BE49-F238E27FC236}">
                <a16:creationId xmlns:a16="http://schemas.microsoft.com/office/drawing/2014/main" id="{B993BBEF-0DEC-4550-8C71-39ED8560D420}"/>
              </a:ext>
            </a:extLst>
          </p:cNvPr>
          <p:cNvSpPr>
            <a:spLocks noGrp="1"/>
          </p:cNvSpPr>
          <p:nvPr/>
        </p:nvSpPr>
        <p:spPr>
          <a:xfrm>
            <a:off x="933450" y="3657600"/>
            <a:ext cx="164211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200" b="0">
                <a:solidFill>
                  <a:srgbClr val="3A3A3A"/>
                </a:solidFill>
                <a:latin typeface="X5 Sans Medium"/>
              </a:rPr>
              <a:t>30%</a:t>
            </a:r>
          </a:p>
        </p:txBody>
      </p:sp>
      <p:sp>
        <p:nvSpPr>
          <p:cNvPr id="7" name="Пояснение">
            <a:extLst>
              <a:ext uri="{FF2B5EF4-FFF2-40B4-BE49-F238E27FC236}">
                <a16:creationId xmlns:a16="http://schemas.microsoft.com/office/drawing/2014/main" id="{4F7C8453-546A-4364-9016-4D1B3896B21D}"/>
              </a:ext>
            </a:extLst>
          </p:cNvPr>
          <p:cNvSpPr>
            <a:spLocks noGrp="1"/>
          </p:cNvSpPr>
          <p:nvPr/>
        </p:nvSpPr>
        <p:spPr>
          <a:xfrm>
            <a:off x="933450" y="6286500"/>
            <a:ext cx="81153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0">
                <a:solidFill>
                  <a:srgbClr val="3A3A3A"/>
                </a:solidFill>
                <a:latin typeface="X5 Sans"/>
              </a:rPr>
              <a:t>Чинится за день: справочник + шаблоны</a:t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5"/>
          <a:stretch/>
        </p:blipFill>
        <p:spPr>
          <a:xfrm rot="72000">
            <a:off x="13868400" y="1937668"/>
            <a:ext cx="3600450" cy="3516064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6"/>
          <a:stretch/>
        </p:blipFill>
        <p:spPr>
          <a:xfrm rot="280800">
            <a:off x="12068175" y="8258175"/>
            <a:ext cx="1619250" cy="1619250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82379" y="9186863"/>
            <a:ext cx="2083242" cy="623888"/>
          </a:xfrm>
          <a:prstGeom prst="rect">
            <a:avLst/>
          </a:prstGeom>
        </p:spPr>
      </p:pic>
      <p:sp>
        <p:nvSpPr>
          <p:cNvPr id="11" name="Номер страницы">
            <a:extLst>
              <a:ext uri="{FF2B5EF4-FFF2-40B4-BE49-F238E27FC236}">
                <a16:creationId xmlns:a16="http://schemas.microsoft.com/office/drawing/2014/main" id="{482A0575-9F8E-4C63-9B9D-8B5B7D68017C}"/>
              </a:ext>
            </a:extLst>
          </p:cNvPr>
          <p:cNvSpPr>
            <a:spLocks noGrp="1"/>
          </p:cNvSpPr>
          <p:nvPr/>
        </p:nvSpPr>
        <p:spPr>
          <a:xfrm>
            <a:off x="16859250" y="94678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 b="0"/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Текстовый блок">
            <a:extLst>
              <a:ext uri="{FF2B5EF4-FFF2-40B4-BE49-F238E27FC236}">
                <a16:creationId xmlns:a16="http://schemas.microsoft.com/office/drawing/2014/main" id="{83BF2DA4-8395-4896-98A1-EE8ADF637024}"/>
              </a:ext>
            </a:extLst>
          </p:cNvPr>
          <p:cNvSpPr>
            <a:spLocks noGrp="1"/>
          </p:cNvSpPr>
          <p:nvPr/>
        </p:nvSpPr>
        <p:spPr>
          <a:xfrm>
            <a:off x="476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Список">
            <a:extLst>
              <a:ext uri="{FF2B5EF4-FFF2-40B4-BE49-F238E27FC236}">
                <a16:creationId xmlns:a16="http://schemas.microsoft.com/office/drawing/2014/main" id="{EE991465-5A34-4773-A228-4F61ECBBE8E6}"/>
              </a:ext>
            </a:extLst>
          </p:cNvPr>
          <p:cNvSpPr>
            <a:spLocks noGrp="1"/>
          </p:cNvSpPr>
          <p:nvPr/>
        </p:nvSpPr>
        <p:spPr>
          <a:xfrm>
            <a:off x="9239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Заголовок">
            <a:extLst>
              <a:ext uri="{FF2B5EF4-FFF2-40B4-BE49-F238E27FC236}">
                <a16:creationId xmlns:a16="http://schemas.microsoft.com/office/drawing/2014/main" id="{70B4469F-6CF4-4B36-8D14-80B170FE0D58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500" b="0">
                <a:solidFill>
                  <a:srgbClr val="3A3A3A"/>
                </a:solidFill>
                <a:latin typeface="X5 Sans Medium"/>
              </a:rPr>
              <a:t>Аудит 30 ссылок</a:t>
            </a:r>
          </a:p>
        </p:txBody>
      </p:sp>
      <p:sp>
        <p:nvSpPr>
          <p:cNvPr id="6" name="Подзаголовок">
            <a:extLst>
              <a:ext uri="{FF2B5EF4-FFF2-40B4-BE49-F238E27FC236}">
                <a16:creationId xmlns:a16="http://schemas.microsoft.com/office/drawing/2014/main" id="{EADA99A8-63FD-4201-8FB7-7752A0FD2CE4}"/>
              </a:ext>
            </a:extLst>
          </p:cNvPr>
          <p:cNvSpPr>
            <a:spLocks noGrp="1"/>
          </p:cNvSpPr>
          <p:nvPr/>
        </p:nvSpPr>
        <p:spPr>
          <a:xfrm>
            <a:off x="476250" y="1485900"/>
            <a:ext cx="857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0">
                <a:solidFill>
                  <a:srgbClr val="3A3A3A"/>
                </a:solidFill>
                <a:latin typeface="X5 Sans"/>
              </a:rPr>
              <a:t>Цена невнимания — месяц испорченных решений по бюджету</a:t>
            </a:r>
          </a:p>
        </p:txBody>
      </p:sp>
      <p:sp>
        <p:nvSpPr>
          <p:cNvPr id="7" name="Текстовый блок — заголовок">
            <a:extLst>
              <a:ext uri="{FF2B5EF4-FFF2-40B4-BE49-F238E27FC236}">
                <a16:creationId xmlns:a16="http://schemas.microsoft.com/office/drawing/2014/main" id="{60D8FFDF-B59C-4B0A-8CBE-3EF79B76F9B8}"/>
              </a:ext>
            </a:extLst>
          </p:cNvPr>
          <p:cNvSpPr>
            <a:spLocks noGrp="1"/>
          </p:cNvSpPr>
          <p:nvPr/>
        </p:nvSpPr>
        <p:spPr>
          <a:xfrm>
            <a:off x="800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8" name="Текстовый блок — текст">
            <a:extLst>
              <a:ext uri="{FF2B5EF4-FFF2-40B4-BE49-F238E27FC236}">
                <a16:creationId xmlns:a16="http://schemas.microsoft.com/office/drawing/2014/main" id="{AC333327-0196-4226-8AE6-135E26DFFEF0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79248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9" name="Список — заголовок">
            <a:extLst>
              <a:ext uri="{FF2B5EF4-FFF2-40B4-BE49-F238E27FC236}">
                <a16:creationId xmlns:a16="http://schemas.microsoft.com/office/drawing/2014/main" id="{3C6A7525-86DB-4554-B760-371C8510005B}"/>
              </a:ext>
            </a:extLst>
          </p:cNvPr>
          <p:cNvSpPr>
            <a:spLocks noGrp="1"/>
          </p:cNvSpPr>
          <p:nvPr/>
        </p:nvSpPr>
        <p:spPr>
          <a:xfrm>
            <a:off x="9563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10" name="Список — вводная">
            <a:extLst>
              <a:ext uri="{FF2B5EF4-FFF2-40B4-BE49-F238E27FC236}">
                <a16:creationId xmlns:a16="http://schemas.microsoft.com/office/drawing/2014/main" id="{EDD98C9F-4A8D-400A-82D5-F1B2EB5BE324}"/>
              </a:ext>
            </a:extLst>
          </p:cNvPr>
          <p:cNvSpPr>
            <a:spLocks noGrp="1"/>
          </p:cNvSpPr>
          <p:nvPr/>
        </p:nvSpPr>
        <p:spPr>
          <a:xfrm>
            <a:off x="9563100" y="3848100"/>
            <a:ext cx="7924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11" name="Список — пункты">
            <a:extLst>
              <a:ext uri="{FF2B5EF4-FFF2-40B4-BE49-F238E27FC236}">
                <a16:creationId xmlns:a16="http://schemas.microsoft.com/office/drawing/2014/main" id="{F442EF30-93C7-4546-9525-C1AA3D745C53}"/>
              </a:ext>
            </a:extLst>
          </p:cNvPr>
          <p:cNvSpPr>
            <a:spLocks noGrp="1"/>
          </p:cNvSpPr>
          <p:nvPr/>
        </p:nvSpPr>
        <p:spPr>
          <a:xfrm>
            <a:off x="9715500" y="4933950"/>
            <a:ext cx="7620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5"/>
          <a:stretch/>
        </p:blipFill>
        <p:spPr>
          <a:xfrm rot="879000">
            <a:off x="14963775" y="1371600"/>
            <a:ext cx="2276475" cy="2276475"/>
          </a:xfrm>
          <a:prstGeom prst="rect">
            <a:avLst/>
          </a:prstGeom>
        </p:spPr>
      </p:pic>
      <p:pic>
        <p:nvPicPr>
          <p:cNvPr id="33" name="Рисунок 3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095875" y="6562725"/>
            <a:ext cx="4467225" cy="3724275"/>
          </a:xfrm>
          <a:prstGeom prst="rect">
            <a:avLst/>
          </a:prstGeom>
        </p:spPr>
      </p:pic>
      <p:pic>
        <p:nvPicPr>
          <p:cNvPr id="34" name="Рисунок 33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82379" y="9186863"/>
            <a:ext cx="2083242" cy="623888"/>
          </a:xfrm>
          <a:prstGeom prst="rect">
            <a:avLst/>
          </a:prstGeom>
        </p:spPr>
      </p:pic>
      <p:sp>
        <p:nvSpPr>
          <p:cNvPr id="15" name="Номер страницы">
            <a:extLst>
              <a:ext uri="{FF2B5EF4-FFF2-40B4-BE49-F238E27FC236}">
                <a16:creationId xmlns:a16="http://schemas.microsoft.com/office/drawing/2014/main" id="{8CB3DCAF-5969-49CE-B198-E4C5CEA31C56}"/>
              </a:ext>
            </a:extLst>
          </p:cNvPr>
          <p:cNvSpPr>
            <a:spLocks noGrp="1"/>
          </p:cNvSpPr>
          <p:nvPr/>
        </p:nvSpPr>
        <p:spPr>
          <a:xfrm>
            <a:off x="16859250" y="94678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 b="0"/>
              <a:t>16</a:t>
            </a:r>
          </a:p>
        </p:txBody>
      </p:sp>
      <p:pic>
        <p:nvPicPr>
          <p:cNvPr id="35" name="Picture 34" descr="chan_06_audi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2514600"/>
            <a:ext cx="16824960" cy="380212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62800" y="1933575"/>
            <a:ext cx="8715375" cy="8353425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190601" y="504825"/>
            <a:ext cx="2876741" cy="2876741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5395519" y="6967442"/>
            <a:ext cx="2688194" cy="3191637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4892528" y="1556671"/>
            <a:ext cx="2344484" cy="2344484"/>
          </a:xfrm>
          <a:prstGeom prst="rect">
            <a:avLst/>
          </a:prstGeom>
        </p:spPr>
      </p:pic>
      <p:sp>
        <p:nvSpPr>
          <p:cNvPr id="6" name="Заголовок">
            <a:extLst>
              <a:ext uri="{FF2B5EF4-FFF2-40B4-BE49-F238E27FC236}">
                <a16:creationId xmlns:a16="http://schemas.microsoft.com/office/drawing/2014/main" id="{498BBE52-B56A-4F73-8565-575347066D87}"/>
              </a:ext>
            </a:extLst>
          </p:cNvPr>
          <p:cNvSpPr>
            <a:spLocks noGrp="1"/>
          </p:cNvSpPr>
          <p:nvPr/>
        </p:nvSpPr>
        <p:spPr>
          <a:xfrm>
            <a:off x="476250" y="2895600"/>
            <a:ext cx="7429500" cy="2171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300" b="0">
                <a:solidFill>
                  <a:srgbClr val="3A3A3A"/>
                </a:solidFill>
                <a:latin typeface="X5 Sans Medium"/>
              </a:rPr>
              <a:t>ТВ не кликается — оно меняет память</a:t>
            </a:r>
          </a:p>
        </p:txBody>
      </p:sp>
      <p:sp>
        <p:nvSpPr>
          <p:cNvPr id="7" name="Пояснение">
            <a:extLst>
              <a:ext uri="{FF2B5EF4-FFF2-40B4-BE49-F238E27FC236}">
                <a16:creationId xmlns:a16="http://schemas.microsoft.com/office/drawing/2014/main" id="{7FDFA29B-3B26-457E-8F99-F72D6D317D5E}"/>
              </a:ext>
            </a:extLst>
          </p:cNvPr>
          <p:cNvSpPr>
            <a:spLocks noGrp="1"/>
          </p:cNvSpPr>
          <p:nvPr/>
        </p:nvSpPr>
        <p:spPr>
          <a:xfrm>
            <a:off x="476250" y="5307626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600" b="0" dirty="0" err="1">
                <a:solidFill>
                  <a:srgbClr val="3A3A3A"/>
                </a:solidFill>
                <a:latin typeface="X5 Sans Medium"/>
              </a:rPr>
              <a:t>Брендовые</a:t>
            </a:r>
            <a:r>
              <a:rPr sz="2600" b="0" dirty="0">
                <a:solidFill>
                  <a:srgbClr val="3A3A3A"/>
                </a:solidFill>
                <a:latin typeface="X5 Sans Medium"/>
              </a:rPr>
              <a:t> </a:t>
            </a:r>
            <a:r>
              <a:rPr sz="2600" b="0" dirty="0" err="1">
                <a:solidFill>
                  <a:srgbClr val="3A3A3A"/>
                </a:solidFill>
                <a:latin typeface="X5 Sans Medium"/>
              </a:rPr>
              <a:t>запросы</a:t>
            </a:r>
            <a:r>
              <a:rPr sz="2600" b="0" dirty="0">
                <a:solidFill>
                  <a:srgbClr val="3A3A3A"/>
                </a:solidFill>
                <a:latin typeface="X5 Sans Medium"/>
              </a:rPr>
              <a:t>, direct, </a:t>
            </a:r>
            <a:r>
              <a:rPr sz="2600" b="0" dirty="0" err="1">
                <a:solidFill>
                  <a:srgbClr val="3A3A3A"/>
                </a:solidFill>
                <a:latin typeface="X5 Sans Medium"/>
              </a:rPr>
              <a:t>установки</a:t>
            </a:r>
            <a:r>
              <a:rPr sz="2600" b="0" dirty="0">
                <a:solidFill>
                  <a:srgbClr val="3A3A3A"/>
                </a:solidFill>
                <a:latin typeface="X5 Sans Medium"/>
              </a:rPr>
              <a:t>: </a:t>
            </a:r>
            <a:r>
              <a:rPr sz="2600" b="0" dirty="0" err="1">
                <a:solidFill>
                  <a:srgbClr val="3A3A3A"/>
                </a:solidFill>
                <a:latin typeface="X5 Sans Medium"/>
              </a:rPr>
              <a:t>эффект</a:t>
            </a:r>
            <a:r>
              <a:rPr sz="2600" b="0" dirty="0">
                <a:solidFill>
                  <a:srgbClr val="3A3A3A"/>
                </a:solidFill>
                <a:latin typeface="X5 Sans Medium"/>
              </a:rPr>
              <a:t> </a:t>
            </a:r>
            <a:r>
              <a:rPr sz="2600" b="0" dirty="0" err="1">
                <a:solidFill>
                  <a:srgbClr val="3A3A3A"/>
                </a:solidFill>
                <a:latin typeface="X5 Sans Medium"/>
              </a:rPr>
              <a:t>без</a:t>
            </a:r>
            <a:r>
              <a:rPr sz="2600" b="0" dirty="0">
                <a:solidFill>
                  <a:srgbClr val="3A3A3A"/>
                </a:solidFill>
                <a:latin typeface="X5 Sans Medium"/>
              </a:rPr>
              <a:t> </a:t>
            </a:r>
            <a:r>
              <a:rPr sz="2600" b="0" dirty="0" err="1">
                <a:solidFill>
                  <a:srgbClr val="3A3A3A"/>
                </a:solidFill>
                <a:latin typeface="X5 Sans Medium"/>
              </a:rPr>
              <a:t>ссылки</a:t>
            </a:r>
            <a:r>
              <a:rPr sz="2600" b="0" dirty="0">
                <a:solidFill>
                  <a:srgbClr val="3A3A3A"/>
                </a:solidFill>
                <a:latin typeface="X5 Sans Medium"/>
              </a:rPr>
              <a:t> — </a:t>
            </a:r>
            <a:r>
              <a:rPr sz="2600" b="0" dirty="0" err="1">
                <a:solidFill>
                  <a:srgbClr val="3A3A3A"/>
                </a:solidFill>
                <a:latin typeface="X5 Sans Medium"/>
              </a:rPr>
              <a:t>нужны</a:t>
            </a:r>
            <a:r>
              <a:rPr sz="2600" b="0" dirty="0">
                <a:solidFill>
                  <a:srgbClr val="3A3A3A"/>
                </a:solidFill>
                <a:latin typeface="X5 Sans Medium"/>
              </a:rPr>
              <a:t> </a:t>
            </a:r>
            <a:r>
              <a:rPr sz="2600" b="0" dirty="0" err="1">
                <a:solidFill>
                  <a:srgbClr val="3A3A3A"/>
                </a:solidFill>
                <a:latin typeface="X5 Sans Medium"/>
              </a:rPr>
              <a:t>косвенные</a:t>
            </a:r>
            <a:r>
              <a:rPr sz="2600" b="0" dirty="0">
                <a:solidFill>
                  <a:srgbClr val="3A3A3A"/>
                </a:solidFill>
                <a:latin typeface="X5 Sans Medium"/>
              </a:rPr>
              <a:t> </a:t>
            </a:r>
            <a:r>
              <a:rPr sz="2600" b="0" dirty="0" err="1">
                <a:solidFill>
                  <a:srgbClr val="3A3A3A"/>
                </a:solidFill>
                <a:latin typeface="X5 Sans Medium"/>
              </a:rPr>
              <a:t>методы</a:t>
            </a:r>
            <a:endParaRPr sz="2600" b="0" dirty="0">
              <a:solidFill>
                <a:srgbClr val="3A3A3A"/>
              </a:solidFill>
              <a:latin typeface="X5 Sans Medium"/>
            </a:endParaRP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77115" y="476250"/>
            <a:ext cx="1034305" cy="929926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027176" y="907322"/>
            <a:ext cx="453200" cy="500408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499806" y="907592"/>
            <a:ext cx="376904" cy="508821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2076846" y="886682"/>
            <a:ext cx="2050036" cy="67541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Текстовый блок">
            <a:extLst>
              <a:ext uri="{FF2B5EF4-FFF2-40B4-BE49-F238E27FC236}">
                <a16:creationId xmlns:a16="http://schemas.microsoft.com/office/drawing/2014/main" id="{83BF2DA4-8395-4896-98A1-EE8ADF637024}"/>
              </a:ext>
            </a:extLst>
          </p:cNvPr>
          <p:cNvSpPr>
            <a:spLocks noGrp="1"/>
          </p:cNvSpPr>
          <p:nvPr/>
        </p:nvSpPr>
        <p:spPr>
          <a:xfrm>
            <a:off x="476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Список">
            <a:extLst>
              <a:ext uri="{FF2B5EF4-FFF2-40B4-BE49-F238E27FC236}">
                <a16:creationId xmlns:a16="http://schemas.microsoft.com/office/drawing/2014/main" id="{EE991465-5A34-4773-A228-4F61ECBBE8E6}"/>
              </a:ext>
            </a:extLst>
          </p:cNvPr>
          <p:cNvSpPr>
            <a:spLocks noGrp="1"/>
          </p:cNvSpPr>
          <p:nvPr/>
        </p:nvSpPr>
        <p:spPr>
          <a:xfrm>
            <a:off x="9239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Заголовок">
            <a:extLst>
              <a:ext uri="{FF2B5EF4-FFF2-40B4-BE49-F238E27FC236}">
                <a16:creationId xmlns:a16="http://schemas.microsoft.com/office/drawing/2014/main" id="{70B4469F-6CF4-4B36-8D14-80B170FE0D58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700" b="0">
                <a:solidFill>
                  <a:srgbClr val="3A3A3A"/>
                </a:solidFill>
                <a:latin typeface="X5 Sans Medium"/>
              </a:rPr>
              <a:t>Пик-анализ: всплески после вылетов</a:t>
            </a:r>
          </a:p>
        </p:txBody>
      </p:sp>
      <p:sp>
        <p:nvSpPr>
          <p:cNvPr id="6" name="Подзаголовок">
            <a:extLst>
              <a:ext uri="{FF2B5EF4-FFF2-40B4-BE49-F238E27FC236}">
                <a16:creationId xmlns:a16="http://schemas.microsoft.com/office/drawing/2014/main" id="{EADA99A8-63FD-4201-8FB7-7752A0FD2CE4}"/>
              </a:ext>
            </a:extLst>
          </p:cNvPr>
          <p:cNvSpPr>
            <a:spLocks noGrp="1"/>
          </p:cNvSpPr>
          <p:nvPr/>
        </p:nvSpPr>
        <p:spPr>
          <a:xfrm>
            <a:off x="476250" y="1485900"/>
            <a:ext cx="857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0">
                <a:solidFill>
                  <a:srgbClr val="3A3A3A"/>
                </a:solidFill>
                <a:latin typeface="X5 Sans"/>
              </a:rPr>
              <a:t>Сверяйте с прошлым годом и контрольными гео: сезонность легко «доказывает» что угодно</a:t>
            </a:r>
          </a:p>
        </p:txBody>
      </p:sp>
      <p:sp>
        <p:nvSpPr>
          <p:cNvPr id="7" name="Текстовый блок — заголовок">
            <a:extLst>
              <a:ext uri="{FF2B5EF4-FFF2-40B4-BE49-F238E27FC236}">
                <a16:creationId xmlns:a16="http://schemas.microsoft.com/office/drawing/2014/main" id="{60D8FFDF-B59C-4B0A-8CBE-3EF79B76F9B8}"/>
              </a:ext>
            </a:extLst>
          </p:cNvPr>
          <p:cNvSpPr>
            <a:spLocks noGrp="1"/>
          </p:cNvSpPr>
          <p:nvPr/>
        </p:nvSpPr>
        <p:spPr>
          <a:xfrm>
            <a:off x="800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8" name="Текстовый блок — текст">
            <a:extLst>
              <a:ext uri="{FF2B5EF4-FFF2-40B4-BE49-F238E27FC236}">
                <a16:creationId xmlns:a16="http://schemas.microsoft.com/office/drawing/2014/main" id="{AC333327-0196-4226-8AE6-135E26DFFEF0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79248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9" name="Список — заголовок">
            <a:extLst>
              <a:ext uri="{FF2B5EF4-FFF2-40B4-BE49-F238E27FC236}">
                <a16:creationId xmlns:a16="http://schemas.microsoft.com/office/drawing/2014/main" id="{3C6A7525-86DB-4554-B760-371C8510005B}"/>
              </a:ext>
            </a:extLst>
          </p:cNvPr>
          <p:cNvSpPr>
            <a:spLocks noGrp="1"/>
          </p:cNvSpPr>
          <p:nvPr/>
        </p:nvSpPr>
        <p:spPr>
          <a:xfrm>
            <a:off x="9563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10" name="Список — вводная">
            <a:extLst>
              <a:ext uri="{FF2B5EF4-FFF2-40B4-BE49-F238E27FC236}">
                <a16:creationId xmlns:a16="http://schemas.microsoft.com/office/drawing/2014/main" id="{EDD98C9F-4A8D-400A-82D5-F1B2EB5BE324}"/>
              </a:ext>
            </a:extLst>
          </p:cNvPr>
          <p:cNvSpPr>
            <a:spLocks noGrp="1"/>
          </p:cNvSpPr>
          <p:nvPr/>
        </p:nvSpPr>
        <p:spPr>
          <a:xfrm>
            <a:off x="9563100" y="3848100"/>
            <a:ext cx="7924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11" name="Список — пункты">
            <a:extLst>
              <a:ext uri="{FF2B5EF4-FFF2-40B4-BE49-F238E27FC236}">
                <a16:creationId xmlns:a16="http://schemas.microsoft.com/office/drawing/2014/main" id="{F442EF30-93C7-4546-9525-C1AA3D745C53}"/>
              </a:ext>
            </a:extLst>
          </p:cNvPr>
          <p:cNvSpPr>
            <a:spLocks noGrp="1"/>
          </p:cNvSpPr>
          <p:nvPr/>
        </p:nvSpPr>
        <p:spPr>
          <a:xfrm>
            <a:off x="9715500" y="4933950"/>
            <a:ext cx="7620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5"/>
          <a:stretch/>
        </p:blipFill>
        <p:spPr>
          <a:xfrm rot="879000">
            <a:off x="14963775" y="1371600"/>
            <a:ext cx="2276475" cy="2276475"/>
          </a:xfrm>
          <a:prstGeom prst="rect">
            <a:avLst/>
          </a:prstGeom>
        </p:spPr>
      </p:pic>
      <p:pic>
        <p:nvPicPr>
          <p:cNvPr id="33" name="Рисунок 3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095875" y="6562725"/>
            <a:ext cx="4467225" cy="3724275"/>
          </a:xfrm>
          <a:prstGeom prst="rect">
            <a:avLst/>
          </a:prstGeom>
        </p:spPr>
      </p:pic>
      <p:pic>
        <p:nvPicPr>
          <p:cNvPr id="34" name="Рисунок 33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82379" y="9186863"/>
            <a:ext cx="2083242" cy="623888"/>
          </a:xfrm>
          <a:prstGeom prst="rect">
            <a:avLst/>
          </a:prstGeom>
        </p:spPr>
      </p:pic>
      <p:sp>
        <p:nvSpPr>
          <p:cNvPr id="15" name="Номер страницы">
            <a:extLst>
              <a:ext uri="{FF2B5EF4-FFF2-40B4-BE49-F238E27FC236}">
                <a16:creationId xmlns:a16="http://schemas.microsoft.com/office/drawing/2014/main" id="{8CB3DCAF-5969-49CE-B198-E4C5CEA31C56}"/>
              </a:ext>
            </a:extLst>
          </p:cNvPr>
          <p:cNvSpPr>
            <a:spLocks noGrp="1"/>
          </p:cNvSpPr>
          <p:nvPr/>
        </p:nvSpPr>
        <p:spPr>
          <a:xfrm>
            <a:off x="16859250" y="94678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 b="0"/>
              <a:t>18</a:t>
            </a:r>
          </a:p>
        </p:txBody>
      </p:sp>
      <p:pic>
        <p:nvPicPr>
          <p:cNvPr id="35" name="Picture 34" descr="chan_07_tv_spik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17743" y="2514600"/>
            <a:ext cx="15052512" cy="65379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62800" y="1933575"/>
            <a:ext cx="8715375" cy="8353425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190601" y="504825"/>
            <a:ext cx="2876741" cy="2876741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5395519" y="6967442"/>
            <a:ext cx="2688194" cy="3191637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4892528" y="1556671"/>
            <a:ext cx="2344484" cy="2344484"/>
          </a:xfrm>
          <a:prstGeom prst="rect">
            <a:avLst/>
          </a:prstGeom>
        </p:spPr>
      </p:pic>
      <p:sp>
        <p:nvSpPr>
          <p:cNvPr id="6" name="Заголовок">
            <a:extLst>
              <a:ext uri="{FF2B5EF4-FFF2-40B4-BE49-F238E27FC236}">
                <a16:creationId xmlns:a16="http://schemas.microsoft.com/office/drawing/2014/main" id="{498BBE52-B56A-4F73-8565-575347066D87}"/>
              </a:ext>
            </a:extLst>
          </p:cNvPr>
          <p:cNvSpPr>
            <a:spLocks noGrp="1"/>
          </p:cNvSpPr>
          <p:nvPr/>
        </p:nvSpPr>
        <p:spPr>
          <a:xfrm>
            <a:off x="476250" y="2895600"/>
            <a:ext cx="7429500" cy="2171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300" b="0">
                <a:solidFill>
                  <a:srgbClr val="3A3A3A"/>
                </a:solidFill>
                <a:latin typeface="X5 Sans Medium"/>
              </a:rPr>
              <a:t>ТВ-тест «ЕдаДома»: 2 города против 3 контрольных</a:t>
            </a:r>
          </a:p>
        </p:txBody>
      </p:sp>
      <p:sp>
        <p:nvSpPr>
          <p:cNvPr id="7" name="Пояснение">
            <a:extLst>
              <a:ext uri="{FF2B5EF4-FFF2-40B4-BE49-F238E27FC236}">
                <a16:creationId xmlns:a16="http://schemas.microsoft.com/office/drawing/2014/main" id="{7FDFA29B-3B26-457E-8F99-F72D6D317D5E}"/>
              </a:ext>
            </a:extLst>
          </p:cNvPr>
          <p:cNvSpPr>
            <a:spLocks noGrp="1"/>
          </p:cNvSpPr>
          <p:nvPr/>
        </p:nvSpPr>
        <p:spPr>
          <a:xfrm>
            <a:off x="476250" y="5307626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77115" y="476250"/>
            <a:ext cx="1034305" cy="929926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027176" y="907322"/>
            <a:ext cx="453200" cy="500408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499806" y="907592"/>
            <a:ext cx="376904" cy="508821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2076846" y="886682"/>
            <a:ext cx="2050036" cy="675418"/>
          </a:xfrm>
          <a:prstGeom prst="rect">
            <a:avLst/>
          </a:prstGeom>
        </p:spPr>
      </p:pic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548640" y="5257800"/>
          <a:ext cx="1719072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9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X5 Sans"/>
                        </a:rPr>
                        <a:t>Метрика</a:t>
                      </a:r>
                    </a:p>
                  </a:txBody>
                  <a:tcPr marL="109728" marR="73152" marT="27432" marB="27432"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X5 Sans"/>
                        </a:rPr>
                        <a:t>Тест</a:t>
                      </a:r>
                    </a:p>
                  </a:txBody>
                  <a:tcPr marL="109728" marR="73152" marT="27432" marB="27432"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X5 Sans"/>
                        </a:rPr>
                        <a:t>Контроль</a:t>
                      </a:r>
                    </a:p>
                  </a:txBody>
                  <a:tcPr marL="109728" marR="73152" marT="27432" marB="27432" anchor="ctr"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E2841"/>
                          </a:solidFill>
                          <a:latin typeface="X5 Sans"/>
                        </a:rPr>
                        <a:t>Брендовые запросы</a:t>
                      </a:r>
                    </a:p>
                  </a:txBody>
                  <a:tcPr marL="109728" marR="73152" marT="27432" marB="27432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E4055"/>
                          </a:solidFill>
                          <a:latin typeface="X5 Sans"/>
                        </a:rPr>
                        <a:t>+40%</a:t>
                      </a:r>
                    </a:p>
                  </a:txBody>
                  <a:tcPr marL="109728" marR="73152" marT="27432" marB="27432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E4055"/>
                          </a:solidFill>
                          <a:latin typeface="X5 Sans"/>
                        </a:rPr>
                        <a:t>+3% (сезон)</a:t>
                      </a:r>
                    </a:p>
                  </a:txBody>
                  <a:tcPr marL="109728" marR="73152" marT="27432" marB="27432" anchor="ctr"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E2841"/>
                          </a:solidFill>
                          <a:latin typeface="X5 Sans"/>
                        </a:rPr>
                        <a:t>Direct-заходы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E4055"/>
                          </a:solidFill>
                          <a:latin typeface="X5 Sans"/>
                        </a:rPr>
                        <a:t>+12%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E4055"/>
                          </a:solidFill>
                          <a:latin typeface="X5 Sans"/>
                        </a:rPr>
                        <a:t>—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E2841"/>
                          </a:solidFill>
                          <a:latin typeface="X5 Sans"/>
                        </a:rPr>
                        <a:t>Новые на 10 тыс. жителей</a:t>
                      </a:r>
                    </a:p>
                  </a:txBody>
                  <a:tcPr marL="109728" marR="73152" marT="27432" marB="27432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E4055"/>
                          </a:solidFill>
                          <a:latin typeface="X5 Sans"/>
                        </a:rPr>
                        <a:t>+64</a:t>
                      </a:r>
                    </a:p>
                  </a:txBody>
                  <a:tcPr marL="109728" marR="73152" marT="27432" marB="27432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E4055"/>
                          </a:solidFill>
                          <a:latin typeface="X5 Sans"/>
                        </a:rPr>
                        <a:t>+7</a:t>
                      </a:r>
                    </a:p>
                  </a:txBody>
                  <a:tcPr marL="109728" marR="73152" marT="27432" marB="27432" anchor="ctr"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E2841"/>
                          </a:solidFill>
                          <a:latin typeface="X5 Sans"/>
                        </a:rPr>
                        <a:t>DiD-прирост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E4055"/>
                          </a:solidFill>
                          <a:latin typeface="X5 Sans"/>
                        </a:rPr>
                        <a:t>+57 новых за 4 недели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E4055"/>
                          </a:solidFill>
                          <a:latin typeface="X5 Sans"/>
                        </a:rPr>
                        <a:t>—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E2841"/>
                          </a:solidFill>
                          <a:latin typeface="X5 Sans"/>
                        </a:rPr>
                        <a:t>«CAC ТВ»</a:t>
                      </a:r>
                    </a:p>
                  </a:txBody>
                  <a:tcPr marL="109728" marR="73152" marT="27432" marB="27432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E4055"/>
                          </a:solidFill>
                          <a:latin typeface="X5 Sans"/>
                        </a:rPr>
                        <a:t>≈940 ₽</a:t>
                      </a:r>
                    </a:p>
                  </a:txBody>
                  <a:tcPr marL="109728" marR="73152" marT="27432" marB="27432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E4055"/>
                          </a:solidFill>
                          <a:latin typeface="X5 Sans"/>
                        </a:rPr>
                        <a:t>дороже контекста — но растит весь рынок</a:t>
                      </a:r>
                    </a:p>
                  </a:txBody>
                  <a:tcPr marL="109728" marR="73152" marT="27432" marB="27432" anchor="ctr"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Текстовый блок">
            <a:extLst>
              <a:ext uri="{FF2B5EF4-FFF2-40B4-BE49-F238E27FC236}">
                <a16:creationId xmlns:a16="http://schemas.microsoft.com/office/drawing/2014/main" id="{83BF2DA4-8395-4896-98A1-EE8ADF637024}"/>
              </a:ext>
            </a:extLst>
          </p:cNvPr>
          <p:cNvSpPr>
            <a:spLocks noGrp="1"/>
          </p:cNvSpPr>
          <p:nvPr/>
        </p:nvSpPr>
        <p:spPr>
          <a:xfrm>
            <a:off x="476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Список">
            <a:extLst>
              <a:ext uri="{FF2B5EF4-FFF2-40B4-BE49-F238E27FC236}">
                <a16:creationId xmlns:a16="http://schemas.microsoft.com/office/drawing/2014/main" id="{EE991465-5A34-4773-A228-4F61ECBBE8E6}"/>
              </a:ext>
            </a:extLst>
          </p:cNvPr>
          <p:cNvSpPr>
            <a:spLocks noGrp="1"/>
          </p:cNvSpPr>
          <p:nvPr/>
        </p:nvSpPr>
        <p:spPr>
          <a:xfrm>
            <a:off x="9239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Заголовок">
            <a:extLst>
              <a:ext uri="{FF2B5EF4-FFF2-40B4-BE49-F238E27FC236}">
                <a16:creationId xmlns:a16="http://schemas.microsoft.com/office/drawing/2014/main" id="{70B4469F-6CF4-4B36-8D14-80B170FE0D58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100" b="0">
                <a:solidFill>
                  <a:srgbClr val="3A3A3A"/>
                </a:solidFill>
                <a:latin typeface="X5 Sans Medium"/>
              </a:rPr>
              <a:t>Гео-тест (DiD): инкрементальность ТВ</a:t>
            </a:r>
          </a:p>
        </p:txBody>
      </p:sp>
      <p:sp>
        <p:nvSpPr>
          <p:cNvPr id="6" name="Подзаголовок">
            <a:extLst>
              <a:ext uri="{FF2B5EF4-FFF2-40B4-BE49-F238E27FC236}">
                <a16:creationId xmlns:a16="http://schemas.microsoft.com/office/drawing/2014/main" id="{EADA99A8-63FD-4201-8FB7-7752A0FD2CE4}"/>
              </a:ext>
            </a:extLst>
          </p:cNvPr>
          <p:cNvSpPr>
            <a:spLocks noGrp="1"/>
          </p:cNvSpPr>
          <p:nvPr/>
        </p:nvSpPr>
        <p:spPr>
          <a:xfrm>
            <a:off x="476250" y="1485900"/>
            <a:ext cx="857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0">
                <a:solidFill>
                  <a:srgbClr val="3A3A3A"/>
                </a:solidFill>
                <a:latin typeface="X5 Sans"/>
              </a:rPr>
              <a:t>Самый честный из косвенных методов: даёт инкрементальный эффект, а не корреляцию</a:t>
            </a:r>
          </a:p>
        </p:txBody>
      </p:sp>
      <p:sp>
        <p:nvSpPr>
          <p:cNvPr id="7" name="Текстовый блок — заголовок">
            <a:extLst>
              <a:ext uri="{FF2B5EF4-FFF2-40B4-BE49-F238E27FC236}">
                <a16:creationId xmlns:a16="http://schemas.microsoft.com/office/drawing/2014/main" id="{60D8FFDF-B59C-4B0A-8CBE-3EF79B76F9B8}"/>
              </a:ext>
            </a:extLst>
          </p:cNvPr>
          <p:cNvSpPr>
            <a:spLocks noGrp="1"/>
          </p:cNvSpPr>
          <p:nvPr/>
        </p:nvSpPr>
        <p:spPr>
          <a:xfrm>
            <a:off x="800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8" name="Текстовый блок — текст">
            <a:extLst>
              <a:ext uri="{FF2B5EF4-FFF2-40B4-BE49-F238E27FC236}">
                <a16:creationId xmlns:a16="http://schemas.microsoft.com/office/drawing/2014/main" id="{AC333327-0196-4226-8AE6-135E26DFFEF0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79248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9" name="Список — заголовок">
            <a:extLst>
              <a:ext uri="{FF2B5EF4-FFF2-40B4-BE49-F238E27FC236}">
                <a16:creationId xmlns:a16="http://schemas.microsoft.com/office/drawing/2014/main" id="{3C6A7525-86DB-4554-B760-371C8510005B}"/>
              </a:ext>
            </a:extLst>
          </p:cNvPr>
          <p:cNvSpPr>
            <a:spLocks noGrp="1"/>
          </p:cNvSpPr>
          <p:nvPr/>
        </p:nvSpPr>
        <p:spPr>
          <a:xfrm>
            <a:off x="9563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10" name="Список — вводная">
            <a:extLst>
              <a:ext uri="{FF2B5EF4-FFF2-40B4-BE49-F238E27FC236}">
                <a16:creationId xmlns:a16="http://schemas.microsoft.com/office/drawing/2014/main" id="{EDD98C9F-4A8D-400A-82D5-F1B2EB5BE324}"/>
              </a:ext>
            </a:extLst>
          </p:cNvPr>
          <p:cNvSpPr>
            <a:spLocks noGrp="1"/>
          </p:cNvSpPr>
          <p:nvPr/>
        </p:nvSpPr>
        <p:spPr>
          <a:xfrm>
            <a:off x="9563100" y="3848100"/>
            <a:ext cx="7924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11" name="Список — пункты">
            <a:extLst>
              <a:ext uri="{FF2B5EF4-FFF2-40B4-BE49-F238E27FC236}">
                <a16:creationId xmlns:a16="http://schemas.microsoft.com/office/drawing/2014/main" id="{F442EF30-93C7-4546-9525-C1AA3D745C53}"/>
              </a:ext>
            </a:extLst>
          </p:cNvPr>
          <p:cNvSpPr>
            <a:spLocks noGrp="1"/>
          </p:cNvSpPr>
          <p:nvPr/>
        </p:nvSpPr>
        <p:spPr>
          <a:xfrm>
            <a:off x="9715500" y="4933950"/>
            <a:ext cx="7620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5"/>
          <a:stretch/>
        </p:blipFill>
        <p:spPr>
          <a:xfrm rot="879000">
            <a:off x="14963775" y="1371600"/>
            <a:ext cx="2276475" cy="2276475"/>
          </a:xfrm>
          <a:prstGeom prst="rect">
            <a:avLst/>
          </a:prstGeom>
        </p:spPr>
      </p:pic>
      <p:pic>
        <p:nvPicPr>
          <p:cNvPr id="33" name="Рисунок 3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095875" y="6562725"/>
            <a:ext cx="4467225" cy="3724275"/>
          </a:xfrm>
          <a:prstGeom prst="rect">
            <a:avLst/>
          </a:prstGeom>
        </p:spPr>
      </p:pic>
      <p:pic>
        <p:nvPicPr>
          <p:cNvPr id="34" name="Рисунок 33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82379" y="9186863"/>
            <a:ext cx="2083242" cy="623888"/>
          </a:xfrm>
          <a:prstGeom prst="rect">
            <a:avLst/>
          </a:prstGeom>
        </p:spPr>
      </p:pic>
      <p:sp>
        <p:nvSpPr>
          <p:cNvPr id="15" name="Номер страницы">
            <a:extLst>
              <a:ext uri="{FF2B5EF4-FFF2-40B4-BE49-F238E27FC236}">
                <a16:creationId xmlns:a16="http://schemas.microsoft.com/office/drawing/2014/main" id="{8CB3DCAF-5969-49CE-B198-E4C5CEA31C56}"/>
              </a:ext>
            </a:extLst>
          </p:cNvPr>
          <p:cNvSpPr>
            <a:spLocks noGrp="1"/>
          </p:cNvSpPr>
          <p:nvPr/>
        </p:nvSpPr>
        <p:spPr>
          <a:xfrm>
            <a:off x="16859250" y="94678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 b="0"/>
              <a:t>20</a:t>
            </a:r>
          </a:p>
        </p:txBody>
      </p:sp>
      <p:pic>
        <p:nvPicPr>
          <p:cNvPr id="35" name="Picture 34" descr="chan_08_geo_di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17743" y="2514600"/>
            <a:ext cx="15052512" cy="65379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Текстовый блок">
            <a:extLst>
              <a:ext uri="{FF2B5EF4-FFF2-40B4-BE49-F238E27FC236}">
                <a16:creationId xmlns:a16="http://schemas.microsoft.com/office/drawing/2014/main" id="{83BF2DA4-8395-4896-98A1-EE8ADF637024}"/>
              </a:ext>
            </a:extLst>
          </p:cNvPr>
          <p:cNvSpPr>
            <a:spLocks noGrp="1"/>
          </p:cNvSpPr>
          <p:nvPr/>
        </p:nvSpPr>
        <p:spPr>
          <a:xfrm>
            <a:off x="476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Список">
            <a:extLst>
              <a:ext uri="{FF2B5EF4-FFF2-40B4-BE49-F238E27FC236}">
                <a16:creationId xmlns:a16="http://schemas.microsoft.com/office/drawing/2014/main" id="{EE991465-5A34-4773-A228-4F61ECBBE8E6}"/>
              </a:ext>
            </a:extLst>
          </p:cNvPr>
          <p:cNvSpPr>
            <a:spLocks noGrp="1"/>
          </p:cNvSpPr>
          <p:nvPr/>
        </p:nvSpPr>
        <p:spPr>
          <a:xfrm>
            <a:off x="9239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Заголовок">
            <a:extLst>
              <a:ext uri="{FF2B5EF4-FFF2-40B4-BE49-F238E27FC236}">
                <a16:creationId xmlns:a16="http://schemas.microsoft.com/office/drawing/2014/main" id="{70B4469F-6CF4-4B36-8D14-80B170FE0D58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500" b="0">
                <a:solidFill>
                  <a:srgbClr val="3A3A3A"/>
                </a:solidFill>
                <a:latin typeface="X5 Sans Medium"/>
              </a:rPr>
              <a:t>Иерархия доказательств</a:t>
            </a:r>
          </a:p>
        </p:txBody>
      </p:sp>
      <p:sp>
        <p:nvSpPr>
          <p:cNvPr id="6" name="Подзаголовок">
            <a:extLst>
              <a:ext uri="{FF2B5EF4-FFF2-40B4-BE49-F238E27FC236}">
                <a16:creationId xmlns:a16="http://schemas.microsoft.com/office/drawing/2014/main" id="{EADA99A8-63FD-4201-8FB7-7752A0FD2CE4}"/>
              </a:ext>
            </a:extLst>
          </p:cNvPr>
          <p:cNvSpPr>
            <a:spLocks noGrp="1"/>
          </p:cNvSpPr>
          <p:nvPr/>
        </p:nvSpPr>
        <p:spPr>
          <a:xfrm>
            <a:off x="476250" y="1485900"/>
            <a:ext cx="857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0">
                <a:solidFill>
                  <a:srgbClr val="3A3A3A"/>
                </a:solidFill>
                <a:latin typeface="X5 Sans"/>
              </a:rPr>
              <a:t>MMM калибруется экспериментами; пик-анализ — всегда, как первый эшелон</a:t>
            </a:r>
          </a:p>
        </p:txBody>
      </p:sp>
      <p:sp>
        <p:nvSpPr>
          <p:cNvPr id="7" name="Текстовый блок — заголовок">
            <a:extLst>
              <a:ext uri="{FF2B5EF4-FFF2-40B4-BE49-F238E27FC236}">
                <a16:creationId xmlns:a16="http://schemas.microsoft.com/office/drawing/2014/main" id="{60D8FFDF-B59C-4B0A-8CBE-3EF79B76F9B8}"/>
              </a:ext>
            </a:extLst>
          </p:cNvPr>
          <p:cNvSpPr>
            <a:spLocks noGrp="1"/>
          </p:cNvSpPr>
          <p:nvPr/>
        </p:nvSpPr>
        <p:spPr>
          <a:xfrm>
            <a:off x="800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8" name="Текстовый блок — текст">
            <a:extLst>
              <a:ext uri="{FF2B5EF4-FFF2-40B4-BE49-F238E27FC236}">
                <a16:creationId xmlns:a16="http://schemas.microsoft.com/office/drawing/2014/main" id="{AC333327-0196-4226-8AE6-135E26DFFEF0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79248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9" name="Список — заголовок">
            <a:extLst>
              <a:ext uri="{FF2B5EF4-FFF2-40B4-BE49-F238E27FC236}">
                <a16:creationId xmlns:a16="http://schemas.microsoft.com/office/drawing/2014/main" id="{3C6A7525-86DB-4554-B760-371C8510005B}"/>
              </a:ext>
            </a:extLst>
          </p:cNvPr>
          <p:cNvSpPr>
            <a:spLocks noGrp="1"/>
          </p:cNvSpPr>
          <p:nvPr/>
        </p:nvSpPr>
        <p:spPr>
          <a:xfrm>
            <a:off x="9563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10" name="Список — вводная">
            <a:extLst>
              <a:ext uri="{FF2B5EF4-FFF2-40B4-BE49-F238E27FC236}">
                <a16:creationId xmlns:a16="http://schemas.microsoft.com/office/drawing/2014/main" id="{EDD98C9F-4A8D-400A-82D5-F1B2EB5BE324}"/>
              </a:ext>
            </a:extLst>
          </p:cNvPr>
          <p:cNvSpPr>
            <a:spLocks noGrp="1"/>
          </p:cNvSpPr>
          <p:nvPr/>
        </p:nvSpPr>
        <p:spPr>
          <a:xfrm>
            <a:off x="9563100" y="3848100"/>
            <a:ext cx="7924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11" name="Список — пункты">
            <a:extLst>
              <a:ext uri="{FF2B5EF4-FFF2-40B4-BE49-F238E27FC236}">
                <a16:creationId xmlns:a16="http://schemas.microsoft.com/office/drawing/2014/main" id="{F442EF30-93C7-4546-9525-C1AA3D745C53}"/>
              </a:ext>
            </a:extLst>
          </p:cNvPr>
          <p:cNvSpPr>
            <a:spLocks noGrp="1"/>
          </p:cNvSpPr>
          <p:nvPr/>
        </p:nvSpPr>
        <p:spPr>
          <a:xfrm>
            <a:off x="9715500" y="4933950"/>
            <a:ext cx="7620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5"/>
          <a:stretch/>
        </p:blipFill>
        <p:spPr>
          <a:xfrm rot="879000">
            <a:off x="14963775" y="1371600"/>
            <a:ext cx="2276475" cy="2276475"/>
          </a:xfrm>
          <a:prstGeom prst="rect">
            <a:avLst/>
          </a:prstGeom>
        </p:spPr>
      </p:pic>
      <p:pic>
        <p:nvPicPr>
          <p:cNvPr id="33" name="Рисунок 3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095875" y="6562725"/>
            <a:ext cx="4467225" cy="3724275"/>
          </a:xfrm>
          <a:prstGeom prst="rect">
            <a:avLst/>
          </a:prstGeom>
        </p:spPr>
      </p:pic>
      <p:pic>
        <p:nvPicPr>
          <p:cNvPr id="34" name="Рисунок 33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82379" y="9186863"/>
            <a:ext cx="2083242" cy="623888"/>
          </a:xfrm>
          <a:prstGeom prst="rect">
            <a:avLst/>
          </a:prstGeom>
        </p:spPr>
      </p:pic>
      <p:sp>
        <p:nvSpPr>
          <p:cNvPr id="15" name="Номер страницы">
            <a:extLst>
              <a:ext uri="{FF2B5EF4-FFF2-40B4-BE49-F238E27FC236}">
                <a16:creationId xmlns:a16="http://schemas.microsoft.com/office/drawing/2014/main" id="{8CB3DCAF-5969-49CE-B198-E4C5CEA31C56}"/>
              </a:ext>
            </a:extLst>
          </p:cNvPr>
          <p:cNvSpPr>
            <a:spLocks noGrp="1"/>
          </p:cNvSpPr>
          <p:nvPr/>
        </p:nvSpPr>
        <p:spPr>
          <a:xfrm>
            <a:off x="16859250" y="94678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 b="0"/>
              <a:t>21</a:t>
            </a:r>
          </a:p>
        </p:txBody>
      </p:sp>
      <p:pic>
        <p:nvPicPr>
          <p:cNvPr id="35" name="Picture 34" descr="chan_09_hierarch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0609" y="2514600"/>
            <a:ext cx="15786781" cy="65379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Текстовый блок">
            <a:extLst>
              <a:ext uri="{FF2B5EF4-FFF2-40B4-BE49-F238E27FC236}">
                <a16:creationId xmlns:a16="http://schemas.microsoft.com/office/drawing/2014/main" id="{83BF2DA4-8395-4896-98A1-EE8ADF637024}"/>
              </a:ext>
            </a:extLst>
          </p:cNvPr>
          <p:cNvSpPr>
            <a:spLocks noGrp="1"/>
          </p:cNvSpPr>
          <p:nvPr/>
        </p:nvSpPr>
        <p:spPr>
          <a:xfrm>
            <a:off x="476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Список">
            <a:extLst>
              <a:ext uri="{FF2B5EF4-FFF2-40B4-BE49-F238E27FC236}">
                <a16:creationId xmlns:a16="http://schemas.microsoft.com/office/drawing/2014/main" id="{EE991465-5A34-4773-A228-4F61ECBBE8E6}"/>
              </a:ext>
            </a:extLst>
          </p:cNvPr>
          <p:cNvSpPr>
            <a:spLocks noGrp="1"/>
          </p:cNvSpPr>
          <p:nvPr/>
        </p:nvSpPr>
        <p:spPr>
          <a:xfrm>
            <a:off x="9239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Заголовок">
            <a:extLst>
              <a:ext uri="{FF2B5EF4-FFF2-40B4-BE49-F238E27FC236}">
                <a16:creationId xmlns:a16="http://schemas.microsoft.com/office/drawing/2014/main" id="{70B4469F-6CF4-4B36-8D14-80B170FE0D58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700" b="0">
                <a:solidFill>
                  <a:srgbClr val="3A3A3A"/>
                </a:solidFill>
                <a:latin typeface="X5 Sans Medium"/>
              </a:rPr>
              <a:t>От каналов — к пути клиента</a:t>
            </a:r>
          </a:p>
        </p:txBody>
      </p:sp>
      <p:sp>
        <p:nvSpPr>
          <p:cNvPr id="6" name="Подзаголовок">
            <a:extLst>
              <a:ext uri="{FF2B5EF4-FFF2-40B4-BE49-F238E27FC236}">
                <a16:creationId xmlns:a16="http://schemas.microsoft.com/office/drawing/2014/main" id="{EADA99A8-63FD-4201-8FB7-7752A0FD2CE4}"/>
              </a:ext>
            </a:extLst>
          </p:cNvPr>
          <p:cNvSpPr>
            <a:spLocks noGrp="1"/>
          </p:cNvSpPr>
          <p:nvPr/>
        </p:nvSpPr>
        <p:spPr>
          <a:xfrm>
            <a:off x="476250" y="1485900"/>
            <a:ext cx="857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0">
                <a:solidFill>
                  <a:srgbClr val="3A3A3A"/>
                </a:solidFill>
                <a:latin typeface="X5 Sans"/>
              </a:rPr>
              <a:t>Дальше — про то, что между кликом и деньгами: путь пользователя и атрибуция</a:t>
            </a:r>
          </a:p>
        </p:txBody>
      </p:sp>
      <p:sp>
        <p:nvSpPr>
          <p:cNvPr id="7" name="Текстовый блок — заголовок">
            <a:extLst>
              <a:ext uri="{FF2B5EF4-FFF2-40B4-BE49-F238E27FC236}">
                <a16:creationId xmlns:a16="http://schemas.microsoft.com/office/drawing/2014/main" id="{60D8FFDF-B59C-4B0A-8CBE-3EF79B76F9B8}"/>
              </a:ext>
            </a:extLst>
          </p:cNvPr>
          <p:cNvSpPr>
            <a:spLocks noGrp="1"/>
          </p:cNvSpPr>
          <p:nvPr/>
        </p:nvSpPr>
        <p:spPr>
          <a:xfrm>
            <a:off x="800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8" name="Текстовый блок — текст">
            <a:extLst>
              <a:ext uri="{FF2B5EF4-FFF2-40B4-BE49-F238E27FC236}">
                <a16:creationId xmlns:a16="http://schemas.microsoft.com/office/drawing/2014/main" id="{AC333327-0196-4226-8AE6-135E26DFFEF0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79248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9" name="Список — заголовок">
            <a:extLst>
              <a:ext uri="{FF2B5EF4-FFF2-40B4-BE49-F238E27FC236}">
                <a16:creationId xmlns:a16="http://schemas.microsoft.com/office/drawing/2014/main" id="{3C6A7525-86DB-4554-B760-371C8510005B}"/>
              </a:ext>
            </a:extLst>
          </p:cNvPr>
          <p:cNvSpPr>
            <a:spLocks noGrp="1"/>
          </p:cNvSpPr>
          <p:nvPr/>
        </p:nvSpPr>
        <p:spPr>
          <a:xfrm>
            <a:off x="9563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0" name="Список — вводная">
            <a:extLst>
              <a:ext uri="{FF2B5EF4-FFF2-40B4-BE49-F238E27FC236}">
                <a16:creationId xmlns:a16="http://schemas.microsoft.com/office/drawing/2014/main" id="{EDD98C9F-4A8D-400A-82D5-F1B2EB5BE324}"/>
              </a:ext>
            </a:extLst>
          </p:cNvPr>
          <p:cNvSpPr>
            <a:spLocks noGrp="1"/>
          </p:cNvSpPr>
          <p:nvPr/>
        </p:nvSpPr>
        <p:spPr>
          <a:xfrm>
            <a:off x="9563100" y="3848100"/>
            <a:ext cx="7924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1" name="Список — пункты">
            <a:extLst>
              <a:ext uri="{FF2B5EF4-FFF2-40B4-BE49-F238E27FC236}">
                <a16:creationId xmlns:a16="http://schemas.microsoft.com/office/drawing/2014/main" id="{F442EF30-93C7-4546-9525-C1AA3D745C53}"/>
              </a:ext>
            </a:extLst>
          </p:cNvPr>
          <p:cNvSpPr>
            <a:spLocks noGrp="1"/>
          </p:cNvSpPr>
          <p:nvPr/>
        </p:nvSpPr>
        <p:spPr>
          <a:xfrm>
            <a:off x="9715500" y="4933950"/>
            <a:ext cx="7620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5"/>
          <a:stretch/>
        </p:blipFill>
        <p:spPr>
          <a:xfrm rot="879000">
            <a:off x="14963775" y="1371600"/>
            <a:ext cx="2276475" cy="2276475"/>
          </a:xfrm>
          <a:prstGeom prst="rect">
            <a:avLst/>
          </a:prstGeom>
        </p:spPr>
      </p:pic>
      <p:pic>
        <p:nvPicPr>
          <p:cNvPr id="33" name="Рисунок 3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095875" y="6562725"/>
            <a:ext cx="4467225" cy="3724275"/>
          </a:xfrm>
          <a:prstGeom prst="rect">
            <a:avLst/>
          </a:prstGeom>
        </p:spPr>
      </p:pic>
      <p:pic>
        <p:nvPicPr>
          <p:cNvPr id="34" name="Рисунок 3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82379" y="9186863"/>
            <a:ext cx="2083242" cy="623888"/>
          </a:xfrm>
          <a:prstGeom prst="rect">
            <a:avLst/>
          </a:prstGeom>
        </p:spPr>
      </p:pic>
      <p:sp>
        <p:nvSpPr>
          <p:cNvPr id="15" name="Номер страницы">
            <a:extLst>
              <a:ext uri="{FF2B5EF4-FFF2-40B4-BE49-F238E27FC236}">
                <a16:creationId xmlns:a16="http://schemas.microsoft.com/office/drawing/2014/main" id="{8CB3DCAF-5969-49CE-B198-E4C5CEA31C56}"/>
              </a:ext>
            </a:extLst>
          </p:cNvPr>
          <p:cNvSpPr>
            <a:spLocks noGrp="1"/>
          </p:cNvSpPr>
          <p:nvPr/>
        </p:nvSpPr>
        <p:spPr>
          <a:xfrm>
            <a:off x="16859250" y="94678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 b="0"/>
              <a:t>22</a:t>
            </a:r>
          </a:p>
        </p:txBody>
      </p:sp>
      <p:pic>
        <p:nvPicPr>
          <p:cNvPr id="35" name="Picture 34" descr="attrib_07_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7754" y="2514600"/>
            <a:ext cx="13732490" cy="653796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16999" y="2514600"/>
            <a:ext cx="12054000" cy="653796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Текстовый блок">
            <a:extLst>
              <a:ext uri="{FF2B5EF4-FFF2-40B4-BE49-F238E27FC236}">
                <a16:creationId xmlns:a16="http://schemas.microsoft.com/office/drawing/2014/main" id="{83BF2DA4-8395-4896-98A1-EE8ADF637024}"/>
              </a:ext>
            </a:extLst>
          </p:cNvPr>
          <p:cNvSpPr>
            <a:spLocks noGrp="1"/>
          </p:cNvSpPr>
          <p:nvPr/>
        </p:nvSpPr>
        <p:spPr>
          <a:xfrm>
            <a:off x="476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Список">
            <a:extLst>
              <a:ext uri="{FF2B5EF4-FFF2-40B4-BE49-F238E27FC236}">
                <a16:creationId xmlns:a16="http://schemas.microsoft.com/office/drawing/2014/main" id="{EE991465-5A34-4773-A228-4F61ECBBE8E6}"/>
              </a:ext>
            </a:extLst>
          </p:cNvPr>
          <p:cNvSpPr>
            <a:spLocks noGrp="1"/>
          </p:cNvSpPr>
          <p:nvPr/>
        </p:nvSpPr>
        <p:spPr>
          <a:xfrm>
            <a:off x="9239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Заголовок">
            <a:extLst>
              <a:ext uri="{FF2B5EF4-FFF2-40B4-BE49-F238E27FC236}">
                <a16:creationId xmlns:a16="http://schemas.microsoft.com/office/drawing/2014/main" id="{70B4469F-6CF4-4B36-8D14-80B170FE0D58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500" b="0">
                <a:solidFill>
                  <a:srgbClr val="3A3A3A"/>
                </a:solidFill>
                <a:latin typeface="X5 Sans Medium"/>
              </a:rPr>
              <a:t>Пользовательский путь</a:t>
            </a:r>
          </a:p>
        </p:txBody>
      </p:sp>
      <p:sp>
        <p:nvSpPr>
          <p:cNvPr id="6" name="Подзаголовок">
            <a:extLst>
              <a:ext uri="{FF2B5EF4-FFF2-40B4-BE49-F238E27FC236}">
                <a16:creationId xmlns:a16="http://schemas.microsoft.com/office/drawing/2014/main" id="{EADA99A8-63FD-4201-8FB7-7752A0FD2CE4}"/>
              </a:ext>
            </a:extLst>
          </p:cNvPr>
          <p:cNvSpPr>
            <a:spLocks noGrp="1"/>
          </p:cNvSpPr>
          <p:nvPr/>
        </p:nvSpPr>
        <p:spPr>
          <a:xfrm>
            <a:off x="476250" y="1485900"/>
            <a:ext cx="857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0">
                <a:solidFill>
                  <a:srgbClr val="3A3A3A"/>
                </a:solidFill>
                <a:latin typeface="X5 Sans"/>
              </a:rPr>
              <a:t>Все шаги от первого знакомства до покупки и лояльности — не один клик из одного канала</a:t>
            </a:r>
          </a:p>
        </p:txBody>
      </p:sp>
      <p:sp>
        <p:nvSpPr>
          <p:cNvPr id="7" name="Текстовый блок — заголовок">
            <a:extLst>
              <a:ext uri="{FF2B5EF4-FFF2-40B4-BE49-F238E27FC236}">
                <a16:creationId xmlns:a16="http://schemas.microsoft.com/office/drawing/2014/main" id="{60D8FFDF-B59C-4B0A-8CBE-3EF79B76F9B8}"/>
              </a:ext>
            </a:extLst>
          </p:cNvPr>
          <p:cNvSpPr>
            <a:spLocks noGrp="1"/>
          </p:cNvSpPr>
          <p:nvPr/>
        </p:nvSpPr>
        <p:spPr>
          <a:xfrm>
            <a:off x="800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8" name="Текстовый блок — текст">
            <a:extLst>
              <a:ext uri="{FF2B5EF4-FFF2-40B4-BE49-F238E27FC236}">
                <a16:creationId xmlns:a16="http://schemas.microsoft.com/office/drawing/2014/main" id="{AC333327-0196-4226-8AE6-135E26DFFEF0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79248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9" name="Список — заголовок">
            <a:extLst>
              <a:ext uri="{FF2B5EF4-FFF2-40B4-BE49-F238E27FC236}">
                <a16:creationId xmlns:a16="http://schemas.microsoft.com/office/drawing/2014/main" id="{3C6A7525-86DB-4554-B760-371C8510005B}"/>
              </a:ext>
            </a:extLst>
          </p:cNvPr>
          <p:cNvSpPr>
            <a:spLocks noGrp="1"/>
          </p:cNvSpPr>
          <p:nvPr/>
        </p:nvSpPr>
        <p:spPr>
          <a:xfrm>
            <a:off x="9563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0" name="Список — вводная">
            <a:extLst>
              <a:ext uri="{FF2B5EF4-FFF2-40B4-BE49-F238E27FC236}">
                <a16:creationId xmlns:a16="http://schemas.microsoft.com/office/drawing/2014/main" id="{EDD98C9F-4A8D-400A-82D5-F1B2EB5BE324}"/>
              </a:ext>
            </a:extLst>
          </p:cNvPr>
          <p:cNvSpPr>
            <a:spLocks noGrp="1"/>
          </p:cNvSpPr>
          <p:nvPr/>
        </p:nvSpPr>
        <p:spPr>
          <a:xfrm>
            <a:off x="9563100" y="3848100"/>
            <a:ext cx="7924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1" name="Список — пункты">
            <a:extLst>
              <a:ext uri="{FF2B5EF4-FFF2-40B4-BE49-F238E27FC236}">
                <a16:creationId xmlns:a16="http://schemas.microsoft.com/office/drawing/2014/main" id="{F442EF30-93C7-4546-9525-C1AA3D745C53}"/>
              </a:ext>
            </a:extLst>
          </p:cNvPr>
          <p:cNvSpPr>
            <a:spLocks noGrp="1"/>
          </p:cNvSpPr>
          <p:nvPr/>
        </p:nvSpPr>
        <p:spPr>
          <a:xfrm>
            <a:off x="9715500" y="4933950"/>
            <a:ext cx="7620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5"/>
          <a:stretch/>
        </p:blipFill>
        <p:spPr>
          <a:xfrm rot="879000">
            <a:off x="14963775" y="1371600"/>
            <a:ext cx="2276475" cy="2276475"/>
          </a:xfrm>
          <a:prstGeom prst="rect">
            <a:avLst/>
          </a:prstGeom>
        </p:spPr>
      </p:pic>
      <p:pic>
        <p:nvPicPr>
          <p:cNvPr id="33" name="Рисунок 3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095875" y="6562725"/>
            <a:ext cx="4467225" cy="3724275"/>
          </a:xfrm>
          <a:prstGeom prst="rect">
            <a:avLst/>
          </a:prstGeom>
        </p:spPr>
      </p:pic>
      <p:pic>
        <p:nvPicPr>
          <p:cNvPr id="34" name="Рисунок 3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82379" y="9186863"/>
            <a:ext cx="2083242" cy="623888"/>
          </a:xfrm>
          <a:prstGeom prst="rect">
            <a:avLst/>
          </a:prstGeom>
        </p:spPr>
      </p:pic>
      <p:sp>
        <p:nvSpPr>
          <p:cNvPr id="15" name="Номер страницы">
            <a:extLst>
              <a:ext uri="{FF2B5EF4-FFF2-40B4-BE49-F238E27FC236}">
                <a16:creationId xmlns:a16="http://schemas.microsoft.com/office/drawing/2014/main" id="{8CB3DCAF-5969-49CE-B198-E4C5CEA31C56}"/>
              </a:ext>
            </a:extLst>
          </p:cNvPr>
          <p:cNvSpPr>
            <a:spLocks noGrp="1"/>
          </p:cNvSpPr>
          <p:nvPr/>
        </p:nvSpPr>
        <p:spPr>
          <a:xfrm>
            <a:off x="16859250" y="94678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 b="0"/>
              <a:t>23</a:t>
            </a:r>
          </a:p>
        </p:txBody>
      </p:sp>
      <p:pic>
        <p:nvPicPr>
          <p:cNvPr id="35" name="Picture 34" descr="attrib_07_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7754" y="2514600"/>
            <a:ext cx="13732490" cy="653796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11611" y="2514600"/>
            <a:ext cx="15664776" cy="653796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Текстовый блок">
            <a:extLst>
              <a:ext uri="{FF2B5EF4-FFF2-40B4-BE49-F238E27FC236}">
                <a16:creationId xmlns:a16="http://schemas.microsoft.com/office/drawing/2014/main" id="{83BF2DA4-8395-4896-98A1-EE8ADF637024}"/>
              </a:ext>
            </a:extLst>
          </p:cNvPr>
          <p:cNvSpPr>
            <a:spLocks noGrp="1"/>
          </p:cNvSpPr>
          <p:nvPr/>
        </p:nvSpPr>
        <p:spPr>
          <a:xfrm>
            <a:off x="476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Список">
            <a:extLst>
              <a:ext uri="{FF2B5EF4-FFF2-40B4-BE49-F238E27FC236}">
                <a16:creationId xmlns:a16="http://schemas.microsoft.com/office/drawing/2014/main" id="{EE991465-5A34-4773-A228-4F61ECBBE8E6}"/>
              </a:ext>
            </a:extLst>
          </p:cNvPr>
          <p:cNvSpPr>
            <a:spLocks noGrp="1"/>
          </p:cNvSpPr>
          <p:nvPr/>
        </p:nvSpPr>
        <p:spPr>
          <a:xfrm>
            <a:off x="9239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Заголовок">
            <a:extLst>
              <a:ext uri="{FF2B5EF4-FFF2-40B4-BE49-F238E27FC236}">
                <a16:creationId xmlns:a16="http://schemas.microsoft.com/office/drawing/2014/main" id="{70B4469F-6CF4-4B36-8D14-80B170FE0D58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700" b="0">
                <a:solidFill>
                  <a:srgbClr val="3A3A3A"/>
                </a:solidFill>
                <a:latin typeface="X5 Sans Medium"/>
              </a:rPr>
              <a:t>Проблема поканальной аналитики</a:t>
            </a:r>
          </a:p>
        </p:txBody>
      </p:sp>
      <p:sp>
        <p:nvSpPr>
          <p:cNvPr id="6" name="Подзаголовок">
            <a:extLst>
              <a:ext uri="{FF2B5EF4-FFF2-40B4-BE49-F238E27FC236}">
                <a16:creationId xmlns:a16="http://schemas.microsoft.com/office/drawing/2014/main" id="{EADA99A8-63FD-4201-8FB7-7752A0FD2CE4}"/>
              </a:ext>
            </a:extLst>
          </p:cNvPr>
          <p:cNvSpPr>
            <a:spLocks noGrp="1"/>
          </p:cNvSpPr>
          <p:nvPr/>
        </p:nvSpPr>
        <p:spPr>
          <a:xfrm>
            <a:off x="476250" y="1485900"/>
            <a:ext cx="857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0">
                <a:solidFill>
                  <a:srgbClr val="3A3A3A"/>
                </a:solidFill>
                <a:latin typeface="X5 Sans"/>
              </a:rPr>
              <a:t>Каждый канал рапортует о своих конверсиях: суммы не сходятся, бюджеты делятся вслепую</a:t>
            </a:r>
          </a:p>
        </p:txBody>
      </p:sp>
      <p:sp>
        <p:nvSpPr>
          <p:cNvPr id="7" name="Текстовый блок — заголовок">
            <a:extLst>
              <a:ext uri="{FF2B5EF4-FFF2-40B4-BE49-F238E27FC236}">
                <a16:creationId xmlns:a16="http://schemas.microsoft.com/office/drawing/2014/main" id="{60D8FFDF-B59C-4B0A-8CBE-3EF79B76F9B8}"/>
              </a:ext>
            </a:extLst>
          </p:cNvPr>
          <p:cNvSpPr>
            <a:spLocks noGrp="1"/>
          </p:cNvSpPr>
          <p:nvPr/>
        </p:nvSpPr>
        <p:spPr>
          <a:xfrm>
            <a:off x="800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8" name="Текстовый блок — текст">
            <a:extLst>
              <a:ext uri="{FF2B5EF4-FFF2-40B4-BE49-F238E27FC236}">
                <a16:creationId xmlns:a16="http://schemas.microsoft.com/office/drawing/2014/main" id="{AC333327-0196-4226-8AE6-135E26DFFEF0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79248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9" name="Список — заголовок">
            <a:extLst>
              <a:ext uri="{FF2B5EF4-FFF2-40B4-BE49-F238E27FC236}">
                <a16:creationId xmlns:a16="http://schemas.microsoft.com/office/drawing/2014/main" id="{3C6A7525-86DB-4554-B760-371C8510005B}"/>
              </a:ext>
            </a:extLst>
          </p:cNvPr>
          <p:cNvSpPr>
            <a:spLocks noGrp="1"/>
          </p:cNvSpPr>
          <p:nvPr/>
        </p:nvSpPr>
        <p:spPr>
          <a:xfrm>
            <a:off x="9563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0" name="Список — вводная">
            <a:extLst>
              <a:ext uri="{FF2B5EF4-FFF2-40B4-BE49-F238E27FC236}">
                <a16:creationId xmlns:a16="http://schemas.microsoft.com/office/drawing/2014/main" id="{EDD98C9F-4A8D-400A-82D5-F1B2EB5BE324}"/>
              </a:ext>
            </a:extLst>
          </p:cNvPr>
          <p:cNvSpPr>
            <a:spLocks noGrp="1"/>
          </p:cNvSpPr>
          <p:nvPr/>
        </p:nvSpPr>
        <p:spPr>
          <a:xfrm>
            <a:off x="9563100" y="3848100"/>
            <a:ext cx="7924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1" name="Список — пункты">
            <a:extLst>
              <a:ext uri="{FF2B5EF4-FFF2-40B4-BE49-F238E27FC236}">
                <a16:creationId xmlns:a16="http://schemas.microsoft.com/office/drawing/2014/main" id="{F442EF30-93C7-4546-9525-C1AA3D745C53}"/>
              </a:ext>
            </a:extLst>
          </p:cNvPr>
          <p:cNvSpPr>
            <a:spLocks noGrp="1"/>
          </p:cNvSpPr>
          <p:nvPr/>
        </p:nvSpPr>
        <p:spPr>
          <a:xfrm>
            <a:off x="9715500" y="4933950"/>
            <a:ext cx="7620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5"/>
          <a:stretch/>
        </p:blipFill>
        <p:spPr>
          <a:xfrm rot="879000">
            <a:off x="14963775" y="1371600"/>
            <a:ext cx="2276475" cy="2276475"/>
          </a:xfrm>
          <a:prstGeom prst="rect">
            <a:avLst/>
          </a:prstGeom>
        </p:spPr>
      </p:pic>
      <p:pic>
        <p:nvPicPr>
          <p:cNvPr id="33" name="Рисунок 3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095875" y="6562725"/>
            <a:ext cx="4467225" cy="3724275"/>
          </a:xfrm>
          <a:prstGeom prst="rect">
            <a:avLst/>
          </a:prstGeom>
        </p:spPr>
      </p:pic>
      <p:pic>
        <p:nvPicPr>
          <p:cNvPr id="34" name="Рисунок 3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82379" y="9186863"/>
            <a:ext cx="2083242" cy="623888"/>
          </a:xfrm>
          <a:prstGeom prst="rect">
            <a:avLst/>
          </a:prstGeom>
        </p:spPr>
      </p:pic>
      <p:sp>
        <p:nvSpPr>
          <p:cNvPr id="15" name="Номер страницы">
            <a:extLst>
              <a:ext uri="{FF2B5EF4-FFF2-40B4-BE49-F238E27FC236}">
                <a16:creationId xmlns:a16="http://schemas.microsoft.com/office/drawing/2014/main" id="{8CB3DCAF-5969-49CE-B198-E4C5CEA31C56}"/>
              </a:ext>
            </a:extLst>
          </p:cNvPr>
          <p:cNvSpPr>
            <a:spLocks noGrp="1"/>
          </p:cNvSpPr>
          <p:nvPr/>
        </p:nvSpPr>
        <p:spPr>
          <a:xfrm>
            <a:off x="16859250" y="94678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 b="0"/>
              <a:t>24</a:t>
            </a:r>
          </a:p>
        </p:txBody>
      </p:sp>
      <p:pic>
        <p:nvPicPr>
          <p:cNvPr id="35" name="Picture 34" descr="attrib_07_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7754" y="2514600"/>
            <a:ext cx="13732490" cy="653796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49469" y="2514600"/>
            <a:ext cx="11589061" cy="653796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Текстовый блок">
            <a:extLst>
              <a:ext uri="{FF2B5EF4-FFF2-40B4-BE49-F238E27FC236}">
                <a16:creationId xmlns:a16="http://schemas.microsoft.com/office/drawing/2014/main" id="{83BF2DA4-8395-4896-98A1-EE8ADF637024}"/>
              </a:ext>
            </a:extLst>
          </p:cNvPr>
          <p:cNvSpPr>
            <a:spLocks noGrp="1"/>
          </p:cNvSpPr>
          <p:nvPr/>
        </p:nvSpPr>
        <p:spPr>
          <a:xfrm>
            <a:off x="476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Список">
            <a:extLst>
              <a:ext uri="{FF2B5EF4-FFF2-40B4-BE49-F238E27FC236}">
                <a16:creationId xmlns:a16="http://schemas.microsoft.com/office/drawing/2014/main" id="{EE991465-5A34-4773-A228-4F61ECBBE8E6}"/>
              </a:ext>
            </a:extLst>
          </p:cNvPr>
          <p:cNvSpPr>
            <a:spLocks noGrp="1"/>
          </p:cNvSpPr>
          <p:nvPr/>
        </p:nvSpPr>
        <p:spPr>
          <a:xfrm>
            <a:off x="9239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Заголовок">
            <a:extLst>
              <a:ext uri="{FF2B5EF4-FFF2-40B4-BE49-F238E27FC236}">
                <a16:creationId xmlns:a16="http://schemas.microsoft.com/office/drawing/2014/main" id="{70B4469F-6CF4-4B36-8D14-80B170FE0D58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700" b="0">
                <a:solidFill>
                  <a:srgbClr val="3A3A3A"/>
                </a:solidFill>
                <a:latin typeface="X5 Sans Medium"/>
              </a:rPr>
              <a:t>Как это выглядит в кабинете</a:t>
            </a:r>
          </a:p>
        </p:txBody>
      </p:sp>
      <p:sp>
        <p:nvSpPr>
          <p:cNvPr id="6" name="Подзаголовок">
            <a:extLst>
              <a:ext uri="{FF2B5EF4-FFF2-40B4-BE49-F238E27FC236}">
                <a16:creationId xmlns:a16="http://schemas.microsoft.com/office/drawing/2014/main" id="{EADA99A8-63FD-4201-8FB7-7752A0FD2CE4}"/>
              </a:ext>
            </a:extLst>
          </p:cNvPr>
          <p:cNvSpPr>
            <a:spLocks noGrp="1"/>
          </p:cNvSpPr>
          <p:nvPr/>
        </p:nvSpPr>
        <p:spPr>
          <a:xfrm>
            <a:off x="476250" y="1485900"/>
            <a:ext cx="857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0">
                <a:solidFill>
                  <a:srgbClr val="3A3A3A"/>
                </a:solidFill>
                <a:latin typeface="X5 Sans"/>
              </a:rPr>
              <a:t>Цифры по каналам есть, ответа на вопрос «кто принёс продажу» — нет</a:t>
            </a:r>
          </a:p>
        </p:txBody>
      </p:sp>
      <p:sp>
        <p:nvSpPr>
          <p:cNvPr id="7" name="Текстовый блок — заголовок">
            <a:extLst>
              <a:ext uri="{FF2B5EF4-FFF2-40B4-BE49-F238E27FC236}">
                <a16:creationId xmlns:a16="http://schemas.microsoft.com/office/drawing/2014/main" id="{60D8FFDF-B59C-4B0A-8CBE-3EF79B76F9B8}"/>
              </a:ext>
            </a:extLst>
          </p:cNvPr>
          <p:cNvSpPr>
            <a:spLocks noGrp="1"/>
          </p:cNvSpPr>
          <p:nvPr/>
        </p:nvSpPr>
        <p:spPr>
          <a:xfrm>
            <a:off x="800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8" name="Текстовый блок — текст">
            <a:extLst>
              <a:ext uri="{FF2B5EF4-FFF2-40B4-BE49-F238E27FC236}">
                <a16:creationId xmlns:a16="http://schemas.microsoft.com/office/drawing/2014/main" id="{AC333327-0196-4226-8AE6-135E26DFFEF0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79248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9" name="Список — заголовок">
            <a:extLst>
              <a:ext uri="{FF2B5EF4-FFF2-40B4-BE49-F238E27FC236}">
                <a16:creationId xmlns:a16="http://schemas.microsoft.com/office/drawing/2014/main" id="{3C6A7525-86DB-4554-B760-371C8510005B}"/>
              </a:ext>
            </a:extLst>
          </p:cNvPr>
          <p:cNvSpPr>
            <a:spLocks noGrp="1"/>
          </p:cNvSpPr>
          <p:nvPr/>
        </p:nvSpPr>
        <p:spPr>
          <a:xfrm>
            <a:off x="9563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0" name="Список — вводная">
            <a:extLst>
              <a:ext uri="{FF2B5EF4-FFF2-40B4-BE49-F238E27FC236}">
                <a16:creationId xmlns:a16="http://schemas.microsoft.com/office/drawing/2014/main" id="{EDD98C9F-4A8D-400A-82D5-F1B2EB5BE324}"/>
              </a:ext>
            </a:extLst>
          </p:cNvPr>
          <p:cNvSpPr>
            <a:spLocks noGrp="1"/>
          </p:cNvSpPr>
          <p:nvPr/>
        </p:nvSpPr>
        <p:spPr>
          <a:xfrm>
            <a:off x="9563100" y="3848100"/>
            <a:ext cx="7924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1" name="Список — пункты">
            <a:extLst>
              <a:ext uri="{FF2B5EF4-FFF2-40B4-BE49-F238E27FC236}">
                <a16:creationId xmlns:a16="http://schemas.microsoft.com/office/drawing/2014/main" id="{F442EF30-93C7-4546-9525-C1AA3D745C53}"/>
              </a:ext>
            </a:extLst>
          </p:cNvPr>
          <p:cNvSpPr>
            <a:spLocks noGrp="1"/>
          </p:cNvSpPr>
          <p:nvPr/>
        </p:nvSpPr>
        <p:spPr>
          <a:xfrm>
            <a:off x="9715500" y="4933950"/>
            <a:ext cx="7620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5"/>
          <a:stretch/>
        </p:blipFill>
        <p:spPr>
          <a:xfrm rot="879000">
            <a:off x="14963775" y="1371600"/>
            <a:ext cx="2276475" cy="2276475"/>
          </a:xfrm>
          <a:prstGeom prst="rect">
            <a:avLst/>
          </a:prstGeom>
        </p:spPr>
      </p:pic>
      <p:pic>
        <p:nvPicPr>
          <p:cNvPr id="33" name="Рисунок 3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095875" y="6562725"/>
            <a:ext cx="4467225" cy="3724275"/>
          </a:xfrm>
          <a:prstGeom prst="rect">
            <a:avLst/>
          </a:prstGeom>
        </p:spPr>
      </p:pic>
      <p:pic>
        <p:nvPicPr>
          <p:cNvPr id="34" name="Рисунок 3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82379" y="9186863"/>
            <a:ext cx="2083242" cy="623888"/>
          </a:xfrm>
          <a:prstGeom prst="rect">
            <a:avLst/>
          </a:prstGeom>
        </p:spPr>
      </p:pic>
      <p:sp>
        <p:nvSpPr>
          <p:cNvPr id="15" name="Номер страницы">
            <a:extLst>
              <a:ext uri="{FF2B5EF4-FFF2-40B4-BE49-F238E27FC236}">
                <a16:creationId xmlns:a16="http://schemas.microsoft.com/office/drawing/2014/main" id="{8CB3DCAF-5969-49CE-B198-E4C5CEA31C56}"/>
              </a:ext>
            </a:extLst>
          </p:cNvPr>
          <p:cNvSpPr>
            <a:spLocks noGrp="1"/>
          </p:cNvSpPr>
          <p:nvPr/>
        </p:nvSpPr>
        <p:spPr>
          <a:xfrm>
            <a:off x="16859250" y="94678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 b="0"/>
              <a:t>25</a:t>
            </a:r>
          </a:p>
        </p:txBody>
      </p:sp>
      <p:pic>
        <p:nvPicPr>
          <p:cNvPr id="35" name="Picture 34" descr="attrib_07_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7754" y="2514600"/>
            <a:ext cx="13732490" cy="6537960"/>
          </a:xfrm>
          <a:prstGeom prst="rect">
            <a:avLst/>
          </a:prstGeom>
        </p:spPr>
      </p:pic>
      <p:pic>
        <p:nvPicPr>
          <p:cNvPr id="36" name="Picture 35" descr="s25_smal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2480" y="2514600"/>
            <a:ext cx="11623040" cy="653796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62800" y="1933575"/>
            <a:ext cx="8715375" cy="8353425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190601" y="504825"/>
            <a:ext cx="2876741" cy="2876741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5395519" y="6967442"/>
            <a:ext cx="2688194" cy="3191637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4892528" y="1556671"/>
            <a:ext cx="2344484" cy="2344484"/>
          </a:xfrm>
          <a:prstGeom prst="rect">
            <a:avLst/>
          </a:prstGeom>
        </p:spPr>
      </p:pic>
      <p:sp>
        <p:nvSpPr>
          <p:cNvPr id="6" name="Заголовок">
            <a:extLst>
              <a:ext uri="{FF2B5EF4-FFF2-40B4-BE49-F238E27FC236}">
                <a16:creationId xmlns:a16="http://schemas.microsoft.com/office/drawing/2014/main" id="{498BBE52-B56A-4F73-8565-575347066D87}"/>
              </a:ext>
            </a:extLst>
          </p:cNvPr>
          <p:cNvSpPr>
            <a:spLocks noGrp="1"/>
          </p:cNvSpPr>
          <p:nvPr/>
        </p:nvSpPr>
        <p:spPr>
          <a:xfrm>
            <a:off x="476250" y="2895600"/>
            <a:ext cx="7429500" cy="2171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300" b="0">
                <a:solidFill>
                  <a:srgbClr val="3A3A3A"/>
                </a:solidFill>
                <a:latin typeface="X5 Sans Medium"/>
              </a:rPr>
              <a:t>«Какой канал приводит людей, которые покупают и остаются?»</a:t>
            </a:r>
          </a:p>
        </p:txBody>
      </p:sp>
      <p:sp>
        <p:nvSpPr>
          <p:cNvPr id="7" name="Пояснение">
            <a:extLst>
              <a:ext uri="{FF2B5EF4-FFF2-40B4-BE49-F238E27FC236}">
                <a16:creationId xmlns:a16="http://schemas.microsoft.com/office/drawing/2014/main" id="{7FDFA29B-3B26-457E-8F99-F72D6D317D5E}"/>
              </a:ext>
            </a:extLst>
          </p:cNvPr>
          <p:cNvSpPr>
            <a:spLocks noGrp="1"/>
          </p:cNvSpPr>
          <p:nvPr/>
        </p:nvSpPr>
        <p:spPr>
          <a:xfrm>
            <a:off x="476250" y="5307626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600" b="0" dirty="0" err="1">
                <a:solidFill>
                  <a:srgbClr val="3A3A3A"/>
                </a:solidFill>
                <a:latin typeface="X5 Sans Medium"/>
              </a:rPr>
              <a:t>Отчёты</a:t>
            </a:r>
            <a:r>
              <a:rPr sz="2600" b="0" dirty="0">
                <a:solidFill>
                  <a:srgbClr val="3A3A3A"/>
                </a:solidFill>
                <a:latin typeface="X5 Sans Medium"/>
              </a:rPr>
              <a:t> </a:t>
            </a:r>
            <a:r>
              <a:rPr sz="2600" b="0" dirty="0" err="1">
                <a:solidFill>
                  <a:srgbClr val="3A3A3A"/>
                </a:solidFill>
                <a:latin typeface="X5 Sans Medium"/>
              </a:rPr>
              <a:t>есть</a:t>
            </a:r>
            <a:r>
              <a:rPr sz="2600" b="0" dirty="0">
                <a:solidFill>
                  <a:srgbClr val="3A3A3A"/>
                </a:solidFill>
                <a:latin typeface="X5 Sans Medium"/>
              </a:rPr>
              <a:t> </a:t>
            </a:r>
            <a:r>
              <a:rPr sz="2600" b="0" dirty="0" err="1">
                <a:solidFill>
                  <a:srgbClr val="3A3A3A"/>
                </a:solidFill>
                <a:latin typeface="X5 Sans Medium"/>
              </a:rPr>
              <a:t>у</a:t>
            </a:r>
            <a:r>
              <a:rPr sz="2600" b="0" dirty="0">
                <a:solidFill>
                  <a:srgbClr val="3A3A3A"/>
                </a:solidFill>
                <a:latin typeface="X5 Sans Medium"/>
              </a:rPr>
              <a:t> </a:t>
            </a:r>
            <a:r>
              <a:rPr sz="2600" b="0" dirty="0" err="1">
                <a:solidFill>
                  <a:srgbClr val="3A3A3A"/>
                </a:solidFill>
                <a:latin typeface="X5 Sans Medium"/>
              </a:rPr>
              <a:t>всех</a:t>
            </a:r>
            <a:r>
              <a:rPr sz="2600" b="0" dirty="0">
                <a:solidFill>
                  <a:srgbClr val="3A3A3A"/>
                </a:solidFill>
                <a:latin typeface="X5 Sans Medium"/>
              </a:rPr>
              <a:t> — </a:t>
            </a:r>
            <a:r>
              <a:rPr sz="2600" b="0" dirty="0" err="1">
                <a:solidFill>
                  <a:srgbClr val="3A3A3A"/>
                </a:solidFill>
                <a:latin typeface="X5 Sans Medium"/>
              </a:rPr>
              <a:t>но</a:t>
            </a:r>
            <a:r>
              <a:rPr sz="2600" b="0" dirty="0">
                <a:solidFill>
                  <a:srgbClr val="3A3A3A"/>
                </a:solidFill>
                <a:latin typeface="X5 Sans Medium"/>
              </a:rPr>
              <a:t> </a:t>
            </a:r>
            <a:r>
              <a:rPr sz="2600" b="0" dirty="0" err="1">
                <a:solidFill>
                  <a:srgbClr val="3A3A3A"/>
                </a:solidFill>
                <a:latin typeface="X5 Sans Medium"/>
              </a:rPr>
              <a:t>каждый</a:t>
            </a:r>
            <a:r>
              <a:rPr sz="2600" b="0" dirty="0">
                <a:solidFill>
                  <a:srgbClr val="3A3A3A"/>
                </a:solidFill>
                <a:latin typeface="X5 Sans Medium"/>
              </a:rPr>
              <a:t> </a:t>
            </a:r>
            <a:r>
              <a:rPr sz="2600" b="0" dirty="0" err="1">
                <a:solidFill>
                  <a:srgbClr val="3A3A3A"/>
                </a:solidFill>
                <a:latin typeface="X5 Sans Medium"/>
              </a:rPr>
              <a:t>врёт</a:t>
            </a:r>
            <a:r>
              <a:rPr sz="2600" b="0" dirty="0">
                <a:solidFill>
                  <a:srgbClr val="3A3A3A"/>
                </a:solidFill>
                <a:latin typeface="X5 Sans Medium"/>
              </a:rPr>
              <a:t> </a:t>
            </a:r>
            <a:r>
              <a:rPr sz="2600" b="0" dirty="0" err="1">
                <a:solidFill>
                  <a:srgbClr val="3A3A3A"/>
                </a:solidFill>
                <a:latin typeface="X5 Sans Medium"/>
              </a:rPr>
              <a:t>по-своему</a:t>
            </a:r>
            <a:r>
              <a:rPr sz="2600" b="0" dirty="0">
                <a:solidFill>
                  <a:srgbClr val="3A3A3A"/>
                </a:solidFill>
                <a:latin typeface="X5 Sans Medium"/>
              </a:rPr>
              <a:t>. </a:t>
            </a:r>
            <a:r>
              <a:rPr sz="2600" b="0" dirty="0" err="1">
                <a:solidFill>
                  <a:srgbClr val="3A3A3A"/>
                </a:solidFill>
                <a:latin typeface="X5 Sans Medium"/>
              </a:rPr>
              <a:t>Сквозная</a:t>
            </a:r>
            <a:r>
              <a:rPr sz="2600" b="0" dirty="0">
                <a:solidFill>
                  <a:srgbClr val="3A3A3A"/>
                </a:solidFill>
                <a:latin typeface="X5 Sans Medium"/>
              </a:rPr>
              <a:t> </a:t>
            </a:r>
            <a:r>
              <a:rPr sz="2600" b="0" dirty="0" err="1">
                <a:solidFill>
                  <a:srgbClr val="3A3A3A"/>
                </a:solidFill>
                <a:latin typeface="X5 Sans Medium"/>
              </a:rPr>
              <a:t>аналитика</a:t>
            </a:r>
            <a:r>
              <a:rPr sz="2600" b="0" dirty="0">
                <a:solidFill>
                  <a:srgbClr val="3A3A3A"/>
                </a:solidFill>
                <a:latin typeface="X5 Sans Medium"/>
              </a:rPr>
              <a:t> = </a:t>
            </a:r>
            <a:r>
              <a:rPr sz="2600" b="0" dirty="0" err="1">
                <a:solidFill>
                  <a:srgbClr val="3A3A3A"/>
                </a:solidFill>
                <a:latin typeface="X5 Sans Medium"/>
              </a:rPr>
              <a:t>дисциплина</a:t>
            </a:r>
            <a:r>
              <a:rPr sz="2600" b="0" dirty="0">
                <a:solidFill>
                  <a:srgbClr val="3A3A3A"/>
                </a:solidFill>
                <a:latin typeface="X5 Sans Medium"/>
              </a:rPr>
              <a:t> </a:t>
            </a:r>
            <a:r>
              <a:rPr sz="2600" b="0" dirty="0" err="1">
                <a:solidFill>
                  <a:srgbClr val="3A3A3A"/>
                </a:solidFill>
                <a:latin typeface="X5 Sans Medium"/>
              </a:rPr>
              <a:t>сшивки</a:t>
            </a:r>
            <a:endParaRPr sz="2600" b="0" dirty="0">
              <a:solidFill>
                <a:srgbClr val="3A3A3A"/>
              </a:solidFill>
              <a:latin typeface="X5 Sans Medium"/>
            </a:endParaRP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77115" y="476250"/>
            <a:ext cx="1034305" cy="929926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027176" y="907322"/>
            <a:ext cx="453200" cy="500408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499806" y="907592"/>
            <a:ext cx="376904" cy="508821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2076846" y="886682"/>
            <a:ext cx="2050036" cy="67541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Текстовый блок">
            <a:extLst>
              <a:ext uri="{FF2B5EF4-FFF2-40B4-BE49-F238E27FC236}">
                <a16:creationId xmlns:a16="http://schemas.microsoft.com/office/drawing/2014/main" id="{83BF2DA4-8395-4896-98A1-EE8ADF637024}"/>
              </a:ext>
            </a:extLst>
          </p:cNvPr>
          <p:cNvSpPr>
            <a:spLocks noGrp="1"/>
          </p:cNvSpPr>
          <p:nvPr/>
        </p:nvSpPr>
        <p:spPr>
          <a:xfrm>
            <a:off x="476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Список">
            <a:extLst>
              <a:ext uri="{FF2B5EF4-FFF2-40B4-BE49-F238E27FC236}">
                <a16:creationId xmlns:a16="http://schemas.microsoft.com/office/drawing/2014/main" id="{EE991465-5A34-4773-A228-4F61ECBBE8E6}"/>
              </a:ext>
            </a:extLst>
          </p:cNvPr>
          <p:cNvSpPr>
            <a:spLocks noGrp="1"/>
          </p:cNvSpPr>
          <p:nvPr/>
        </p:nvSpPr>
        <p:spPr>
          <a:xfrm>
            <a:off x="9239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Заголовок">
            <a:extLst>
              <a:ext uri="{FF2B5EF4-FFF2-40B4-BE49-F238E27FC236}">
                <a16:creationId xmlns:a16="http://schemas.microsoft.com/office/drawing/2014/main" id="{70B4469F-6CF4-4B36-8D14-80B170FE0D58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100" b="0">
                <a:solidFill>
                  <a:srgbClr val="3A3A3A"/>
                </a:solidFill>
                <a:latin typeface="X5 Sans Medium"/>
              </a:rPr>
              <a:t>Сквозная аналитика: слои до user_id</a:t>
            </a:r>
          </a:p>
        </p:txBody>
      </p:sp>
      <p:sp>
        <p:nvSpPr>
          <p:cNvPr id="6" name="Подзаголовок">
            <a:extLst>
              <a:ext uri="{FF2B5EF4-FFF2-40B4-BE49-F238E27FC236}">
                <a16:creationId xmlns:a16="http://schemas.microsoft.com/office/drawing/2014/main" id="{EADA99A8-63FD-4201-8FB7-7752A0FD2CE4}"/>
              </a:ext>
            </a:extLst>
          </p:cNvPr>
          <p:cNvSpPr>
            <a:spLocks noGrp="1"/>
          </p:cNvSpPr>
          <p:nvPr/>
        </p:nvSpPr>
        <p:spPr>
          <a:xfrm>
            <a:off x="476250" y="1485900"/>
            <a:ext cx="857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0">
                <a:solidFill>
                  <a:srgbClr val="3A3A3A"/>
                </a:solidFill>
                <a:latin typeface="X5 Sans"/>
              </a:rPr>
              <a:t>Ключи: yclid/gclid → cookie/device_id → user_id (авторизация) → email/телефон</a:t>
            </a:r>
          </a:p>
        </p:txBody>
      </p:sp>
      <p:sp>
        <p:nvSpPr>
          <p:cNvPr id="7" name="Текстовый блок — заголовок">
            <a:extLst>
              <a:ext uri="{FF2B5EF4-FFF2-40B4-BE49-F238E27FC236}">
                <a16:creationId xmlns:a16="http://schemas.microsoft.com/office/drawing/2014/main" id="{60D8FFDF-B59C-4B0A-8CBE-3EF79B76F9B8}"/>
              </a:ext>
            </a:extLst>
          </p:cNvPr>
          <p:cNvSpPr>
            <a:spLocks noGrp="1"/>
          </p:cNvSpPr>
          <p:nvPr/>
        </p:nvSpPr>
        <p:spPr>
          <a:xfrm>
            <a:off x="800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8" name="Текстовый блок — текст">
            <a:extLst>
              <a:ext uri="{FF2B5EF4-FFF2-40B4-BE49-F238E27FC236}">
                <a16:creationId xmlns:a16="http://schemas.microsoft.com/office/drawing/2014/main" id="{AC333327-0196-4226-8AE6-135E26DFFEF0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79248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9" name="Список — заголовок">
            <a:extLst>
              <a:ext uri="{FF2B5EF4-FFF2-40B4-BE49-F238E27FC236}">
                <a16:creationId xmlns:a16="http://schemas.microsoft.com/office/drawing/2014/main" id="{3C6A7525-86DB-4554-B760-371C8510005B}"/>
              </a:ext>
            </a:extLst>
          </p:cNvPr>
          <p:cNvSpPr>
            <a:spLocks noGrp="1"/>
          </p:cNvSpPr>
          <p:nvPr/>
        </p:nvSpPr>
        <p:spPr>
          <a:xfrm>
            <a:off x="9563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10" name="Список — вводная">
            <a:extLst>
              <a:ext uri="{FF2B5EF4-FFF2-40B4-BE49-F238E27FC236}">
                <a16:creationId xmlns:a16="http://schemas.microsoft.com/office/drawing/2014/main" id="{EDD98C9F-4A8D-400A-82D5-F1B2EB5BE324}"/>
              </a:ext>
            </a:extLst>
          </p:cNvPr>
          <p:cNvSpPr>
            <a:spLocks noGrp="1"/>
          </p:cNvSpPr>
          <p:nvPr/>
        </p:nvSpPr>
        <p:spPr>
          <a:xfrm>
            <a:off x="9563100" y="3848100"/>
            <a:ext cx="7924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11" name="Список — пункты">
            <a:extLst>
              <a:ext uri="{FF2B5EF4-FFF2-40B4-BE49-F238E27FC236}">
                <a16:creationId xmlns:a16="http://schemas.microsoft.com/office/drawing/2014/main" id="{F442EF30-93C7-4546-9525-C1AA3D745C53}"/>
              </a:ext>
            </a:extLst>
          </p:cNvPr>
          <p:cNvSpPr>
            <a:spLocks noGrp="1"/>
          </p:cNvSpPr>
          <p:nvPr/>
        </p:nvSpPr>
        <p:spPr>
          <a:xfrm>
            <a:off x="9715500" y="4933950"/>
            <a:ext cx="7620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5"/>
          <a:stretch/>
        </p:blipFill>
        <p:spPr>
          <a:xfrm rot="879000">
            <a:off x="14963775" y="1371600"/>
            <a:ext cx="2276475" cy="2276475"/>
          </a:xfrm>
          <a:prstGeom prst="rect">
            <a:avLst/>
          </a:prstGeom>
        </p:spPr>
      </p:pic>
      <p:pic>
        <p:nvPicPr>
          <p:cNvPr id="33" name="Рисунок 3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095875" y="6562725"/>
            <a:ext cx="4467225" cy="3724275"/>
          </a:xfrm>
          <a:prstGeom prst="rect">
            <a:avLst/>
          </a:prstGeom>
        </p:spPr>
      </p:pic>
      <p:pic>
        <p:nvPicPr>
          <p:cNvPr id="34" name="Рисунок 33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82379" y="9186863"/>
            <a:ext cx="2083242" cy="623888"/>
          </a:xfrm>
          <a:prstGeom prst="rect">
            <a:avLst/>
          </a:prstGeom>
        </p:spPr>
      </p:pic>
      <p:sp>
        <p:nvSpPr>
          <p:cNvPr id="15" name="Номер страницы">
            <a:extLst>
              <a:ext uri="{FF2B5EF4-FFF2-40B4-BE49-F238E27FC236}">
                <a16:creationId xmlns:a16="http://schemas.microsoft.com/office/drawing/2014/main" id="{8CB3DCAF-5969-49CE-B198-E4C5CEA31C56}"/>
              </a:ext>
            </a:extLst>
          </p:cNvPr>
          <p:cNvSpPr>
            <a:spLocks noGrp="1"/>
          </p:cNvSpPr>
          <p:nvPr/>
        </p:nvSpPr>
        <p:spPr>
          <a:xfrm>
            <a:off x="16859250" y="94678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 b="0"/>
              <a:t>27</a:t>
            </a:r>
          </a:p>
        </p:txBody>
      </p:sp>
      <p:pic>
        <p:nvPicPr>
          <p:cNvPr id="35" name="Picture 34" descr="attrib_07_layer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77754" y="2514600"/>
            <a:ext cx="13732490" cy="653796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62800" y="1933575"/>
            <a:ext cx="8715375" cy="8353425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190601" y="504825"/>
            <a:ext cx="2876741" cy="2876741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5395519" y="6967442"/>
            <a:ext cx="2688194" cy="3191637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4892528" y="1556671"/>
            <a:ext cx="2344484" cy="2344484"/>
          </a:xfrm>
          <a:prstGeom prst="rect">
            <a:avLst/>
          </a:prstGeom>
        </p:spPr>
      </p:pic>
      <p:sp>
        <p:nvSpPr>
          <p:cNvPr id="6" name="Заголовок">
            <a:extLst>
              <a:ext uri="{FF2B5EF4-FFF2-40B4-BE49-F238E27FC236}">
                <a16:creationId xmlns:a16="http://schemas.microsoft.com/office/drawing/2014/main" id="{498BBE52-B56A-4F73-8565-575347066D87}"/>
              </a:ext>
            </a:extLst>
          </p:cNvPr>
          <p:cNvSpPr>
            <a:spLocks noGrp="1"/>
          </p:cNvSpPr>
          <p:nvPr/>
        </p:nvSpPr>
        <p:spPr>
          <a:xfrm>
            <a:off x="476250" y="2895600"/>
            <a:ext cx="7429500" cy="2171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300" b="0">
                <a:solidFill>
                  <a:srgbClr val="3A3A3A"/>
                </a:solidFill>
                <a:latin typeface="X5 Sans Medium"/>
              </a:rPr>
              <a:t>Юнит-таблица: один пользователь — одна строка — вся история</a:t>
            </a:r>
          </a:p>
        </p:txBody>
      </p:sp>
      <p:sp>
        <p:nvSpPr>
          <p:cNvPr id="7" name="Пояснение">
            <a:extLst>
              <a:ext uri="{FF2B5EF4-FFF2-40B4-BE49-F238E27FC236}">
                <a16:creationId xmlns:a16="http://schemas.microsoft.com/office/drawing/2014/main" id="{7FDFA29B-3B26-457E-8F99-F72D6D317D5E}"/>
              </a:ext>
            </a:extLst>
          </p:cNvPr>
          <p:cNvSpPr>
            <a:spLocks noGrp="1"/>
          </p:cNvSpPr>
          <p:nvPr/>
        </p:nvSpPr>
        <p:spPr>
          <a:xfrm>
            <a:off x="476250" y="5307626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600" b="0">
                <a:solidFill>
                  <a:srgbClr val="3A3A3A"/>
                </a:solidFill>
                <a:latin typeface="X5 Sans Medium"/>
              </a:rPr>
              <a:t>Все касания (не только первый/последний!), заказы, LTV → CAC, когорты, retention, атрибуция</a:t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77115" y="476250"/>
            <a:ext cx="1034305" cy="929926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027176" y="907322"/>
            <a:ext cx="453200" cy="500408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499806" y="907592"/>
            <a:ext cx="376904" cy="508821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2076846" y="886682"/>
            <a:ext cx="2050036" cy="67541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Текстовый блок">
            <a:extLst>
              <a:ext uri="{FF2B5EF4-FFF2-40B4-BE49-F238E27FC236}">
                <a16:creationId xmlns:a16="http://schemas.microsoft.com/office/drawing/2014/main" id="{83BF2DA4-8395-4896-98A1-EE8ADF637024}"/>
              </a:ext>
            </a:extLst>
          </p:cNvPr>
          <p:cNvSpPr>
            <a:spLocks noGrp="1"/>
          </p:cNvSpPr>
          <p:nvPr/>
        </p:nvSpPr>
        <p:spPr>
          <a:xfrm>
            <a:off x="476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Список">
            <a:extLst>
              <a:ext uri="{FF2B5EF4-FFF2-40B4-BE49-F238E27FC236}">
                <a16:creationId xmlns:a16="http://schemas.microsoft.com/office/drawing/2014/main" id="{EE991465-5A34-4773-A228-4F61ECBBE8E6}"/>
              </a:ext>
            </a:extLst>
          </p:cNvPr>
          <p:cNvSpPr>
            <a:spLocks noGrp="1"/>
          </p:cNvSpPr>
          <p:nvPr/>
        </p:nvSpPr>
        <p:spPr>
          <a:xfrm>
            <a:off x="9239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Заголовок">
            <a:extLst>
              <a:ext uri="{FF2B5EF4-FFF2-40B4-BE49-F238E27FC236}">
                <a16:creationId xmlns:a16="http://schemas.microsoft.com/office/drawing/2014/main" id="{70B4469F-6CF4-4B36-8D14-80B170FE0D58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500" b="0">
                <a:solidFill>
                  <a:srgbClr val="3A3A3A"/>
                </a:solidFill>
                <a:latin typeface="X5 Sans Medium"/>
              </a:rPr>
              <a:t>Юнит-таблица: пример</a:t>
            </a:r>
          </a:p>
        </p:txBody>
      </p:sp>
      <p:sp>
        <p:nvSpPr>
          <p:cNvPr id="6" name="Подзаголовок">
            <a:extLst>
              <a:ext uri="{FF2B5EF4-FFF2-40B4-BE49-F238E27FC236}">
                <a16:creationId xmlns:a16="http://schemas.microsoft.com/office/drawing/2014/main" id="{EADA99A8-63FD-4201-8FB7-7752A0FD2CE4}"/>
              </a:ext>
            </a:extLst>
          </p:cNvPr>
          <p:cNvSpPr>
            <a:spLocks noGrp="1"/>
          </p:cNvSpPr>
          <p:nvPr/>
        </p:nvSpPr>
        <p:spPr>
          <a:xfrm>
            <a:off x="476250" y="1485900"/>
            <a:ext cx="857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0">
                <a:solidFill>
                  <a:srgbClr val="3A3A3A"/>
                </a:solidFill>
                <a:latin typeface="X5 Sans"/>
              </a:rPr>
              <a:t>Храните все касания, а не только первый и последний: модели атрибуции учатся на полных путях</a:t>
            </a:r>
          </a:p>
        </p:txBody>
      </p:sp>
      <p:sp>
        <p:nvSpPr>
          <p:cNvPr id="7" name="Текстовый блок — заголовок">
            <a:extLst>
              <a:ext uri="{FF2B5EF4-FFF2-40B4-BE49-F238E27FC236}">
                <a16:creationId xmlns:a16="http://schemas.microsoft.com/office/drawing/2014/main" id="{60D8FFDF-B59C-4B0A-8CBE-3EF79B76F9B8}"/>
              </a:ext>
            </a:extLst>
          </p:cNvPr>
          <p:cNvSpPr>
            <a:spLocks noGrp="1"/>
          </p:cNvSpPr>
          <p:nvPr/>
        </p:nvSpPr>
        <p:spPr>
          <a:xfrm>
            <a:off x="800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8" name="Текстовый блок — текст">
            <a:extLst>
              <a:ext uri="{FF2B5EF4-FFF2-40B4-BE49-F238E27FC236}">
                <a16:creationId xmlns:a16="http://schemas.microsoft.com/office/drawing/2014/main" id="{AC333327-0196-4226-8AE6-135E26DFFEF0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79248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9" name="Список — заголовок">
            <a:extLst>
              <a:ext uri="{FF2B5EF4-FFF2-40B4-BE49-F238E27FC236}">
                <a16:creationId xmlns:a16="http://schemas.microsoft.com/office/drawing/2014/main" id="{3C6A7525-86DB-4554-B760-371C8510005B}"/>
              </a:ext>
            </a:extLst>
          </p:cNvPr>
          <p:cNvSpPr>
            <a:spLocks noGrp="1"/>
          </p:cNvSpPr>
          <p:nvPr/>
        </p:nvSpPr>
        <p:spPr>
          <a:xfrm>
            <a:off x="9563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10" name="Список — вводная">
            <a:extLst>
              <a:ext uri="{FF2B5EF4-FFF2-40B4-BE49-F238E27FC236}">
                <a16:creationId xmlns:a16="http://schemas.microsoft.com/office/drawing/2014/main" id="{EDD98C9F-4A8D-400A-82D5-F1B2EB5BE324}"/>
              </a:ext>
            </a:extLst>
          </p:cNvPr>
          <p:cNvSpPr>
            <a:spLocks noGrp="1"/>
          </p:cNvSpPr>
          <p:nvPr/>
        </p:nvSpPr>
        <p:spPr>
          <a:xfrm>
            <a:off x="9563100" y="3848100"/>
            <a:ext cx="7924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11" name="Список — пункты">
            <a:extLst>
              <a:ext uri="{FF2B5EF4-FFF2-40B4-BE49-F238E27FC236}">
                <a16:creationId xmlns:a16="http://schemas.microsoft.com/office/drawing/2014/main" id="{F442EF30-93C7-4546-9525-C1AA3D745C53}"/>
              </a:ext>
            </a:extLst>
          </p:cNvPr>
          <p:cNvSpPr>
            <a:spLocks noGrp="1"/>
          </p:cNvSpPr>
          <p:nvPr/>
        </p:nvSpPr>
        <p:spPr>
          <a:xfrm>
            <a:off x="9715500" y="4933950"/>
            <a:ext cx="7620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5"/>
          <a:stretch/>
        </p:blipFill>
        <p:spPr>
          <a:xfrm rot="879000">
            <a:off x="14963775" y="1371600"/>
            <a:ext cx="2276475" cy="2276475"/>
          </a:xfrm>
          <a:prstGeom prst="rect">
            <a:avLst/>
          </a:prstGeom>
        </p:spPr>
      </p:pic>
      <p:pic>
        <p:nvPicPr>
          <p:cNvPr id="33" name="Рисунок 3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095875" y="6562725"/>
            <a:ext cx="4467225" cy="3724275"/>
          </a:xfrm>
          <a:prstGeom prst="rect">
            <a:avLst/>
          </a:prstGeom>
        </p:spPr>
      </p:pic>
      <p:pic>
        <p:nvPicPr>
          <p:cNvPr id="34" name="Рисунок 33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82379" y="9186863"/>
            <a:ext cx="2083242" cy="623888"/>
          </a:xfrm>
          <a:prstGeom prst="rect">
            <a:avLst/>
          </a:prstGeom>
        </p:spPr>
      </p:pic>
      <p:sp>
        <p:nvSpPr>
          <p:cNvPr id="15" name="Номер страницы">
            <a:extLst>
              <a:ext uri="{FF2B5EF4-FFF2-40B4-BE49-F238E27FC236}">
                <a16:creationId xmlns:a16="http://schemas.microsoft.com/office/drawing/2014/main" id="{8CB3DCAF-5969-49CE-B198-E4C5CEA31C56}"/>
              </a:ext>
            </a:extLst>
          </p:cNvPr>
          <p:cNvSpPr>
            <a:spLocks noGrp="1"/>
          </p:cNvSpPr>
          <p:nvPr/>
        </p:nvSpPr>
        <p:spPr>
          <a:xfrm>
            <a:off x="16859250" y="94678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 b="0"/>
              <a:t>29</a:t>
            </a:r>
          </a:p>
        </p:txBody>
      </p:sp>
      <p:pic>
        <p:nvPicPr>
          <p:cNvPr id="35" name="Picture 34" descr="attrib_09_unit_tab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2514600"/>
            <a:ext cx="16824960" cy="559699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62800" y="1933575"/>
            <a:ext cx="8715375" cy="8353425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190601" y="504825"/>
            <a:ext cx="2876741" cy="2876741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5395519" y="6967442"/>
            <a:ext cx="2688194" cy="3191637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4892528" y="1556671"/>
            <a:ext cx="2344484" cy="2344484"/>
          </a:xfrm>
          <a:prstGeom prst="rect">
            <a:avLst/>
          </a:prstGeom>
        </p:spPr>
      </p:pic>
      <p:sp>
        <p:nvSpPr>
          <p:cNvPr id="6" name="Заголовок">
            <a:extLst>
              <a:ext uri="{FF2B5EF4-FFF2-40B4-BE49-F238E27FC236}">
                <a16:creationId xmlns:a16="http://schemas.microsoft.com/office/drawing/2014/main" id="{498BBE52-B56A-4F73-8565-575347066D87}"/>
              </a:ext>
            </a:extLst>
          </p:cNvPr>
          <p:cNvSpPr>
            <a:spLocks noGrp="1"/>
          </p:cNvSpPr>
          <p:nvPr/>
        </p:nvSpPr>
        <p:spPr>
          <a:xfrm>
            <a:off x="476250" y="2895600"/>
            <a:ext cx="7429500" cy="2171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5500" b="0">
                <a:solidFill>
                  <a:srgbClr val="3A3A3A"/>
                </a:solidFill>
                <a:latin typeface="X5 Sans Medium"/>
              </a:rPr>
              <a:t>Где рвётся цепочка</a:t>
            </a:r>
          </a:p>
        </p:txBody>
      </p:sp>
      <p:sp>
        <p:nvSpPr>
          <p:cNvPr id="7" name="Пояснение">
            <a:extLst>
              <a:ext uri="{FF2B5EF4-FFF2-40B4-BE49-F238E27FC236}">
                <a16:creationId xmlns:a16="http://schemas.microsoft.com/office/drawing/2014/main" id="{7FDFA29B-3B26-457E-8F99-F72D6D317D5E}"/>
              </a:ext>
            </a:extLst>
          </p:cNvPr>
          <p:cNvSpPr>
            <a:spLocks noGrp="1"/>
          </p:cNvSpPr>
          <p:nvPr/>
        </p:nvSpPr>
        <p:spPr>
          <a:xfrm>
            <a:off x="476250" y="5307626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77115" y="476250"/>
            <a:ext cx="1034305" cy="929926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027176" y="907322"/>
            <a:ext cx="453200" cy="500408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499806" y="907592"/>
            <a:ext cx="376904" cy="508821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2076846" y="886682"/>
            <a:ext cx="2050036" cy="675418"/>
          </a:xfrm>
          <a:prstGeom prst="rect">
            <a:avLst/>
          </a:prstGeom>
        </p:spPr>
      </p:pic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548640" y="5257800"/>
          <a:ext cx="171907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07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X5 Sans"/>
                        </a:rPr>
                        <a:t>Разрыв</a:t>
                      </a:r>
                    </a:p>
                  </a:txBody>
                  <a:tcPr marL="109728" marR="73152" marT="27432" marB="27432"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X5 Sans"/>
                        </a:rPr>
                        <a:t>Чем чиним</a:t>
                      </a:r>
                    </a:p>
                  </a:txBody>
                  <a:tcPr marL="109728" marR="73152" marT="27432" marB="27432" anchor="ctr"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E2841"/>
                          </a:solidFill>
                          <a:latin typeface="X5 Sans"/>
                        </a:rPr>
                        <a:t>Кросс-девайс</a:t>
                      </a:r>
                    </a:p>
                  </a:txBody>
                  <a:tcPr marL="109728" marR="73152" marT="27432" marB="27432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E4055"/>
                          </a:solidFill>
                          <a:latin typeface="X5 Sans"/>
                        </a:rPr>
                        <a:t>авторизация как ключ сшивки</a:t>
                      </a:r>
                    </a:p>
                  </a:txBody>
                  <a:tcPr marL="109728" marR="73152" marT="27432" marB="27432" anchor="ctr"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E2841"/>
                          </a:solidFill>
                          <a:latin typeface="X5 Sans"/>
                        </a:rPr>
                        <a:t>Блокировщики · ATT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E4055"/>
                          </a:solidFill>
                          <a:latin typeface="X5 Sans"/>
                        </a:rPr>
                        <a:t>агрегаты, MMM, гео-методы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E2841"/>
                          </a:solidFill>
                          <a:latin typeface="X5 Sans"/>
                        </a:rPr>
                        <a:t>Офлайн-покупки</a:t>
                      </a:r>
                    </a:p>
                  </a:txBody>
                  <a:tcPr marL="109728" marR="73152" marT="27432" marB="27432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E4055"/>
                          </a:solidFill>
                          <a:latin typeface="X5 Sans"/>
                        </a:rPr>
                        <a:t>CRM/касса — мэтчинг по карте, телефону</a:t>
                      </a:r>
                    </a:p>
                  </a:txBody>
                  <a:tcPr marL="109728" marR="73152" marT="27432" marB="27432" anchor="ctr"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E2841"/>
                          </a:solidFill>
                          <a:latin typeface="X5 Sans"/>
                        </a:rPr>
                        <a:t>Окна атрибуции платформ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E4055"/>
                          </a:solidFill>
                          <a:latin typeface="X5 Sans"/>
                        </a:rPr>
                        <a:t>хранить сырые касания у себя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62800" y="1933575"/>
            <a:ext cx="8715375" cy="8353425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190601" y="504825"/>
            <a:ext cx="2876741" cy="2876741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5395519" y="6967442"/>
            <a:ext cx="2688194" cy="3191637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4892528" y="1556671"/>
            <a:ext cx="2344484" cy="2344484"/>
          </a:xfrm>
          <a:prstGeom prst="rect">
            <a:avLst/>
          </a:prstGeom>
        </p:spPr>
      </p:pic>
      <p:sp>
        <p:nvSpPr>
          <p:cNvPr id="6" name="Заголовок">
            <a:extLst>
              <a:ext uri="{FF2B5EF4-FFF2-40B4-BE49-F238E27FC236}">
                <a16:creationId xmlns:a16="http://schemas.microsoft.com/office/drawing/2014/main" id="{498BBE52-B56A-4F73-8565-575347066D87}"/>
              </a:ext>
            </a:extLst>
          </p:cNvPr>
          <p:cNvSpPr>
            <a:spLocks noGrp="1"/>
          </p:cNvSpPr>
          <p:nvPr/>
        </p:nvSpPr>
        <p:spPr>
          <a:xfrm>
            <a:off x="476250" y="2895600"/>
            <a:ext cx="7429500" cy="2171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300" b="0">
                <a:solidFill>
                  <a:srgbClr val="3A3A3A"/>
                </a:solidFill>
                <a:latin typeface="X5 Sans Medium"/>
              </a:rPr>
              <a:t>Кому засчитать заказ: медийка → контекст → письмо → бренд → покупка?</a:t>
            </a:r>
          </a:p>
        </p:txBody>
      </p:sp>
      <p:sp>
        <p:nvSpPr>
          <p:cNvPr id="7" name="Пояснение">
            <a:extLst>
              <a:ext uri="{FF2B5EF4-FFF2-40B4-BE49-F238E27FC236}">
                <a16:creationId xmlns:a16="http://schemas.microsoft.com/office/drawing/2014/main" id="{7FDFA29B-3B26-457E-8F99-F72D6D317D5E}"/>
              </a:ext>
            </a:extLst>
          </p:cNvPr>
          <p:cNvSpPr>
            <a:spLocks noGrp="1"/>
          </p:cNvSpPr>
          <p:nvPr/>
        </p:nvSpPr>
        <p:spPr>
          <a:xfrm>
            <a:off x="476250" y="5307626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 sz="2600" b="0" dirty="0">
              <a:solidFill>
                <a:srgbClr val="3A3A3A"/>
              </a:solidFill>
              <a:latin typeface="X5 Sans Medium"/>
            </a:endParaRP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77115" y="476250"/>
            <a:ext cx="1034305" cy="929926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027176" y="907322"/>
            <a:ext cx="453200" cy="500408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499806" y="907592"/>
            <a:ext cx="376904" cy="508821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2076846" y="886682"/>
            <a:ext cx="2050036" cy="67541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Текстовый блок">
            <a:extLst>
              <a:ext uri="{FF2B5EF4-FFF2-40B4-BE49-F238E27FC236}">
                <a16:creationId xmlns:a16="http://schemas.microsoft.com/office/drawing/2014/main" id="{83BF2DA4-8395-4896-98A1-EE8ADF637024}"/>
              </a:ext>
            </a:extLst>
          </p:cNvPr>
          <p:cNvSpPr>
            <a:spLocks noGrp="1"/>
          </p:cNvSpPr>
          <p:nvPr/>
        </p:nvSpPr>
        <p:spPr>
          <a:xfrm>
            <a:off x="476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Список">
            <a:extLst>
              <a:ext uri="{FF2B5EF4-FFF2-40B4-BE49-F238E27FC236}">
                <a16:creationId xmlns:a16="http://schemas.microsoft.com/office/drawing/2014/main" id="{EE991465-5A34-4773-A228-4F61ECBBE8E6}"/>
              </a:ext>
            </a:extLst>
          </p:cNvPr>
          <p:cNvSpPr>
            <a:spLocks noGrp="1"/>
          </p:cNvSpPr>
          <p:nvPr/>
        </p:nvSpPr>
        <p:spPr>
          <a:xfrm>
            <a:off x="9239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Заголовок">
            <a:extLst>
              <a:ext uri="{FF2B5EF4-FFF2-40B4-BE49-F238E27FC236}">
                <a16:creationId xmlns:a16="http://schemas.microsoft.com/office/drawing/2014/main" id="{70B4469F-6CF4-4B36-8D14-80B170FE0D58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700" b="0">
                <a:solidFill>
                  <a:srgbClr val="3A3A3A"/>
                </a:solidFill>
                <a:latin typeface="X5 Sans Medium"/>
              </a:rPr>
              <a:t>Каждый канал — сам себе молодец</a:t>
            </a:r>
          </a:p>
        </p:txBody>
      </p:sp>
      <p:sp>
        <p:nvSpPr>
          <p:cNvPr id="6" name="Подзаголовок">
            <a:extLst>
              <a:ext uri="{FF2B5EF4-FFF2-40B4-BE49-F238E27FC236}">
                <a16:creationId xmlns:a16="http://schemas.microsoft.com/office/drawing/2014/main" id="{EADA99A8-63FD-4201-8FB7-7752A0FD2CE4}"/>
              </a:ext>
            </a:extLst>
          </p:cNvPr>
          <p:cNvSpPr>
            <a:spLocks noGrp="1"/>
          </p:cNvSpPr>
          <p:nvPr/>
        </p:nvSpPr>
        <p:spPr>
          <a:xfrm>
            <a:off x="476250" y="1485900"/>
            <a:ext cx="857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0">
                <a:solidFill>
                  <a:srgbClr val="3A3A3A"/>
                </a:solidFill>
                <a:latin typeface="X5 Sans"/>
              </a:rPr>
              <a:t>Расходы и конверсии по каналам раздельно: кому засчитать совместную конверсию?</a:t>
            </a:r>
          </a:p>
        </p:txBody>
      </p:sp>
      <p:sp>
        <p:nvSpPr>
          <p:cNvPr id="7" name="Текстовый блок — заголовок">
            <a:extLst>
              <a:ext uri="{FF2B5EF4-FFF2-40B4-BE49-F238E27FC236}">
                <a16:creationId xmlns:a16="http://schemas.microsoft.com/office/drawing/2014/main" id="{60D8FFDF-B59C-4B0A-8CBE-3EF79B76F9B8}"/>
              </a:ext>
            </a:extLst>
          </p:cNvPr>
          <p:cNvSpPr>
            <a:spLocks noGrp="1"/>
          </p:cNvSpPr>
          <p:nvPr/>
        </p:nvSpPr>
        <p:spPr>
          <a:xfrm>
            <a:off x="800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8" name="Текстовый блок — текст">
            <a:extLst>
              <a:ext uri="{FF2B5EF4-FFF2-40B4-BE49-F238E27FC236}">
                <a16:creationId xmlns:a16="http://schemas.microsoft.com/office/drawing/2014/main" id="{AC333327-0196-4226-8AE6-135E26DFFEF0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79248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9" name="Список — заголовок">
            <a:extLst>
              <a:ext uri="{FF2B5EF4-FFF2-40B4-BE49-F238E27FC236}">
                <a16:creationId xmlns:a16="http://schemas.microsoft.com/office/drawing/2014/main" id="{3C6A7525-86DB-4554-B760-371C8510005B}"/>
              </a:ext>
            </a:extLst>
          </p:cNvPr>
          <p:cNvSpPr>
            <a:spLocks noGrp="1"/>
          </p:cNvSpPr>
          <p:nvPr/>
        </p:nvSpPr>
        <p:spPr>
          <a:xfrm>
            <a:off x="9563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0" name="Список — вводная">
            <a:extLst>
              <a:ext uri="{FF2B5EF4-FFF2-40B4-BE49-F238E27FC236}">
                <a16:creationId xmlns:a16="http://schemas.microsoft.com/office/drawing/2014/main" id="{EDD98C9F-4A8D-400A-82D5-F1B2EB5BE324}"/>
              </a:ext>
            </a:extLst>
          </p:cNvPr>
          <p:cNvSpPr>
            <a:spLocks noGrp="1"/>
          </p:cNvSpPr>
          <p:nvPr/>
        </p:nvSpPr>
        <p:spPr>
          <a:xfrm>
            <a:off x="9563100" y="3848100"/>
            <a:ext cx="7924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1" name="Список — пункты">
            <a:extLst>
              <a:ext uri="{FF2B5EF4-FFF2-40B4-BE49-F238E27FC236}">
                <a16:creationId xmlns:a16="http://schemas.microsoft.com/office/drawing/2014/main" id="{F442EF30-93C7-4546-9525-C1AA3D745C53}"/>
              </a:ext>
            </a:extLst>
          </p:cNvPr>
          <p:cNvSpPr>
            <a:spLocks noGrp="1"/>
          </p:cNvSpPr>
          <p:nvPr/>
        </p:nvSpPr>
        <p:spPr>
          <a:xfrm>
            <a:off x="9715500" y="4933950"/>
            <a:ext cx="7620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5"/>
          <a:stretch/>
        </p:blipFill>
        <p:spPr>
          <a:xfrm rot="879000">
            <a:off x="14963775" y="1371600"/>
            <a:ext cx="2276475" cy="2276475"/>
          </a:xfrm>
          <a:prstGeom prst="rect">
            <a:avLst/>
          </a:prstGeom>
        </p:spPr>
      </p:pic>
      <p:pic>
        <p:nvPicPr>
          <p:cNvPr id="33" name="Рисунок 3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095875" y="6562725"/>
            <a:ext cx="4467225" cy="3724275"/>
          </a:xfrm>
          <a:prstGeom prst="rect">
            <a:avLst/>
          </a:prstGeom>
        </p:spPr>
      </p:pic>
      <p:pic>
        <p:nvPicPr>
          <p:cNvPr id="34" name="Рисунок 3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82379" y="9186863"/>
            <a:ext cx="2083242" cy="623888"/>
          </a:xfrm>
          <a:prstGeom prst="rect">
            <a:avLst/>
          </a:prstGeom>
        </p:spPr>
      </p:pic>
      <p:sp>
        <p:nvSpPr>
          <p:cNvPr id="15" name="Номер страницы">
            <a:extLst>
              <a:ext uri="{FF2B5EF4-FFF2-40B4-BE49-F238E27FC236}">
                <a16:creationId xmlns:a16="http://schemas.microsoft.com/office/drawing/2014/main" id="{8CB3DCAF-5969-49CE-B198-E4C5CEA31C56}"/>
              </a:ext>
            </a:extLst>
          </p:cNvPr>
          <p:cNvSpPr>
            <a:spLocks noGrp="1"/>
          </p:cNvSpPr>
          <p:nvPr/>
        </p:nvSpPr>
        <p:spPr>
          <a:xfrm>
            <a:off x="16859250" y="94678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 b="0"/>
              <a:t>32</a:t>
            </a:r>
          </a:p>
        </p:txBody>
      </p:sp>
      <p:pic>
        <p:nvPicPr>
          <p:cNvPr id="35" name="Picture 34" descr="attrib_07_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7754" y="2514600"/>
            <a:ext cx="13732490" cy="653796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9668" y="2514600"/>
            <a:ext cx="11688663" cy="653796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Текстовый блок">
            <a:extLst>
              <a:ext uri="{FF2B5EF4-FFF2-40B4-BE49-F238E27FC236}">
                <a16:creationId xmlns:a16="http://schemas.microsoft.com/office/drawing/2014/main" id="{83BF2DA4-8395-4896-98A1-EE8ADF637024}"/>
              </a:ext>
            </a:extLst>
          </p:cNvPr>
          <p:cNvSpPr>
            <a:spLocks noGrp="1"/>
          </p:cNvSpPr>
          <p:nvPr/>
        </p:nvSpPr>
        <p:spPr>
          <a:xfrm>
            <a:off x="476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Список">
            <a:extLst>
              <a:ext uri="{FF2B5EF4-FFF2-40B4-BE49-F238E27FC236}">
                <a16:creationId xmlns:a16="http://schemas.microsoft.com/office/drawing/2014/main" id="{EE991465-5A34-4773-A228-4F61ECBBE8E6}"/>
              </a:ext>
            </a:extLst>
          </p:cNvPr>
          <p:cNvSpPr>
            <a:spLocks noGrp="1"/>
          </p:cNvSpPr>
          <p:nvPr/>
        </p:nvSpPr>
        <p:spPr>
          <a:xfrm>
            <a:off x="9239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Заголовок">
            <a:extLst>
              <a:ext uri="{FF2B5EF4-FFF2-40B4-BE49-F238E27FC236}">
                <a16:creationId xmlns:a16="http://schemas.microsoft.com/office/drawing/2014/main" id="{70B4469F-6CF4-4B36-8D14-80B170FE0D58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500" b="0">
                <a:solidFill>
                  <a:srgbClr val="3A3A3A"/>
                </a:solidFill>
                <a:latin typeface="X5 Sans Medium"/>
              </a:rPr>
              <a:t>Один путь — пять мнений</a:t>
            </a:r>
          </a:p>
        </p:txBody>
      </p:sp>
      <p:sp>
        <p:nvSpPr>
          <p:cNvPr id="6" name="Подзаголовок">
            <a:extLst>
              <a:ext uri="{FF2B5EF4-FFF2-40B4-BE49-F238E27FC236}">
                <a16:creationId xmlns:a16="http://schemas.microsoft.com/office/drawing/2014/main" id="{EADA99A8-63FD-4201-8FB7-7752A0FD2CE4}"/>
              </a:ext>
            </a:extLst>
          </p:cNvPr>
          <p:cNvSpPr>
            <a:spLocks noGrp="1"/>
          </p:cNvSpPr>
          <p:nvPr/>
        </p:nvSpPr>
        <p:spPr>
          <a:xfrm>
            <a:off x="476250" y="1485900"/>
            <a:ext cx="857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0">
                <a:solidFill>
                  <a:srgbClr val="3A3A3A"/>
                </a:solidFill>
                <a:latin typeface="X5 Sans"/>
              </a:rPr>
              <a:t>Правильной модели не существует: каждое правило — допущение со своим смещением</a:t>
            </a:r>
          </a:p>
        </p:txBody>
      </p:sp>
      <p:sp>
        <p:nvSpPr>
          <p:cNvPr id="7" name="Текстовый блок — заголовок">
            <a:extLst>
              <a:ext uri="{FF2B5EF4-FFF2-40B4-BE49-F238E27FC236}">
                <a16:creationId xmlns:a16="http://schemas.microsoft.com/office/drawing/2014/main" id="{60D8FFDF-B59C-4B0A-8CBE-3EF79B76F9B8}"/>
              </a:ext>
            </a:extLst>
          </p:cNvPr>
          <p:cNvSpPr>
            <a:spLocks noGrp="1"/>
          </p:cNvSpPr>
          <p:nvPr/>
        </p:nvSpPr>
        <p:spPr>
          <a:xfrm>
            <a:off x="800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8" name="Текстовый блок — текст">
            <a:extLst>
              <a:ext uri="{FF2B5EF4-FFF2-40B4-BE49-F238E27FC236}">
                <a16:creationId xmlns:a16="http://schemas.microsoft.com/office/drawing/2014/main" id="{AC333327-0196-4226-8AE6-135E26DFFEF0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79248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9" name="Список — заголовок">
            <a:extLst>
              <a:ext uri="{FF2B5EF4-FFF2-40B4-BE49-F238E27FC236}">
                <a16:creationId xmlns:a16="http://schemas.microsoft.com/office/drawing/2014/main" id="{3C6A7525-86DB-4554-B760-371C8510005B}"/>
              </a:ext>
            </a:extLst>
          </p:cNvPr>
          <p:cNvSpPr>
            <a:spLocks noGrp="1"/>
          </p:cNvSpPr>
          <p:nvPr/>
        </p:nvSpPr>
        <p:spPr>
          <a:xfrm>
            <a:off x="9563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10" name="Список — вводная">
            <a:extLst>
              <a:ext uri="{FF2B5EF4-FFF2-40B4-BE49-F238E27FC236}">
                <a16:creationId xmlns:a16="http://schemas.microsoft.com/office/drawing/2014/main" id="{EDD98C9F-4A8D-400A-82D5-F1B2EB5BE324}"/>
              </a:ext>
            </a:extLst>
          </p:cNvPr>
          <p:cNvSpPr>
            <a:spLocks noGrp="1"/>
          </p:cNvSpPr>
          <p:nvPr/>
        </p:nvSpPr>
        <p:spPr>
          <a:xfrm>
            <a:off x="9563100" y="3848100"/>
            <a:ext cx="7924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11" name="Список — пункты">
            <a:extLst>
              <a:ext uri="{FF2B5EF4-FFF2-40B4-BE49-F238E27FC236}">
                <a16:creationId xmlns:a16="http://schemas.microsoft.com/office/drawing/2014/main" id="{F442EF30-93C7-4546-9525-C1AA3D745C53}"/>
              </a:ext>
            </a:extLst>
          </p:cNvPr>
          <p:cNvSpPr>
            <a:spLocks noGrp="1"/>
          </p:cNvSpPr>
          <p:nvPr/>
        </p:nvSpPr>
        <p:spPr>
          <a:xfrm>
            <a:off x="9715500" y="4933950"/>
            <a:ext cx="7620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5"/>
          <a:stretch/>
        </p:blipFill>
        <p:spPr>
          <a:xfrm rot="879000">
            <a:off x="14963775" y="1371600"/>
            <a:ext cx="2276475" cy="2276475"/>
          </a:xfrm>
          <a:prstGeom prst="rect">
            <a:avLst/>
          </a:prstGeom>
        </p:spPr>
      </p:pic>
      <p:pic>
        <p:nvPicPr>
          <p:cNvPr id="33" name="Рисунок 3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095875" y="6562725"/>
            <a:ext cx="4467225" cy="3724275"/>
          </a:xfrm>
          <a:prstGeom prst="rect">
            <a:avLst/>
          </a:prstGeom>
        </p:spPr>
      </p:pic>
      <p:pic>
        <p:nvPicPr>
          <p:cNvPr id="34" name="Рисунок 33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82379" y="9186863"/>
            <a:ext cx="2083242" cy="623888"/>
          </a:xfrm>
          <a:prstGeom prst="rect">
            <a:avLst/>
          </a:prstGeom>
        </p:spPr>
      </p:pic>
      <p:sp>
        <p:nvSpPr>
          <p:cNvPr id="15" name="Номер страницы">
            <a:extLst>
              <a:ext uri="{FF2B5EF4-FFF2-40B4-BE49-F238E27FC236}">
                <a16:creationId xmlns:a16="http://schemas.microsoft.com/office/drawing/2014/main" id="{8CB3DCAF-5969-49CE-B198-E4C5CEA31C56}"/>
              </a:ext>
            </a:extLst>
          </p:cNvPr>
          <p:cNvSpPr>
            <a:spLocks noGrp="1"/>
          </p:cNvSpPr>
          <p:nvPr/>
        </p:nvSpPr>
        <p:spPr>
          <a:xfrm>
            <a:off x="16859250" y="94678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 b="0"/>
              <a:t>33</a:t>
            </a:r>
          </a:p>
        </p:txBody>
      </p:sp>
      <p:pic>
        <p:nvPicPr>
          <p:cNvPr id="35" name="Picture 34" descr="attrib_08_pat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0609" y="2514600"/>
            <a:ext cx="15786781" cy="653796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Текстовый блок">
            <a:extLst>
              <a:ext uri="{FF2B5EF4-FFF2-40B4-BE49-F238E27FC236}">
                <a16:creationId xmlns:a16="http://schemas.microsoft.com/office/drawing/2014/main" id="{83BF2DA4-8395-4896-98A1-EE8ADF637024}"/>
              </a:ext>
            </a:extLst>
          </p:cNvPr>
          <p:cNvSpPr>
            <a:spLocks noGrp="1"/>
          </p:cNvSpPr>
          <p:nvPr/>
        </p:nvSpPr>
        <p:spPr>
          <a:xfrm>
            <a:off x="476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Список">
            <a:extLst>
              <a:ext uri="{FF2B5EF4-FFF2-40B4-BE49-F238E27FC236}">
                <a16:creationId xmlns:a16="http://schemas.microsoft.com/office/drawing/2014/main" id="{EE991465-5A34-4773-A228-4F61ECBBE8E6}"/>
              </a:ext>
            </a:extLst>
          </p:cNvPr>
          <p:cNvSpPr>
            <a:spLocks noGrp="1"/>
          </p:cNvSpPr>
          <p:nvPr/>
        </p:nvSpPr>
        <p:spPr>
          <a:xfrm>
            <a:off x="9239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Заголовок">
            <a:extLst>
              <a:ext uri="{FF2B5EF4-FFF2-40B4-BE49-F238E27FC236}">
                <a16:creationId xmlns:a16="http://schemas.microsoft.com/office/drawing/2014/main" id="{70B4469F-6CF4-4B36-8D14-80B170FE0D58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500" b="0">
                <a:solidFill>
                  <a:srgbClr val="3A3A3A"/>
                </a:solidFill>
                <a:latin typeface="X5 Sans Medium"/>
              </a:rPr>
              <a:t>Какие пути бывают?</a:t>
            </a:r>
          </a:p>
        </p:txBody>
      </p:sp>
      <p:sp>
        <p:nvSpPr>
          <p:cNvPr id="6" name="Подзаголовок">
            <a:extLst>
              <a:ext uri="{FF2B5EF4-FFF2-40B4-BE49-F238E27FC236}">
                <a16:creationId xmlns:a16="http://schemas.microsoft.com/office/drawing/2014/main" id="{EADA99A8-63FD-4201-8FB7-7752A0FD2CE4}"/>
              </a:ext>
            </a:extLst>
          </p:cNvPr>
          <p:cNvSpPr>
            <a:spLocks noGrp="1"/>
          </p:cNvSpPr>
          <p:nvPr/>
        </p:nvSpPr>
        <p:spPr>
          <a:xfrm>
            <a:off x="476250" y="1485900"/>
            <a:ext cx="857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0">
                <a:solidFill>
                  <a:srgbClr val="3A3A3A"/>
                </a:solidFill>
                <a:latin typeface="X5 Sans"/>
              </a:rPr>
              <a:t>От одного касания до петель и повторов — модель атрибуции должна работать на любых</a:t>
            </a:r>
          </a:p>
        </p:txBody>
      </p:sp>
      <p:sp>
        <p:nvSpPr>
          <p:cNvPr id="7" name="Текстовый блок — заголовок">
            <a:extLst>
              <a:ext uri="{FF2B5EF4-FFF2-40B4-BE49-F238E27FC236}">
                <a16:creationId xmlns:a16="http://schemas.microsoft.com/office/drawing/2014/main" id="{60D8FFDF-B59C-4B0A-8CBE-3EF79B76F9B8}"/>
              </a:ext>
            </a:extLst>
          </p:cNvPr>
          <p:cNvSpPr>
            <a:spLocks noGrp="1"/>
          </p:cNvSpPr>
          <p:nvPr/>
        </p:nvSpPr>
        <p:spPr>
          <a:xfrm>
            <a:off x="800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8" name="Текстовый блок — текст">
            <a:extLst>
              <a:ext uri="{FF2B5EF4-FFF2-40B4-BE49-F238E27FC236}">
                <a16:creationId xmlns:a16="http://schemas.microsoft.com/office/drawing/2014/main" id="{AC333327-0196-4226-8AE6-135E26DFFEF0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79248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9" name="Список — заголовок">
            <a:extLst>
              <a:ext uri="{FF2B5EF4-FFF2-40B4-BE49-F238E27FC236}">
                <a16:creationId xmlns:a16="http://schemas.microsoft.com/office/drawing/2014/main" id="{3C6A7525-86DB-4554-B760-371C8510005B}"/>
              </a:ext>
            </a:extLst>
          </p:cNvPr>
          <p:cNvSpPr>
            <a:spLocks noGrp="1"/>
          </p:cNvSpPr>
          <p:nvPr/>
        </p:nvSpPr>
        <p:spPr>
          <a:xfrm>
            <a:off x="9563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0" name="Список — вводная">
            <a:extLst>
              <a:ext uri="{FF2B5EF4-FFF2-40B4-BE49-F238E27FC236}">
                <a16:creationId xmlns:a16="http://schemas.microsoft.com/office/drawing/2014/main" id="{EDD98C9F-4A8D-400A-82D5-F1B2EB5BE324}"/>
              </a:ext>
            </a:extLst>
          </p:cNvPr>
          <p:cNvSpPr>
            <a:spLocks noGrp="1"/>
          </p:cNvSpPr>
          <p:nvPr/>
        </p:nvSpPr>
        <p:spPr>
          <a:xfrm>
            <a:off x="9563100" y="3848100"/>
            <a:ext cx="7924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1" name="Список — пункты">
            <a:extLst>
              <a:ext uri="{FF2B5EF4-FFF2-40B4-BE49-F238E27FC236}">
                <a16:creationId xmlns:a16="http://schemas.microsoft.com/office/drawing/2014/main" id="{F442EF30-93C7-4546-9525-C1AA3D745C53}"/>
              </a:ext>
            </a:extLst>
          </p:cNvPr>
          <p:cNvSpPr>
            <a:spLocks noGrp="1"/>
          </p:cNvSpPr>
          <p:nvPr/>
        </p:nvSpPr>
        <p:spPr>
          <a:xfrm>
            <a:off x="9715500" y="4933950"/>
            <a:ext cx="7620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5"/>
          <a:stretch/>
        </p:blipFill>
        <p:spPr>
          <a:xfrm rot="879000">
            <a:off x="14963775" y="1371600"/>
            <a:ext cx="2276475" cy="2276475"/>
          </a:xfrm>
          <a:prstGeom prst="rect">
            <a:avLst/>
          </a:prstGeom>
        </p:spPr>
      </p:pic>
      <p:pic>
        <p:nvPicPr>
          <p:cNvPr id="33" name="Рисунок 3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095875" y="6562725"/>
            <a:ext cx="4467225" cy="3724275"/>
          </a:xfrm>
          <a:prstGeom prst="rect">
            <a:avLst/>
          </a:prstGeom>
        </p:spPr>
      </p:pic>
      <p:pic>
        <p:nvPicPr>
          <p:cNvPr id="34" name="Рисунок 3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82379" y="9186863"/>
            <a:ext cx="2083242" cy="623888"/>
          </a:xfrm>
          <a:prstGeom prst="rect">
            <a:avLst/>
          </a:prstGeom>
        </p:spPr>
      </p:pic>
      <p:sp>
        <p:nvSpPr>
          <p:cNvPr id="15" name="Номер страницы">
            <a:extLst>
              <a:ext uri="{FF2B5EF4-FFF2-40B4-BE49-F238E27FC236}">
                <a16:creationId xmlns:a16="http://schemas.microsoft.com/office/drawing/2014/main" id="{8CB3DCAF-5969-49CE-B198-E4C5CEA31C56}"/>
              </a:ext>
            </a:extLst>
          </p:cNvPr>
          <p:cNvSpPr>
            <a:spLocks noGrp="1"/>
          </p:cNvSpPr>
          <p:nvPr/>
        </p:nvSpPr>
        <p:spPr>
          <a:xfrm>
            <a:off x="16859250" y="94678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 b="0"/>
              <a:t>34</a:t>
            </a:r>
          </a:p>
        </p:txBody>
      </p:sp>
      <p:pic>
        <p:nvPicPr>
          <p:cNvPr id="35" name="Picture 34" descr="attrib_07_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7754" y="2514600"/>
            <a:ext cx="13732490" cy="653796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55601" y="2514600"/>
            <a:ext cx="12776797" cy="653796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Текстовый блок">
            <a:extLst>
              <a:ext uri="{FF2B5EF4-FFF2-40B4-BE49-F238E27FC236}">
                <a16:creationId xmlns:a16="http://schemas.microsoft.com/office/drawing/2014/main" id="{83BF2DA4-8395-4896-98A1-EE8ADF637024}"/>
              </a:ext>
            </a:extLst>
          </p:cNvPr>
          <p:cNvSpPr>
            <a:spLocks noGrp="1"/>
          </p:cNvSpPr>
          <p:nvPr/>
        </p:nvSpPr>
        <p:spPr>
          <a:xfrm>
            <a:off x="476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Список">
            <a:extLst>
              <a:ext uri="{FF2B5EF4-FFF2-40B4-BE49-F238E27FC236}">
                <a16:creationId xmlns:a16="http://schemas.microsoft.com/office/drawing/2014/main" id="{EE991465-5A34-4773-A228-4F61ECBBE8E6}"/>
              </a:ext>
            </a:extLst>
          </p:cNvPr>
          <p:cNvSpPr>
            <a:spLocks noGrp="1"/>
          </p:cNvSpPr>
          <p:nvPr/>
        </p:nvSpPr>
        <p:spPr>
          <a:xfrm>
            <a:off x="9239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Заголовок">
            <a:extLst>
              <a:ext uri="{FF2B5EF4-FFF2-40B4-BE49-F238E27FC236}">
                <a16:creationId xmlns:a16="http://schemas.microsoft.com/office/drawing/2014/main" id="{70B4469F-6CF4-4B36-8D14-80B170FE0D58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700" b="0">
                <a:solidFill>
                  <a:srgbClr val="3A3A3A"/>
                </a:solidFill>
                <a:latin typeface="X5 Sans Medium"/>
              </a:rPr>
              <a:t>Четыре правила на одном пути</a:t>
            </a:r>
          </a:p>
        </p:txBody>
      </p:sp>
      <p:sp>
        <p:nvSpPr>
          <p:cNvPr id="6" name="Подзаголовок">
            <a:extLst>
              <a:ext uri="{FF2B5EF4-FFF2-40B4-BE49-F238E27FC236}">
                <a16:creationId xmlns:a16="http://schemas.microsoft.com/office/drawing/2014/main" id="{EADA99A8-63FD-4201-8FB7-7752A0FD2CE4}"/>
              </a:ext>
            </a:extLst>
          </p:cNvPr>
          <p:cNvSpPr>
            <a:spLocks noGrp="1"/>
          </p:cNvSpPr>
          <p:nvPr/>
        </p:nvSpPr>
        <p:spPr>
          <a:xfrm>
            <a:off x="476250" y="1485900"/>
            <a:ext cx="857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0">
                <a:solidFill>
                  <a:srgbClr val="3A3A3A"/>
                </a:solidFill>
                <a:latin typeface="X5 Sans"/>
              </a:rPr>
              <a:t>Один и тот же путь — четыре способа поделить ценность: первому, последнему, поровну, с затуханием</a:t>
            </a:r>
          </a:p>
        </p:txBody>
      </p:sp>
      <p:sp>
        <p:nvSpPr>
          <p:cNvPr id="7" name="Текстовый блок — заголовок">
            <a:extLst>
              <a:ext uri="{FF2B5EF4-FFF2-40B4-BE49-F238E27FC236}">
                <a16:creationId xmlns:a16="http://schemas.microsoft.com/office/drawing/2014/main" id="{60D8FFDF-B59C-4B0A-8CBE-3EF79B76F9B8}"/>
              </a:ext>
            </a:extLst>
          </p:cNvPr>
          <p:cNvSpPr>
            <a:spLocks noGrp="1"/>
          </p:cNvSpPr>
          <p:nvPr/>
        </p:nvSpPr>
        <p:spPr>
          <a:xfrm>
            <a:off x="800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8" name="Текстовый блок — текст">
            <a:extLst>
              <a:ext uri="{FF2B5EF4-FFF2-40B4-BE49-F238E27FC236}">
                <a16:creationId xmlns:a16="http://schemas.microsoft.com/office/drawing/2014/main" id="{AC333327-0196-4226-8AE6-135E26DFFEF0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79248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9" name="Список — заголовок">
            <a:extLst>
              <a:ext uri="{FF2B5EF4-FFF2-40B4-BE49-F238E27FC236}">
                <a16:creationId xmlns:a16="http://schemas.microsoft.com/office/drawing/2014/main" id="{3C6A7525-86DB-4554-B760-371C8510005B}"/>
              </a:ext>
            </a:extLst>
          </p:cNvPr>
          <p:cNvSpPr>
            <a:spLocks noGrp="1"/>
          </p:cNvSpPr>
          <p:nvPr/>
        </p:nvSpPr>
        <p:spPr>
          <a:xfrm>
            <a:off x="9563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0" name="Список — вводная">
            <a:extLst>
              <a:ext uri="{FF2B5EF4-FFF2-40B4-BE49-F238E27FC236}">
                <a16:creationId xmlns:a16="http://schemas.microsoft.com/office/drawing/2014/main" id="{EDD98C9F-4A8D-400A-82D5-F1B2EB5BE324}"/>
              </a:ext>
            </a:extLst>
          </p:cNvPr>
          <p:cNvSpPr>
            <a:spLocks noGrp="1"/>
          </p:cNvSpPr>
          <p:nvPr/>
        </p:nvSpPr>
        <p:spPr>
          <a:xfrm>
            <a:off x="9563100" y="3848100"/>
            <a:ext cx="7924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1" name="Список — пункты">
            <a:extLst>
              <a:ext uri="{FF2B5EF4-FFF2-40B4-BE49-F238E27FC236}">
                <a16:creationId xmlns:a16="http://schemas.microsoft.com/office/drawing/2014/main" id="{F442EF30-93C7-4546-9525-C1AA3D745C53}"/>
              </a:ext>
            </a:extLst>
          </p:cNvPr>
          <p:cNvSpPr>
            <a:spLocks noGrp="1"/>
          </p:cNvSpPr>
          <p:nvPr/>
        </p:nvSpPr>
        <p:spPr>
          <a:xfrm>
            <a:off x="9715500" y="4933950"/>
            <a:ext cx="7620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5"/>
          <a:stretch/>
        </p:blipFill>
        <p:spPr>
          <a:xfrm rot="879000">
            <a:off x="14963775" y="1371600"/>
            <a:ext cx="2276475" cy="2276475"/>
          </a:xfrm>
          <a:prstGeom prst="rect">
            <a:avLst/>
          </a:prstGeom>
        </p:spPr>
      </p:pic>
      <p:pic>
        <p:nvPicPr>
          <p:cNvPr id="33" name="Рисунок 3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095875" y="6562725"/>
            <a:ext cx="4467225" cy="3724275"/>
          </a:xfrm>
          <a:prstGeom prst="rect">
            <a:avLst/>
          </a:prstGeom>
        </p:spPr>
      </p:pic>
      <p:pic>
        <p:nvPicPr>
          <p:cNvPr id="34" name="Рисунок 3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82379" y="9186863"/>
            <a:ext cx="2083242" cy="623888"/>
          </a:xfrm>
          <a:prstGeom prst="rect">
            <a:avLst/>
          </a:prstGeom>
        </p:spPr>
      </p:pic>
      <p:sp>
        <p:nvSpPr>
          <p:cNvPr id="15" name="Номер страницы">
            <a:extLst>
              <a:ext uri="{FF2B5EF4-FFF2-40B4-BE49-F238E27FC236}">
                <a16:creationId xmlns:a16="http://schemas.microsoft.com/office/drawing/2014/main" id="{8CB3DCAF-5969-49CE-B198-E4C5CEA31C56}"/>
              </a:ext>
            </a:extLst>
          </p:cNvPr>
          <p:cNvSpPr>
            <a:spLocks noGrp="1"/>
          </p:cNvSpPr>
          <p:nvPr/>
        </p:nvSpPr>
        <p:spPr>
          <a:xfrm>
            <a:off x="16859250" y="94678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 b="0"/>
              <a:t>35</a:t>
            </a:r>
          </a:p>
        </p:txBody>
      </p:sp>
      <p:pic>
        <p:nvPicPr>
          <p:cNvPr id="35" name="Picture 34" descr="attrib_07_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7754" y="2514600"/>
            <a:ext cx="13732490" cy="6537960"/>
          </a:xfrm>
          <a:prstGeom prst="rect">
            <a:avLst/>
          </a:prstGeom>
        </p:spPr>
      </p:pic>
      <p:pic>
        <p:nvPicPr>
          <p:cNvPr id="36" name="Picture 35" descr="models_gri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3292" y="2514600"/>
            <a:ext cx="8281416" cy="653796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Текстовый блок">
            <a:extLst>
              <a:ext uri="{FF2B5EF4-FFF2-40B4-BE49-F238E27FC236}">
                <a16:creationId xmlns:a16="http://schemas.microsoft.com/office/drawing/2014/main" id="{83BF2DA4-8395-4896-98A1-EE8ADF637024}"/>
              </a:ext>
            </a:extLst>
          </p:cNvPr>
          <p:cNvSpPr>
            <a:spLocks noGrp="1"/>
          </p:cNvSpPr>
          <p:nvPr/>
        </p:nvSpPr>
        <p:spPr>
          <a:xfrm>
            <a:off x="476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Список">
            <a:extLst>
              <a:ext uri="{FF2B5EF4-FFF2-40B4-BE49-F238E27FC236}">
                <a16:creationId xmlns:a16="http://schemas.microsoft.com/office/drawing/2014/main" id="{EE991465-5A34-4773-A228-4F61ECBBE8E6}"/>
              </a:ext>
            </a:extLst>
          </p:cNvPr>
          <p:cNvSpPr>
            <a:spLocks noGrp="1"/>
          </p:cNvSpPr>
          <p:nvPr/>
        </p:nvSpPr>
        <p:spPr>
          <a:xfrm>
            <a:off x="9239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Заголовок">
            <a:extLst>
              <a:ext uri="{FF2B5EF4-FFF2-40B4-BE49-F238E27FC236}">
                <a16:creationId xmlns:a16="http://schemas.microsoft.com/office/drawing/2014/main" id="{70B4469F-6CF4-4B36-8D14-80B170FE0D58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100" b="0">
                <a:solidFill>
                  <a:srgbClr val="3A3A3A"/>
                </a:solidFill>
                <a:latin typeface="X5 Sans Medium"/>
              </a:rPr>
              <a:t>Атрибуция глазами диджитал-специалиста</a:t>
            </a:r>
          </a:p>
        </p:txBody>
      </p:sp>
      <p:sp>
        <p:nvSpPr>
          <p:cNvPr id="6" name="Подзаголовок">
            <a:extLst>
              <a:ext uri="{FF2B5EF4-FFF2-40B4-BE49-F238E27FC236}">
                <a16:creationId xmlns:a16="http://schemas.microsoft.com/office/drawing/2014/main" id="{EADA99A8-63FD-4201-8FB7-7752A0FD2CE4}"/>
              </a:ext>
            </a:extLst>
          </p:cNvPr>
          <p:cNvSpPr>
            <a:spLocks noGrp="1"/>
          </p:cNvSpPr>
          <p:nvPr/>
        </p:nvSpPr>
        <p:spPr>
          <a:xfrm>
            <a:off x="476250" y="1485900"/>
            <a:ext cx="857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7" name="Текстовый блок — заголовок">
            <a:extLst>
              <a:ext uri="{FF2B5EF4-FFF2-40B4-BE49-F238E27FC236}">
                <a16:creationId xmlns:a16="http://schemas.microsoft.com/office/drawing/2014/main" id="{60D8FFDF-B59C-4B0A-8CBE-3EF79B76F9B8}"/>
              </a:ext>
            </a:extLst>
          </p:cNvPr>
          <p:cNvSpPr>
            <a:spLocks noGrp="1"/>
          </p:cNvSpPr>
          <p:nvPr/>
        </p:nvSpPr>
        <p:spPr>
          <a:xfrm>
            <a:off x="800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0">
                <a:solidFill>
                  <a:srgbClr val="3A3A3A"/>
                </a:solidFill>
                <a:latin typeface="X5 Sans Medium"/>
              </a:rPr>
              <a:t>Диджитал-специалист</a:t>
            </a:r>
          </a:p>
        </p:txBody>
      </p:sp>
      <p:sp>
        <p:nvSpPr>
          <p:cNvPr id="8" name="Текстовый блок — текст">
            <a:extLst>
              <a:ext uri="{FF2B5EF4-FFF2-40B4-BE49-F238E27FC236}">
                <a16:creationId xmlns:a16="http://schemas.microsoft.com/office/drawing/2014/main" id="{AC333327-0196-4226-8AE6-135E26DFFEF0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79248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9" name="Список — заголовок">
            <a:extLst>
              <a:ext uri="{FF2B5EF4-FFF2-40B4-BE49-F238E27FC236}">
                <a16:creationId xmlns:a16="http://schemas.microsoft.com/office/drawing/2014/main" id="{3C6A7525-86DB-4554-B760-371C8510005B}"/>
              </a:ext>
            </a:extLst>
          </p:cNvPr>
          <p:cNvSpPr>
            <a:spLocks noGrp="1"/>
          </p:cNvSpPr>
          <p:nvPr/>
        </p:nvSpPr>
        <p:spPr>
          <a:xfrm>
            <a:off x="9563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0" name="Список — вводная">
            <a:extLst>
              <a:ext uri="{FF2B5EF4-FFF2-40B4-BE49-F238E27FC236}">
                <a16:creationId xmlns:a16="http://schemas.microsoft.com/office/drawing/2014/main" id="{EDD98C9F-4A8D-400A-82D5-F1B2EB5BE324}"/>
              </a:ext>
            </a:extLst>
          </p:cNvPr>
          <p:cNvSpPr>
            <a:spLocks noGrp="1"/>
          </p:cNvSpPr>
          <p:nvPr/>
        </p:nvSpPr>
        <p:spPr>
          <a:xfrm>
            <a:off x="9563100" y="3848100"/>
            <a:ext cx="7924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1" name="Список — пункты">
            <a:extLst>
              <a:ext uri="{FF2B5EF4-FFF2-40B4-BE49-F238E27FC236}">
                <a16:creationId xmlns:a16="http://schemas.microsoft.com/office/drawing/2014/main" id="{F442EF30-93C7-4546-9525-C1AA3D745C53}"/>
              </a:ext>
            </a:extLst>
          </p:cNvPr>
          <p:cNvSpPr>
            <a:spLocks noGrp="1"/>
          </p:cNvSpPr>
          <p:nvPr/>
        </p:nvSpPr>
        <p:spPr>
          <a:xfrm>
            <a:off x="9715500" y="4206240"/>
            <a:ext cx="7620000" cy="5120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0">
                <a:solidFill>
                  <a:srgbClr val="3A3A3A"/>
                </a:solidFill>
                <a:latin typeface="X5 Sans"/>
              </a:rPr>
              <a:t>Результат: продажи</a:t>
            </a:r>
          </a:p>
          <a:p>
            <a:r>
              <a:rPr sz="2200" b="0">
                <a:solidFill>
                  <a:srgbClr val="3A3A3A"/>
                </a:solidFill>
                <a:latin typeface="X5 Sans"/>
              </a:rPr>
              <a:t>Усилия: онлайн- и офлайн-кампании, сайты</a:t>
            </a:r>
          </a:p>
          <a:p>
            <a:r>
              <a:rPr sz="2200" b="0">
                <a:solidFill>
                  <a:srgbClr val="3A3A3A"/>
                </a:solidFill>
                <a:latin typeface="X5 Sans"/>
              </a:rPr>
              <a:t>Реклама в агрегаторах, CRM и т.д.</a:t>
            </a:r>
          </a:p>
          <a:p>
            <a:r>
              <a:rPr sz="2200" b="0">
                <a:solidFill>
                  <a:srgbClr val="3A3A3A"/>
                </a:solidFill>
                <a:latin typeface="X5 Sans"/>
              </a:rPr>
              <a:t>Смотрит на весь путь, а не на канал</a:t>
            </a: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4"/>
          <a:stretch/>
        </p:blipFill>
        <p:spPr>
          <a:xfrm rot="879000">
            <a:off x="14963775" y="1371600"/>
            <a:ext cx="2276475" cy="2276475"/>
          </a:xfrm>
          <a:prstGeom prst="rect">
            <a:avLst/>
          </a:prstGeom>
        </p:spPr>
      </p:pic>
      <p:pic>
        <p:nvPicPr>
          <p:cNvPr id="33" name="Рисунок 3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095875" y="6562725"/>
            <a:ext cx="4467225" cy="3724275"/>
          </a:xfrm>
          <a:prstGeom prst="rect">
            <a:avLst/>
          </a:prstGeom>
        </p:spPr>
      </p:pic>
      <p:pic>
        <p:nvPicPr>
          <p:cNvPr id="34" name="Рисунок 33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82379" y="9186863"/>
            <a:ext cx="2083242" cy="623888"/>
          </a:xfrm>
          <a:prstGeom prst="rect">
            <a:avLst/>
          </a:prstGeom>
        </p:spPr>
      </p:pic>
      <p:sp>
        <p:nvSpPr>
          <p:cNvPr id="15" name="Номер страницы">
            <a:extLst>
              <a:ext uri="{FF2B5EF4-FFF2-40B4-BE49-F238E27FC236}">
                <a16:creationId xmlns:a16="http://schemas.microsoft.com/office/drawing/2014/main" id="{8CB3DCAF-5969-49CE-B198-E4C5CEA31C56}"/>
              </a:ext>
            </a:extLst>
          </p:cNvPr>
          <p:cNvSpPr>
            <a:spLocks noGrp="1"/>
          </p:cNvSpPr>
          <p:nvPr/>
        </p:nvSpPr>
        <p:spPr>
          <a:xfrm>
            <a:off x="16859250" y="94678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 b="0"/>
              <a:t>36</a:t>
            </a:r>
          </a:p>
        </p:txBody>
      </p:sp>
      <p:pic>
        <p:nvPicPr>
          <p:cNvPr id="2" name="Рисунок 1" descr="Стыдно ли быть эсэмэмщиком?. Читайте на Cossa.ru">
            <a:extLst>
              <a:ext uri="{FF2B5EF4-FFF2-40B4-BE49-F238E27FC236}">
                <a16:creationId xmlns:a16="http://schemas.microsoft.com/office/drawing/2014/main" id="{D74CBFDB-5F91-5418-9C9D-BCFD5A6E2F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522" y="3822699"/>
            <a:ext cx="5672351" cy="395922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Текстовый блок">
            <a:extLst>
              <a:ext uri="{FF2B5EF4-FFF2-40B4-BE49-F238E27FC236}">
                <a16:creationId xmlns:a16="http://schemas.microsoft.com/office/drawing/2014/main" id="{83BF2DA4-8395-4896-98A1-EE8ADF637024}"/>
              </a:ext>
            </a:extLst>
          </p:cNvPr>
          <p:cNvSpPr>
            <a:spLocks noGrp="1"/>
          </p:cNvSpPr>
          <p:nvPr/>
        </p:nvSpPr>
        <p:spPr>
          <a:xfrm>
            <a:off x="476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Список">
            <a:extLst>
              <a:ext uri="{FF2B5EF4-FFF2-40B4-BE49-F238E27FC236}">
                <a16:creationId xmlns:a16="http://schemas.microsoft.com/office/drawing/2014/main" id="{EE991465-5A34-4773-A228-4F61ECBBE8E6}"/>
              </a:ext>
            </a:extLst>
          </p:cNvPr>
          <p:cNvSpPr>
            <a:spLocks noGrp="1"/>
          </p:cNvSpPr>
          <p:nvPr/>
        </p:nvSpPr>
        <p:spPr>
          <a:xfrm>
            <a:off x="9239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Заголовок">
            <a:extLst>
              <a:ext uri="{FF2B5EF4-FFF2-40B4-BE49-F238E27FC236}">
                <a16:creationId xmlns:a16="http://schemas.microsoft.com/office/drawing/2014/main" id="{70B4469F-6CF4-4B36-8D14-80B170FE0D58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100" b="0">
                <a:solidFill>
                  <a:srgbClr val="3A3A3A"/>
                </a:solidFill>
                <a:latin typeface="X5 Sans Medium"/>
              </a:rPr>
              <a:t>Атрибуция глазами e-commerce руководителя</a:t>
            </a:r>
          </a:p>
        </p:txBody>
      </p:sp>
      <p:sp>
        <p:nvSpPr>
          <p:cNvPr id="6" name="Подзаголовок">
            <a:extLst>
              <a:ext uri="{FF2B5EF4-FFF2-40B4-BE49-F238E27FC236}">
                <a16:creationId xmlns:a16="http://schemas.microsoft.com/office/drawing/2014/main" id="{EADA99A8-63FD-4201-8FB7-7752A0FD2CE4}"/>
              </a:ext>
            </a:extLst>
          </p:cNvPr>
          <p:cNvSpPr>
            <a:spLocks noGrp="1"/>
          </p:cNvSpPr>
          <p:nvPr/>
        </p:nvSpPr>
        <p:spPr>
          <a:xfrm>
            <a:off x="476250" y="1485900"/>
            <a:ext cx="857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7" name="Текстовый блок — заголовок">
            <a:extLst>
              <a:ext uri="{FF2B5EF4-FFF2-40B4-BE49-F238E27FC236}">
                <a16:creationId xmlns:a16="http://schemas.microsoft.com/office/drawing/2014/main" id="{60D8FFDF-B59C-4B0A-8CBE-3EF79B76F9B8}"/>
              </a:ext>
            </a:extLst>
          </p:cNvPr>
          <p:cNvSpPr>
            <a:spLocks noGrp="1"/>
          </p:cNvSpPr>
          <p:nvPr/>
        </p:nvSpPr>
        <p:spPr>
          <a:xfrm>
            <a:off x="800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0">
                <a:solidFill>
                  <a:srgbClr val="3A3A3A"/>
                </a:solidFill>
                <a:latin typeface="X5 Sans Medium"/>
              </a:rPr>
              <a:t>E-commerce руководитель</a:t>
            </a:r>
          </a:p>
        </p:txBody>
      </p:sp>
      <p:sp>
        <p:nvSpPr>
          <p:cNvPr id="8" name="Текстовый блок — текст">
            <a:extLst>
              <a:ext uri="{FF2B5EF4-FFF2-40B4-BE49-F238E27FC236}">
                <a16:creationId xmlns:a16="http://schemas.microsoft.com/office/drawing/2014/main" id="{AC333327-0196-4226-8AE6-135E26DFFEF0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79248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9" name="Список — заголовок">
            <a:extLst>
              <a:ext uri="{FF2B5EF4-FFF2-40B4-BE49-F238E27FC236}">
                <a16:creationId xmlns:a16="http://schemas.microsoft.com/office/drawing/2014/main" id="{3C6A7525-86DB-4554-B760-371C8510005B}"/>
              </a:ext>
            </a:extLst>
          </p:cNvPr>
          <p:cNvSpPr>
            <a:spLocks noGrp="1"/>
          </p:cNvSpPr>
          <p:nvPr/>
        </p:nvSpPr>
        <p:spPr>
          <a:xfrm>
            <a:off x="9563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0" name="Список — вводная">
            <a:extLst>
              <a:ext uri="{FF2B5EF4-FFF2-40B4-BE49-F238E27FC236}">
                <a16:creationId xmlns:a16="http://schemas.microsoft.com/office/drawing/2014/main" id="{EDD98C9F-4A8D-400A-82D5-F1B2EB5BE324}"/>
              </a:ext>
            </a:extLst>
          </p:cNvPr>
          <p:cNvSpPr>
            <a:spLocks noGrp="1"/>
          </p:cNvSpPr>
          <p:nvPr/>
        </p:nvSpPr>
        <p:spPr>
          <a:xfrm>
            <a:off x="9563100" y="3848100"/>
            <a:ext cx="7924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1" name="Список — пункты">
            <a:extLst>
              <a:ext uri="{FF2B5EF4-FFF2-40B4-BE49-F238E27FC236}">
                <a16:creationId xmlns:a16="http://schemas.microsoft.com/office/drawing/2014/main" id="{F442EF30-93C7-4546-9525-C1AA3D745C53}"/>
              </a:ext>
            </a:extLst>
          </p:cNvPr>
          <p:cNvSpPr>
            <a:spLocks noGrp="1"/>
          </p:cNvSpPr>
          <p:nvPr/>
        </p:nvSpPr>
        <p:spPr>
          <a:xfrm>
            <a:off x="9715500" y="4206240"/>
            <a:ext cx="7620000" cy="5120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0">
                <a:solidFill>
                  <a:srgbClr val="3A3A3A"/>
                </a:solidFill>
                <a:latin typeface="X5 Sans"/>
              </a:rPr>
              <a:t>Усилия: реклама, торговые предложения, витрина</a:t>
            </a:r>
          </a:p>
          <a:p>
            <a:r>
              <a:rPr sz="2200" b="0">
                <a:solidFill>
                  <a:srgbClr val="3A3A3A"/>
                </a:solidFill>
                <a:latin typeface="X5 Sans"/>
              </a:rPr>
              <a:t>Результат: прибыль, клиенты, доля рынка</a:t>
            </a:r>
          </a:p>
          <a:p>
            <a:r>
              <a:rPr sz="2200" b="0">
                <a:solidFill>
                  <a:srgbClr val="3A3A3A"/>
                </a:solidFill>
                <a:latin typeface="X5 Sans"/>
              </a:rPr>
              <a:t>«На какой канал добавить бюджет?»</a:t>
            </a:r>
          </a:p>
          <a:p>
            <a:r>
              <a:rPr sz="2200" b="0">
                <a:solidFill>
                  <a:srgbClr val="3A3A3A"/>
                </a:solidFill>
                <a:latin typeface="X5 Sans"/>
              </a:rPr>
              <a:t>«Окупаются ли инвестиции в привлечение?»</a:t>
            </a: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4"/>
          <a:stretch/>
        </p:blipFill>
        <p:spPr>
          <a:xfrm rot="879000">
            <a:off x="14963775" y="1371600"/>
            <a:ext cx="2276475" cy="2276475"/>
          </a:xfrm>
          <a:prstGeom prst="rect">
            <a:avLst/>
          </a:prstGeom>
        </p:spPr>
      </p:pic>
      <p:pic>
        <p:nvPicPr>
          <p:cNvPr id="33" name="Рисунок 3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095875" y="6562725"/>
            <a:ext cx="4467225" cy="3724275"/>
          </a:xfrm>
          <a:prstGeom prst="rect">
            <a:avLst/>
          </a:prstGeom>
        </p:spPr>
      </p:pic>
      <p:pic>
        <p:nvPicPr>
          <p:cNvPr id="34" name="Рисунок 33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82379" y="9186863"/>
            <a:ext cx="2083242" cy="623888"/>
          </a:xfrm>
          <a:prstGeom prst="rect">
            <a:avLst/>
          </a:prstGeom>
        </p:spPr>
      </p:pic>
      <p:sp>
        <p:nvSpPr>
          <p:cNvPr id="15" name="Номер страницы">
            <a:extLst>
              <a:ext uri="{FF2B5EF4-FFF2-40B4-BE49-F238E27FC236}">
                <a16:creationId xmlns:a16="http://schemas.microsoft.com/office/drawing/2014/main" id="{8CB3DCAF-5969-49CE-B198-E4C5CEA31C56}"/>
              </a:ext>
            </a:extLst>
          </p:cNvPr>
          <p:cNvSpPr>
            <a:spLocks noGrp="1"/>
          </p:cNvSpPr>
          <p:nvPr/>
        </p:nvSpPr>
        <p:spPr>
          <a:xfrm>
            <a:off x="16859250" y="94678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 b="0"/>
              <a:t>37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0A9BA7D-571E-9322-7D1D-8740421C1E1B}"/>
              </a:ext>
            </a:extLst>
          </p:cNvPr>
          <p:cNvSpPr/>
          <p:nvPr/>
        </p:nvSpPr>
        <p:spPr>
          <a:xfrm>
            <a:off x="1862051" y="4339244"/>
            <a:ext cx="4355869" cy="30092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Место для вашего фото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Текстовый блок">
            <a:extLst>
              <a:ext uri="{FF2B5EF4-FFF2-40B4-BE49-F238E27FC236}">
                <a16:creationId xmlns:a16="http://schemas.microsoft.com/office/drawing/2014/main" id="{83BF2DA4-8395-4896-98A1-EE8ADF637024}"/>
              </a:ext>
            </a:extLst>
          </p:cNvPr>
          <p:cNvSpPr>
            <a:spLocks noGrp="1"/>
          </p:cNvSpPr>
          <p:nvPr/>
        </p:nvSpPr>
        <p:spPr>
          <a:xfrm>
            <a:off x="476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Список">
            <a:extLst>
              <a:ext uri="{FF2B5EF4-FFF2-40B4-BE49-F238E27FC236}">
                <a16:creationId xmlns:a16="http://schemas.microsoft.com/office/drawing/2014/main" id="{EE991465-5A34-4773-A228-4F61ECBBE8E6}"/>
              </a:ext>
            </a:extLst>
          </p:cNvPr>
          <p:cNvSpPr>
            <a:spLocks noGrp="1"/>
          </p:cNvSpPr>
          <p:nvPr/>
        </p:nvSpPr>
        <p:spPr>
          <a:xfrm>
            <a:off x="9239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Заголовок">
            <a:extLst>
              <a:ext uri="{FF2B5EF4-FFF2-40B4-BE49-F238E27FC236}">
                <a16:creationId xmlns:a16="http://schemas.microsoft.com/office/drawing/2014/main" id="{70B4469F-6CF4-4B36-8D14-80B170FE0D58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700" b="0">
                <a:solidFill>
                  <a:srgbClr val="3A3A3A"/>
                </a:solidFill>
                <a:latin typeface="X5 Sans Medium"/>
              </a:rPr>
              <a:t>Всех помирит — модель атрибуции</a:t>
            </a:r>
          </a:p>
        </p:txBody>
      </p:sp>
      <p:sp>
        <p:nvSpPr>
          <p:cNvPr id="6" name="Подзаголовок">
            <a:extLst>
              <a:ext uri="{FF2B5EF4-FFF2-40B4-BE49-F238E27FC236}">
                <a16:creationId xmlns:a16="http://schemas.microsoft.com/office/drawing/2014/main" id="{EADA99A8-63FD-4201-8FB7-7752A0FD2CE4}"/>
              </a:ext>
            </a:extLst>
          </p:cNvPr>
          <p:cNvSpPr>
            <a:spLocks noGrp="1"/>
          </p:cNvSpPr>
          <p:nvPr/>
        </p:nvSpPr>
        <p:spPr>
          <a:xfrm>
            <a:off x="476250" y="1485900"/>
            <a:ext cx="857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0">
                <a:solidFill>
                  <a:srgbClr val="3A3A3A"/>
                </a:solidFill>
                <a:latin typeface="X5 Sans"/>
              </a:rPr>
              <a:t>Правило, какой переход считать источником визита: ручное или автоматическое (ML)</a:t>
            </a:r>
          </a:p>
        </p:txBody>
      </p:sp>
      <p:sp>
        <p:nvSpPr>
          <p:cNvPr id="7" name="Текстовый блок — заголовок">
            <a:extLst>
              <a:ext uri="{FF2B5EF4-FFF2-40B4-BE49-F238E27FC236}">
                <a16:creationId xmlns:a16="http://schemas.microsoft.com/office/drawing/2014/main" id="{60D8FFDF-B59C-4B0A-8CBE-3EF79B76F9B8}"/>
              </a:ext>
            </a:extLst>
          </p:cNvPr>
          <p:cNvSpPr>
            <a:spLocks noGrp="1"/>
          </p:cNvSpPr>
          <p:nvPr/>
        </p:nvSpPr>
        <p:spPr>
          <a:xfrm>
            <a:off x="800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8" name="Текстовый блок — текст">
            <a:extLst>
              <a:ext uri="{FF2B5EF4-FFF2-40B4-BE49-F238E27FC236}">
                <a16:creationId xmlns:a16="http://schemas.microsoft.com/office/drawing/2014/main" id="{AC333327-0196-4226-8AE6-135E26DFFEF0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79248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9" name="Список — заголовок">
            <a:extLst>
              <a:ext uri="{FF2B5EF4-FFF2-40B4-BE49-F238E27FC236}">
                <a16:creationId xmlns:a16="http://schemas.microsoft.com/office/drawing/2014/main" id="{3C6A7525-86DB-4554-B760-371C8510005B}"/>
              </a:ext>
            </a:extLst>
          </p:cNvPr>
          <p:cNvSpPr>
            <a:spLocks noGrp="1"/>
          </p:cNvSpPr>
          <p:nvPr/>
        </p:nvSpPr>
        <p:spPr>
          <a:xfrm>
            <a:off x="9563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0" name="Список — вводная">
            <a:extLst>
              <a:ext uri="{FF2B5EF4-FFF2-40B4-BE49-F238E27FC236}">
                <a16:creationId xmlns:a16="http://schemas.microsoft.com/office/drawing/2014/main" id="{EDD98C9F-4A8D-400A-82D5-F1B2EB5BE324}"/>
              </a:ext>
            </a:extLst>
          </p:cNvPr>
          <p:cNvSpPr>
            <a:spLocks noGrp="1"/>
          </p:cNvSpPr>
          <p:nvPr/>
        </p:nvSpPr>
        <p:spPr>
          <a:xfrm>
            <a:off x="9563100" y="3848100"/>
            <a:ext cx="7924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1" name="Список — пункты">
            <a:extLst>
              <a:ext uri="{FF2B5EF4-FFF2-40B4-BE49-F238E27FC236}">
                <a16:creationId xmlns:a16="http://schemas.microsoft.com/office/drawing/2014/main" id="{F442EF30-93C7-4546-9525-C1AA3D745C53}"/>
              </a:ext>
            </a:extLst>
          </p:cNvPr>
          <p:cNvSpPr>
            <a:spLocks noGrp="1"/>
          </p:cNvSpPr>
          <p:nvPr/>
        </p:nvSpPr>
        <p:spPr>
          <a:xfrm>
            <a:off x="9715500" y="4933950"/>
            <a:ext cx="7620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5"/>
          <a:stretch/>
        </p:blipFill>
        <p:spPr>
          <a:xfrm rot="879000">
            <a:off x="14963775" y="1371600"/>
            <a:ext cx="2276475" cy="2276475"/>
          </a:xfrm>
          <a:prstGeom prst="rect">
            <a:avLst/>
          </a:prstGeom>
        </p:spPr>
      </p:pic>
      <p:pic>
        <p:nvPicPr>
          <p:cNvPr id="33" name="Рисунок 3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095875" y="6562725"/>
            <a:ext cx="4467225" cy="3724275"/>
          </a:xfrm>
          <a:prstGeom prst="rect">
            <a:avLst/>
          </a:prstGeom>
        </p:spPr>
      </p:pic>
      <p:pic>
        <p:nvPicPr>
          <p:cNvPr id="34" name="Рисунок 3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82379" y="9186863"/>
            <a:ext cx="2083242" cy="623888"/>
          </a:xfrm>
          <a:prstGeom prst="rect">
            <a:avLst/>
          </a:prstGeom>
        </p:spPr>
      </p:pic>
      <p:sp>
        <p:nvSpPr>
          <p:cNvPr id="15" name="Номер страницы">
            <a:extLst>
              <a:ext uri="{FF2B5EF4-FFF2-40B4-BE49-F238E27FC236}">
                <a16:creationId xmlns:a16="http://schemas.microsoft.com/office/drawing/2014/main" id="{8CB3DCAF-5969-49CE-B198-E4C5CEA31C56}"/>
              </a:ext>
            </a:extLst>
          </p:cNvPr>
          <p:cNvSpPr>
            <a:spLocks noGrp="1"/>
          </p:cNvSpPr>
          <p:nvPr/>
        </p:nvSpPr>
        <p:spPr>
          <a:xfrm>
            <a:off x="16859250" y="94678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 b="0"/>
              <a:t>38</a:t>
            </a:r>
          </a:p>
        </p:txBody>
      </p:sp>
      <p:pic>
        <p:nvPicPr>
          <p:cNvPr id="35" name="Picture 34" descr="attrib_07_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7754" y="2514600"/>
            <a:ext cx="13732490" cy="653796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5419" y="2514600"/>
            <a:ext cx="6197160" cy="653796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62800" y="1933575"/>
            <a:ext cx="8715375" cy="8353425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190601" y="504825"/>
            <a:ext cx="2876741" cy="2876741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5395519" y="6967442"/>
            <a:ext cx="2688194" cy="3191637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4892528" y="1556671"/>
            <a:ext cx="2344484" cy="2344484"/>
          </a:xfrm>
          <a:prstGeom prst="rect">
            <a:avLst/>
          </a:prstGeom>
        </p:spPr>
      </p:pic>
      <p:sp>
        <p:nvSpPr>
          <p:cNvPr id="6" name="Заголовок">
            <a:extLst>
              <a:ext uri="{FF2B5EF4-FFF2-40B4-BE49-F238E27FC236}">
                <a16:creationId xmlns:a16="http://schemas.microsoft.com/office/drawing/2014/main" id="{498BBE52-B56A-4F73-8565-575347066D87}"/>
              </a:ext>
            </a:extLst>
          </p:cNvPr>
          <p:cNvSpPr>
            <a:spLocks noGrp="1"/>
          </p:cNvSpPr>
          <p:nvPr/>
        </p:nvSpPr>
        <p:spPr>
          <a:xfrm>
            <a:off x="476250" y="2895600"/>
            <a:ext cx="7429500" cy="2171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300" b="0">
                <a:solidFill>
                  <a:srgbClr val="3A3A3A"/>
                </a:solidFill>
                <a:latin typeface="X5 Sans Medium"/>
              </a:rPr>
              <a:t>Пять моделей = пять правил дележа ценности</a:t>
            </a:r>
          </a:p>
        </p:txBody>
      </p:sp>
      <p:sp>
        <p:nvSpPr>
          <p:cNvPr id="7" name="Пояснение">
            <a:extLst>
              <a:ext uri="{FF2B5EF4-FFF2-40B4-BE49-F238E27FC236}">
                <a16:creationId xmlns:a16="http://schemas.microsoft.com/office/drawing/2014/main" id="{7FDFA29B-3B26-457E-8F99-F72D6D317D5E}"/>
              </a:ext>
            </a:extLst>
          </p:cNvPr>
          <p:cNvSpPr>
            <a:spLocks noGrp="1"/>
          </p:cNvSpPr>
          <p:nvPr/>
        </p:nvSpPr>
        <p:spPr>
          <a:xfrm>
            <a:off x="476250" y="5307626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77115" y="476250"/>
            <a:ext cx="1034305" cy="929926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027176" y="907322"/>
            <a:ext cx="453200" cy="500408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499806" y="907592"/>
            <a:ext cx="376904" cy="508821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2076846" y="886682"/>
            <a:ext cx="2050036" cy="675418"/>
          </a:xfrm>
          <a:prstGeom prst="rect">
            <a:avLst/>
          </a:prstGeom>
        </p:spPr>
      </p:pic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548640" y="5257800"/>
          <a:ext cx="1719072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6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X5 Sans"/>
                        </a:rPr>
                        <a:t>Модель</a:t>
                      </a:r>
                    </a:p>
                  </a:txBody>
                  <a:tcPr marL="109728" marR="73152" marT="27432" marB="27432"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X5 Sans"/>
                        </a:rPr>
                        <a:t>Правило</a:t>
                      </a:r>
                    </a:p>
                  </a:txBody>
                  <a:tcPr marL="109728" marR="73152" marT="27432" marB="27432"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X5 Sans"/>
                        </a:rPr>
                        <a:t>Смещение</a:t>
                      </a:r>
                    </a:p>
                  </a:txBody>
                  <a:tcPr marL="109728" marR="73152" marT="27432" marB="27432" anchor="ctr"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E2841"/>
                          </a:solidFill>
                          <a:latin typeface="X5 Sans"/>
                        </a:rPr>
                        <a:t>First-click</a:t>
                      </a:r>
                    </a:p>
                  </a:txBody>
                  <a:tcPr marL="109728" marR="73152" marT="27432" marB="27432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E4055"/>
                          </a:solidFill>
                          <a:latin typeface="X5 Sans"/>
                        </a:rPr>
                        <a:t>всё первому</a:t>
                      </a:r>
                    </a:p>
                  </a:txBody>
                  <a:tcPr marL="109728" marR="73152" marT="27432" marB="27432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E4055"/>
                          </a:solidFill>
                          <a:latin typeface="X5 Sans"/>
                        </a:rPr>
                        <a:t>переоценивает верх воронки</a:t>
                      </a:r>
                    </a:p>
                  </a:txBody>
                  <a:tcPr marL="109728" marR="73152" marT="27432" marB="27432" anchor="ctr"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E2841"/>
                          </a:solidFill>
                          <a:latin typeface="X5 Sans"/>
                        </a:rPr>
                        <a:t>Last-click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E4055"/>
                          </a:solidFill>
                          <a:latin typeface="X5 Sans"/>
                        </a:rPr>
                        <a:t>всё последнему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E4055"/>
                          </a:solidFill>
                          <a:latin typeface="X5 Sans"/>
                        </a:rPr>
                        <a:t>переоценивает бренд, direct, ретаргет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E2841"/>
                          </a:solidFill>
                          <a:latin typeface="X5 Sans"/>
                        </a:rPr>
                        <a:t>Linear</a:t>
                      </a:r>
                    </a:p>
                  </a:txBody>
                  <a:tcPr marL="109728" marR="73152" marT="27432" marB="27432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E4055"/>
                          </a:solidFill>
                          <a:latin typeface="X5 Sans"/>
                        </a:rPr>
                        <a:t>поровну</a:t>
                      </a:r>
                    </a:p>
                  </a:txBody>
                  <a:tcPr marL="109728" marR="73152" marT="27432" marB="27432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E4055"/>
                          </a:solidFill>
                          <a:latin typeface="X5 Sans"/>
                        </a:rPr>
                        <a:t>«демократия» без различий</a:t>
                      </a:r>
                    </a:p>
                  </a:txBody>
                  <a:tcPr marL="109728" marR="73152" marT="27432" marB="27432" anchor="ctr"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E2841"/>
                          </a:solidFill>
                          <a:latin typeface="X5 Sans"/>
                        </a:rPr>
                        <a:t>Time-decay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E4055"/>
                          </a:solidFill>
                          <a:latin typeface="X5 Sans"/>
                        </a:rPr>
                        <a:t>экспоненциально к последнему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E4055"/>
                          </a:solidFill>
                          <a:latin typeface="X5 Sans"/>
                        </a:rPr>
                        <a:t>сдвиг к финалу, период с потолка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E2841"/>
                          </a:solidFill>
                          <a:latin typeface="X5 Sans"/>
                        </a:rPr>
                        <a:t>U-shaped</a:t>
                      </a:r>
                    </a:p>
                  </a:txBody>
                  <a:tcPr marL="109728" marR="73152" marT="27432" marB="27432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E4055"/>
                          </a:solidFill>
                          <a:latin typeface="X5 Sans"/>
                        </a:rPr>
                        <a:t>40% + 40% + 20%</a:t>
                      </a:r>
                    </a:p>
                  </a:txBody>
                  <a:tcPr marL="109728" marR="73152" marT="27432" marB="27432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E4055"/>
                          </a:solidFill>
                          <a:latin typeface="X5 Sans"/>
                        </a:rPr>
                        <a:t>середина всегда «виновата» меньше</a:t>
                      </a:r>
                    </a:p>
                  </a:txBody>
                  <a:tcPr marL="109728" marR="73152" marT="27432" marB="27432" anchor="ctr"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Текстовый блок">
            <a:extLst>
              <a:ext uri="{FF2B5EF4-FFF2-40B4-BE49-F238E27FC236}">
                <a16:creationId xmlns:a16="http://schemas.microsoft.com/office/drawing/2014/main" id="{83BF2DA4-8395-4896-98A1-EE8ADF637024}"/>
              </a:ext>
            </a:extLst>
          </p:cNvPr>
          <p:cNvSpPr>
            <a:spLocks noGrp="1"/>
          </p:cNvSpPr>
          <p:nvPr/>
        </p:nvSpPr>
        <p:spPr>
          <a:xfrm>
            <a:off x="476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Список">
            <a:extLst>
              <a:ext uri="{FF2B5EF4-FFF2-40B4-BE49-F238E27FC236}">
                <a16:creationId xmlns:a16="http://schemas.microsoft.com/office/drawing/2014/main" id="{EE991465-5A34-4773-A228-4F61ECBBE8E6}"/>
              </a:ext>
            </a:extLst>
          </p:cNvPr>
          <p:cNvSpPr>
            <a:spLocks noGrp="1"/>
          </p:cNvSpPr>
          <p:nvPr/>
        </p:nvSpPr>
        <p:spPr>
          <a:xfrm>
            <a:off x="9239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Заголовок">
            <a:extLst>
              <a:ext uri="{FF2B5EF4-FFF2-40B4-BE49-F238E27FC236}">
                <a16:creationId xmlns:a16="http://schemas.microsoft.com/office/drawing/2014/main" id="{70B4469F-6CF4-4B36-8D14-80B170FE0D58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700" b="0">
                <a:solidFill>
                  <a:srgbClr val="3A3A3A"/>
                </a:solidFill>
                <a:latin typeface="X5 Sans Medium"/>
              </a:rPr>
              <a:t>Пять дележей одной конверсии</a:t>
            </a:r>
          </a:p>
        </p:txBody>
      </p:sp>
      <p:sp>
        <p:nvSpPr>
          <p:cNvPr id="6" name="Подзаголовок">
            <a:extLst>
              <a:ext uri="{FF2B5EF4-FFF2-40B4-BE49-F238E27FC236}">
                <a16:creationId xmlns:a16="http://schemas.microsoft.com/office/drawing/2014/main" id="{EADA99A8-63FD-4201-8FB7-7752A0FD2CE4}"/>
              </a:ext>
            </a:extLst>
          </p:cNvPr>
          <p:cNvSpPr>
            <a:spLocks noGrp="1"/>
          </p:cNvSpPr>
          <p:nvPr/>
        </p:nvSpPr>
        <p:spPr>
          <a:xfrm>
            <a:off x="476250" y="1485900"/>
            <a:ext cx="857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0">
                <a:solidFill>
                  <a:srgbClr val="3A3A3A"/>
                </a:solidFill>
                <a:latin typeface="X5 Sans"/>
              </a:rPr>
              <a:t>Цепочка A → B → C ценностью 1: кто открыл, кто вёл, кто закрыл — модель решает, а не данные</a:t>
            </a:r>
          </a:p>
        </p:txBody>
      </p:sp>
      <p:sp>
        <p:nvSpPr>
          <p:cNvPr id="7" name="Текстовый блок — заголовок">
            <a:extLst>
              <a:ext uri="{FF2B5EF4-FFF2-40B4-BE49-F238E27FC236}">
                <a16:creationId xmlns:a16="http://schemas.microsoft.com/office/drawing/2014/main" id="{60D8FFDF-B59C-4B0A-8CBE-3EF79B76F9B8}"/>
              </a:ext>
            </a:extLst>
          </p:cNvPr>
          <p:cNvSpPr>
            <a:spLocks noGrp="1"/>
          </p:cNvSpPr>
          <p:nvPr/>
        </p:nvSpPr>
        <p:spPr>
          <a:xfrm>
            <a:off x="800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8" name="Текстовый блок — текст">
            <a:extLst>
              <a:ext uri="{FF2B5EF4-FFF2-40B4-BE49-F238E27FC236}">
                <a16:creationId xmlns:a16="http://schemas.microsoft.com/office/drawing/2014/main" id="{AC333327-0196-4226-8AE6-135E26DFFEF0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79248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9" name="Список — заголовок">
            <a:extLst>
              <a:ext uri="{FF2B5EF4-FFF2-40B4-BE49-F238E27FC236}">
                <a16:creationId xmlns:a16="http://schemas.microsoft.com/office/drawing/2014/main" id="{3C6A7525-86DB-4554-B760-371C8510005B}"/>
              </a:ext>
            </a:extLst>
          </p:cNvPr>
          <p:cNvSpPr>
            <a:spLocks noGrp="1"/>
          </p:cNvSpPr>
          <p:nvPr/>
        </p:nvSpPr>
        <p:spPr>
          <a:xfrm>
            <a:off x="9563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10" name="Список — вводная">
            <a:extLst>
              <a:ext uri="{FF2B5EF4-FFF2-40B4-BE49-F238E27FC236}">
                <a16:creationId xmlns:a16="http://schemas.microsoft.com/office/drawing/2014/main" id="{EDD98C9F-4A8D-400A-82D5-F1B2EB5BE324}"/>
              </a:ext>
            </a:extLst>
          </p:cNvPr>
          <p:cNvSpPr>
            <a:spLocks noGrp="1"/>
          </p:cNvSpPr>
          <p:nvPr/>
        </p:nvSpPr>
        <p:spPr>
          <a:xfrm>
            <a:off x="9563100" y="3848100"/>
            <a:ext cx="7924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11" name="Список — пункты">
            <a:extLst>
              <a:ext uri="{FF2B5EF4-FFF2-40B4-BE49-F238E27FC236}">
                <a16:creationId xmlns:a16="http://schemas.microsoft.com/office/drawing/2014/main" id="{F442EF30-93C7-4546-9525-C1AA3D745C53}"/>
              </a:ext>
            </a:extLst>
          </p:cNvPr>
          <p:cNvSpPr>
            <a:spLocks noGrp="1"/>
          </p:cNvSpPr>
          <p:nvPr/>
        </p:nvSpPr>
        <p:spPr>
          <a:xfrm>
            <a:off x="9715500" y="4933950"/>
            <a:ext cx="7620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5"/>
          <a:stretch/>
        </p:blipFill>
        <p:spPr>
          <a:xfrm rot="879000">
            <a:off x="14963775" y="1371600"/>
            <a:ext cx="2276475" cy="2276475"/>
          </a:xfrm>
          <a:prstGeom prst="rect">
            <a:avLst/>
          </a:prstGeom>
        </p:spPr>
      </p:pic>
      <p:pic>
        <p:nvPicPr>
          <p:cNvPr id="33" name="Рисунок 3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095875" y="6562725"/>
            <a:ext cx="4467225" cy="3724275"/>
          </a:xfrm>
          <a:prstGeom prst="rect">
            <a:avLst/>
          </a:prstGeom>
        </p:spPr>
      </p:pic>
      <p:pic>
        <p:nvPicPr>
          <p:cNvPr id="34" name="Рисунок 33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82379" y="9186863"/>
            <a:ext cx="2083242" cy="623888"/>
          </a:xfrm>
          <a:prstGeom prst="rect">
            <a:avLst/>
          </a:prstGeom>
        </p:spPr>
      </p:pic>
      <p:sp>
        <p:nvSpPr>
          <p:cNvPr id="15" name="Номер страницы">
            <a:extLst>
              <a:ext uri="{FF2B5EF4-FFF2-40B4-BE49-F238E27FC236}">
                <a16:creationId xmlns:a16="http://schemas.microsoft.com/office/drawing/2014/main" id="{8CB3DCAF-5969-49CE-B198-E4C5CEA31C56}"/>
              </a:ext>
            </a:extLst>
          </p:cNvPr>
          <p:cNvSpPr>
            <a:spLocks noGrp="1"/>
          </p:cNvSpPr>
          <p:nvPr/>
        </p:nvSpPr>
        <p:spPr>
          <a:xfrm>
            <a:off x="16859250" y="94678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 b="0"/>
              <a:t>40</a:t>
            </a:r>
          </a:p>
        </p:txBody>
      </p:sp>
      <p:pic>
        <p:nvPicPr>
          <p:cNvPr id="35" name="Picture 34" descr="attrib_01_chain_model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98547" y="2514600"/>
            <a:ext cx="14890905" cy="653796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Текстовый блок">
            <a:extLst>
              <a:ext uri="{FF2B5EF4-FFF2-40B4-BE49-F238E27FC236}">
                <a16:creationId xmlns:a16="http://schemas.microsoft.com/office/drawing/2014/main" id="{83BF2DA4-8395-4896-98A1-EE8ADF637024}"/>
              </a:ext>
            </a:extLst>
          </p:cNvPr>
          <p:cNvSpPr>
            <a:spLocks noGrp="1"/>
          </p:cNvSpPr>
          <p:nvPr/>
        </p:nvSpPr>
        <p:spPr>
          <a:xfrm>
            <a:off x="476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Список">
            <a:extLst>
              <a:ext uri="{FF2B5EF4-FFF2-40B4-BE49-F238E27FC236}">
                <a16:creationId xmlns:a16="http://schemas.microsoft.com/office/drawing/2014/main" id="{EE991465-5A34-4773-A228-4F61ECBBE8E6}"/>
              </a:ext>
            </a:extLst>
          </p:cNvPr>
          <p:cNvSpPr>
            <a:spLocks noGrp="1"/>
          </p:cNvSpPr>
          <p:nvPr/>
        </p:nvSpPr>
        <p:spPr>
          <a:xfrm>
            <a:off x="9239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Заголовок">
            <a:extLst>
              <a:ext uri="{FF2B5EF4-FFF2-40B4-BE49-F238E27FC236}">
                <a16:creationId xmlns:a16="http://schemas.microsoft.com/office/drawing/2014/main" id="{70B4469F-6CF4-4B36-8D14-80B170FE0D58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700" b="0">
                <a:solidFill>
                  <a:srgbClr val="3A3A3A"/>
                </a:solidFill>
                <a:latin typeface="X5 Sans Medium"/>
              </a:rPr>
              <a:t>Вывод о канале зависит от модели</a:t>
            </a:r>
          </a:p>
        </p:txBody>
      </p:sp>
      <p:sp>
        <p:nvSpPr>
          <p:cNvPr id="6" name="Подзаголовок">
            <a:extLst>
              <a:ext uri="{FF2B5EF4-FFF2-40B4-BE49-F238E27FC236}">
                <a16:creationId xmlns:a16="http://schemas.microsoft.com/office/drawing/2014/main" id="{EADA99A8-63FD-4201-8FB7-7752A0FD2CE4}"/>
              </a:ext>
            </a:extLst>
          </p:cNvPr>
          <p:cNvSpPr>
            <a:spLocks noGrp="1"/>
          </p:cNvSpPr>
          <p:nvPr/>
        </p:nvSpPr>
        <p:spPr>
          <a:xfrm>
            <a:off x="476250" y="1485900"/>
            <a:ext cx="857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0">
                <a:solidFill>
                  <a:srgbClr val="3A3A3A"/>
                </a:solidFill>
                <a:latin typeface="X5 Sans"/>
              </a:rPr>
              <a:t>Бренд под last-click — «герой», под first — почти никто: он закрывает, а не открывает</a:t>
            </a:r>
          </a:p>
        </p:txBody>
      </p:sp>
      <p:sp>
        <p:nvSpPr>
          <p:cNvPr id="7" name="Текстовый блок — заголовок">
            <a:extLst>
              <a:ext uri="{FF2B5EF4-FFF2-40B4-BE49-F238E27FC236}">
                <a16:creationId xmlns:a16="http://schemas.microsoft.com/office/drawing/2014/main" id="{60D8FFDF-B59C-4B0A-8CBE-3EF79B76F9B8}"/>
              </a:ext>
            </a:extLst>
          </p:cNvPr>
          <p:cNvSpPr>
            <a:spLocks noGrp="1"/>
          </p:cNvSpPr>
          <p:nvPr/>
        </p:nvSpPr>
        <p:spPr>
          <a:xfrm>
            <a:off x="800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8" name="Текстовый блок — текст">
            <a:extLst>
              <a:ext uri="{FF2B5EF4-FFF2-40B4-BE49-F238E27FC236}">
                <a16:creationId xmlns:a16="http://schemas.microsoft.com/office/drawing/2014/main" id="{AC333327-0196-4226-8AE6-135E26DFFEF0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79248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9" name="Список — заголовок">
            <a:extLst>
              <a:ext uri="{FF2B5EF4-FFF2-40B4-BE49-F238E27FC236}">
                <a16:creationId xmlns:a16="http://schemas.microsoft.com/office/drawing/2014/main" id="{3C6A7525-86DB-4554-B760-371C8510005B}"/>
              </a:ext>
            </a:extLst>
          </p:cNvPr>
          <p:cNvSpPr>
            <a:spLocks noGrp="1"/>
          </p:cNvSpPr>
          <p:nvPr/>
        </p:nvSpPr>
        <p:spPr>
          <a:xfrm>
            <a:off x="9563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10" name="Список — вводная">
            <a:extLst>
              <a:ext uri="{FF2B5EF4-FFF2-40B4-BE49-F238E27FC236}">
                <a16:creationId xmlns:a16="http://schemas.microsoft.com/office/drawing/2014/main" id="{EDD98C9F-4A8D-400A-82D5-F1B2EB5BE324}"/>
              </a:ext>
            </a:extLst>
          </p:cNvPr>
          <p:cNvSpPr>
            <a:spLocks noGrp="1"/>
          </p:cNvSpPr>
          <p:nvPr/>
        </p:nvSpPr>
        <p:spPr>
          <a:xfrm>
            <a:off x="9563100" y="3848100"/>
            <a:ext cx="7924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11" name="Список — пункты">
            <a:extLst>
              <a:ext uri="{FF2B5EF4-FFF2-40B4-BE49-F238E27FC236}">
                <a16:creationId xmlns:a16="http://schemas.microsoft.com/office/drawing/2014/main" id="{F442EF30-93C7-4546-9525-C1AA3D745C53}"/>
              </a:ext>
            </a:extLst>
          </p:cNvPr>
          <p:cNvSpPr>
            <a:spLocks noGrp="1"/>
          </p:cNvSpPr>
          <p:nvPr/>
        </p:nvSpPr>
        <p:spPr>
          <a:xfrm>
            <a:off x="9715500" y="4933950"/>
            <a:ext cx="7620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5"/>
          <a:stretch/>
        </p:blipFill>
        <p:spPr>
          <a:xfrm rot="879000">
            <a:off x="14963775" y="1371600"/>
            <a:ext cx="2276475" cy="2276475"/>
          </a:xfrm>
          <a:prstGeom prst="rect">
            <a:avLst/>
          </a:prstGeom>
        </p:spPr>
      </p:pic>
      <p:pic>
        <p:nvPicPr>
          <p:cNvPr id="33" name="Рисунок 3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095875" y="6562725"/>
            <a:ext cx="4467225" cy="3724275"/>
          </a:xfrm>
          <a:prstGeom prst="rect">
            <a:avLst/>
          </a:prstGeom>
        </p:spPr>
      </p:pic>
      <p:pic>
        <p:nvPicPr>
          <p:cNvPr id="34" name="Рисунок 33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82379" y="9186863"/>
            <a:ext cx="2083242" cy="623888"/>
          </a:xfrm>
          <a:prstGeom prst="rect">
            <a:avLst/>
          </a:prstGeom>
        </p:spPr>
      </p:pic>
      <p:sp>
        <p:nvSpPr>
          <p:cNvPr id="15" name="Номер страницы">
            <a:extLst>
              <a:ext uri="{FF2B5EF4-FFF2-40B4-BE49-F238E27FC236}">
                <a16:creationId xmlns:a16="http://schemas.microsoft.com/office/drawing/2014/main" id="{8CB3DCAF-5969-49CE-B198-E4C5CEA31C56}"/>
              </a:ext>
            </a:extLst>
          </p:cNvPr>
          <p:cNvSpPr>
            <a:spLocks noGrp="1"/>
          </p:cNvSpPr>
          <p:nvPr/>
        </p:nvSpPr>
        <p:spPr>
          <a:xfrm>
            <a:off x="16859250" y="94678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 b="0"/>
              <a:t>41</a:t>
            </a:r>
          </a:p>
        </p:txBody>
      </p:sp>
      <p:pic>
        <p:nvPicPr>
          <p:cNvPr id="35" name="Picture 34" descr="attrib_02_channels_hea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8495" y="2514600"/>
            <a:ext cx="13791009" cy="653796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62800" y="1933575"/>
            <a:ext cx="8715375" cy="8353425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190601" y="504825"/>
            <a:ext cx="2876741" cy="2876741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5395519" y="6967442"/>
            <a:ext cx="2688194" cy="3191637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4892528" y="1556671"/>
            <a:ext cx="2344484" cy="2344484"/>
          </a:xfrm>
          <a:prstGeom prst="rect">
            <a:avLst/>
          </a:prstGeom>
        </p:spPr>
      </p:pic>
      <p:sp>
        <p:nvSpPr>
          <p:cNvPr id="6" name="Заголовок">
            <a:extLst>
              <a:ext uri="{FF2B5EF4-FFF2-40B4-BE49-F238E27FC236}">
                <a16:creationId xmlns:a16="http://schemas.microsoft.com/office/drawing/2014/main" id="{498BBE52-B56A-4F73-8565-575347066D87}"/>
              </a:ext>
            </a:extLst>
          </p:cNvPr>
          <p:cNvSpPr>
            <a:spLocks noGrp="1"/>
          </p:cNvSpPr>
          <p:nvPr/>
        </p:nvSpPr>
        <p:spPr>
          <a:xfrm>
            <a:off x="476250" y="2895600"/>
            <a:ext cx="7429500" cy="2171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200" b="0">
                <a:solidFill>
                  <a:srgbClr val="3A3A3A"/>
                </a:solidFill>
                <a:latin typeface="X5 Sans Medium"/>
              </a:rPr>
              <a:t>Last-click ломается системно</a:t>
            </a:r>
          </a:p>
        </p:txBody>
      </p:sp>
      <p:sp>
        <p:nvSpPr>
          <p:cNvPr id="7" name="Пояснение">
            <a:extLst>
              <a:ext uri="{FF2B5EF4-FFF2-40B4-BE49-F238E27FC236}">
                <a16:creationId xmlns:a16="http://schemas.microsoft.com/office/drawing/2014/main" id="{7FDFA29B-3B26-457E-8F99-F72D6D317D5E}"/>
              </a:ext>
            </a:extLst>
          </p:cNvPr>
          <p:cNvSpPr>
            <a:spLocks noGrp="1"/>
          </p:cNvSpPr>
          <p:nvPr/>
        </p:nvSpPr>
        <p:spPr>
          <a:xfrm>
            <a:off x="476250" y="5307626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600" b="0">
                <a:solidFill>
                  <a:srgbClr val="3A3A3A"/>
                </a:solidFill>
                <a:latin typeface="X5 Sans Medium"/>
              </a:rPr>
              <a:t>Перехват брендом · view-through не виден · кросс-девайс рвёт путь · канал подогревания — «дармоед»</a:t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77115" y="476250"/>
            <a:ext cx="1034305" cy="929926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027176" y="907322"/>
            <a:ext cx="453200" cy="500408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499806" y="907592"/>
            <a:ext cx="376904" cy="508821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2076846" y="886682"/>
            <a:ext cx="2050036" cy="675418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Текстовый блок">
            <a:extLst>
              <a:ext uri="{FF2B5EF4-FFF2-40B4-BE49-F238E27FC236}">
                <a16:creationId xmlns:a16="http://schemas.microsoft.com/office/drawing/2014/main" id="{83BF2DA4-8395-4896-98A1-EE8ADF637024}"/>
              </a:ext>
            </a:extLst>
          </p:cNvPr>
          <p:cNvSpPr>
            <a:spLocks noGrp="1"/>
          </p:cNvSpPr>
          <p:nvPr/>
        </p:nvSpPr>
        <p:spPr>
          <a:xfrm>
            <a:off x="476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Список">
            <a:extLst>
              <a:ext uri="{FF2B5EF4-FFF2-40B4-BE49-F238E27FC236}">
                <a16:creationId xmlns:a16="http://schemas.microsoft.com/office/drawing/2014/main" id="{EE991465-5A34-4773-A228-4F61ECBBE8E6}"/>
              </a:ext>
            </a:extLst>
          </p:cNvPr>
          <p:cNvSpPr>
            <a:spLocks noGrp="1"/>
          </p:cNvSpPr>
          <p:nvPr/>
        </p:nvSpPr>
        <p:spPr>
          <a:xfrm>
            <a:off x="9239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Заголовок">
            <a:extLst>
              <a:ext uri="{FF2B5EF4-FFF2-40B4-BE49-F238E27FC236}">
                <a16:creationId xmlns:a16="http://schemas.microsoft.com/office/drawing/2014/main" id="{70B4469F-6CF4-4B36-8D14-80B170FE0D58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100" b="0">
                <a:solidFill>
                  <a:srgbClr val="3A3A3A"/>
                </a:solidFill>
                <a:latin typeface="X5 Sans Medium"/>
              </a:rPr>
              <a:t>Как выбирать модель — честный ответ</a:t>
            </a:r>
          </a:p>
        </p:txBody>
      </p:sp>
      <p:sp>
        <p:nvSpPr>
          <p:cNvPr id="6" name="Подзаголовок">
            <a:extLst>
              <a:ext uri="{FF2B5EF4-FFF2-40B4-BE49-F238E27FC236}">
                <a16:creationId xmlns:a16="http://schemas.microsoft.com/office/drawing/2014/main" id="{EADA99A8-63FD-4201-8FB7-7752A0FD2CE4}"/>
              </a:ext>
            </a:extLst>
          </p:cNvPr>
          <p:cNvSpPr>
            <a:spLocks noGrp="1"/>
          </p:cNvSpPr>
          <p:nvPr/>
        </p:nvSpPr>
        <p:spPr>
          <a:xfrm>
            <a:off x="476250" y="1485900"/>
            <a:ext cx="857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7" name="Текстовый блок — заголовок">
            <a:extLst>
              <a:ext uri="{FF2B5EF4-FFF2-40B4-BE49-F238E27FC236}">
                <a16:creationId xmlns:a16="http://schemas.microsoft.com/office/drawing/2014/main" id="{60D8FFDF-B59C-4B0A-8CBE-3EF79B76F9B8}"/>
              </a:ext>
            </a:extLst>
          </p:cNvPr>
          <p:cNvSpPr>
            <a:spLocks noGrp="1"/>
          </p:cNvSpPr>
          <p:nvPr/>
        </p:nvSpPr>
        <p:spPr>
          <a:xfrm>
            <a:off x="800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0">
                <a:solidFill>
                  <a:srgbClr val="3A3A3A"/>
                </a:solidFill>
                <a:latin typeface="X5 Sans Medium"/>
              </a:rPr>
              <a:t>Вопрос → модель</a:t>
            </a:r>
          </a:p>
        </p:txBody>
      </p:sp>
      <p:sp>
        <p:nvSpPr>
          <p:cNvPr id="8" name="Текстовый блок — текст">
            <a:extLst>
              <a:ext uri="{FF2B5EF4-FFF2-40B4-BE49-F238E27FC236}">
                <a16:creationId xmlns:a16="http://schemas.microsoft.com/office/drawing/2014/main" id="{AC333327-0196-4226-8AE6-135E26DFFEF0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79248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9" name="Список — заголовок">
            <a:extLst>
              <a:ext uri="{FF2B5EF4-FFF2-40B4-BE49-F238E27FC236}">
                <a16:creationId xmlns:a16="http://schemas.microsoft.com/office/drawing/2014/main" id="{3C6A7525-86DB-4554-B760-371C8510005B}"/>
              </a:ext>
            </a:extLst>
          </p:cNvPr>
          <p:cNvSpPr>
            <a:spLocks noGrp="1"/>
          </p:cNvSpPr>
          <p:nvPr/>
        </p:nvSpPr>
        <p:spPr>
          <a:xfrm>
            <a:off x="9563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10" name="Список — вводная">
            <a:extLst>
              <a:ext uri="{FF2B5EF4-FFF2-40B4-BE49-F238E27FC236}">
                <a16:creationId xmlns:a16="http://schemas.microsoft.com/office/drawing/2014/main" id="{EDD98C9F-4A8D-400A-82D5-F1B2EB5BE324}"/>
              </a:ext>
            </a:extLst>
          </p:cNvPr>
          <p:cNvSpPr>
            <a:spLocks noGrp="1"/>
          </p:cNvSpPr>
          <p:nvPr/>
        </p:nvSpPr>
        <p:spPr>
          <a:xfrm>
            <a:off x="9563100" y="3848100"/>
            <a:ext cx="7924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11" name="Список — пункты">
            <a:extLst>
              <a:ext uri="{FF2B5EF4-FFF2-40B4-BE49-F238E27FC236}">
                <a16:creationId xmlns:a16="http://schemas.microsoft.com/office/drawing/2014/main" id="{F442EF30-93C7-4546-9525-C1AA3D745C53}"/>
              </a:ext>
            </a:extLst>
          </p:cNvPr>
          <p:cNvSpPr>
            <a:spLocks noGrp="1"/>
          </p:cNvSpPr>
          <p:nvPr/>
        </p:nvSpPr>
        <p:spPr>
          <a:xfrm>
            <a:off x="9715500" y="4206240"/>
            <a:ext cx="7620000" cy="5120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0">
                <a:solidFill>
                  <a:srgbClr val="3A3A3A"/>
                </a:solidFill>
                <a:latin typeface="X5 Sans"/>
              </a:rPr>
              <a:t>«Что открывает клиентов?» → first / U-shaped</a:t>
            </a:r>
          </a:p>
          <a:p>
            <a:r>
              <a:rPr sz="2200" b="0">
                <a:solidFill>
                  <a:srgbClr val="3A3A3A"/>
                </a:solidFill>
                <a:latin typeface="X5 Sans"/>
              </a:rPr>
              <a:t>«Что закрывает?» → last · «Как ведёт себя путь?» → li…</a:t>
            </a:r>
          </a:p>
          <a:p>
            <a:r>
              <a:rPr sz="2200" b="0">
                <a:solidFill>
                  <a:srgbClr val="3A3A3A"/>
                </a:solidFill>
                <a:latin typeface="X5 Sans"/>
              </a:rPr>
              <a:t>Держите 2–3 модели рядом: расхождения — диагностика</a:t>
            </a:r>
          </a:p>
          <a:p>
            <a:r>
              <a:rPr sz="2200" b="0">
                <a:solidFill>
                  <a:srgbClr val="3A3A3A"/>
                </a:solidFill>
                <a:latin typeface="X5 Sans"/>
              </a:rPr>
              <a:t>Большой first при нулевом last — канал-«открыватель»</a:t>
            </a:r>
          </a:p>
          <a:p>
            <a:r>
              <a:rPr sz="2200" b="0">
                <a:solidFill>
                  <a:srgbClr val="3A3A3A"/>
                </a:solidFill>
                <a:latin typeface="X5 Sans"/>
              </a:rPr>
              <a:t>Атрибуция отвечает «что было», не «что, если»</a:t>
            </a: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5"/>
          <a:stretch/>
        </p:blipFill>
        <p:spPr>
          <a:xfrm rot="879000">
            <a:off x="14963775" y="1371600"/>
            <a:ext cx="2276475" cy="2276475"/>
          </a:xfrm>
          <a:prstGeom prst="rect">
            <a:avLst/>
          </a:prstGeom>
        </p:spPr>
      </p:pic>
      <p:pic>
        <p:nvPicPr>
          <p:cNvPr id="33" name="Рисунок 3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095875" y="6562725"/>
            <a:ext cx="4467225" cy="3724275"/>
          </a:xfrm>
          <a:prstGeom prst="rect">
            <a:avLst/>
          </a:prstGeom>
        </p:spPr>
      </p:pic>
      <p:pic>
        <p:nvPicPr>
          <p:cNvPr id="34" name="Рисунок 33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82379" y="9186863"/>
            <a:ext cx="2083242" cy="623888"/>
          </a:xfrm>
          <a:prstGeom prst="rect">
            <a:avLst/>
          </a:prstGeom>
        </p:spPr>
      </p:pic>
      <p:sp>
        <p:nvSpPr>
          <p:cNvPr id="15" name="Номер страницы">
            <a:extLst>
              <a:ext uri="{FF2B5EF4-FFF2-40B4-BE49-F238E27FC236}">
                <a16:creationId xmlns:a16="http://schemas.microsoft.com/office/drawing/2014/main" id="{8CB3DCAF-5969-49CE-B198-E4C5CEA31C56}"/>
              </a:ext>
            </a:extLst>
          </p:cNvPr>
          <p:cNvSpPr>
            <a:spLocks noGrp="1"/>
          </p:cNvSpPr>
          <p:nvPr/>
        </p:nvSpPr>
        <p:spPr>
          <a:xfrm>
            <a:off x="16859250" y="94678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 b="0"/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62800" y="1933575"/>
            <a:ext cx="8715375" cy="8353425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190601" y="504825"/>
            <a:ext cx="2876741" cy="2876741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5395519" y="6967442"/>
            <a:ext cx="2688194" cy="3191637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4892528" y="1556671"/>
            <a:ext cx="2344484" cy="2344484"/>
          </a:xfrm>
          <a:prstGeom prst="rect">
            <a:avLst/>
          </a:prstGeom>
        </p:spPr>
      </p:pic>
      <p:sp>
        <p:nvSpPr>
          <p:cNvPr id="6" name="Заголовок">
            <a:extLst>
              <a:ext uri="{FF2B5EF4-FFF2-40B4-BE49-F238E27FC236}">
                <a16:creationId xmlns:a16="http://schemas.microsoft.com/office/drawing/2014/main" id="{498BBE52-B56A-4F73-8565-575347066D87}"/>
              </a:ext>
            </a:extLst>
          </p:cNvPr>
          <p:cNvSpPr>
            <a:spLocks noGrp="1"/>
          </p:cNvSpPr>
          <p:nvPr/>
        </p:nvSpPr>
        <p:spPr>
          <a:xfrm>
            <a:off x="476250" y="2895600"/>
            <a:ext cx="7429500" cy="2171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300" b="0">
                <a:solidFill>
                  <a:srgbClr val="3A3A3A"/>
                </a:solidFill>
                <a:latin typeface="X5 Sans Medium"/>
              </a:rPr>
              <a:t>Правила — допущения. Дальше веса считает модель</a:t>
            </a:r>
          </a:p>
        </p:txBody>
      </p:sp>
      <p:sp>
        <p:nvSpPr>
          <p:cNvPr id="7" name="Пояснение">
            <a:extLst>
              <a:ext uri="{FF2B5EF4-FFF2-40B4-BE49-F238E27FC236}">
                <a16:creationId xmlns:a16="http://schemas.microsoft.com/office/drawing/2014/main" id="{7FDFA29B-3B26-457E-8F99-F72D6D317D5E}"/>
              </a:ext>
            </a:extLst>
          </p:cNvPr>
          <p:cNvSpPr>
            <a:spLocks noGrp="1"/>
          </p:cNvSpPr>
          <p:nvPr/>
        </p:nvSpPr>
        <p:spPr>
          <a:xfrm>
            <a:off x="476250" y="5307626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 sz="2600" b="0" dirty="0" err="1">
                <a:solidFill>
                  <a:srgbClr val="3A3A3A"/>
                </a:solidFill>
                <a:latin typeface="X5 Sans Medium"/>
              </a:rPr>
              <a:t>Ключевой</a:t>
            </a:r>
            <a:r>
              <a:rPr sz="2600" b="0" dirty="0">
                <a:solidFill>
                  <a:srgbClr val="3A3A3A"/>
                </a:solidFill>
                <a:latin typeface="X5 Sans Medium"/>
              </a:rPr>
              <a:t> </a:t>
            </a:r>
            <a:r>
              <a:rPr sz="2600" b="0" dirty="0" err="1">
                <a:solidFill>
                  <a:srgbClr val="3A3A3A"/>
                </a:solidFill>
                <a:latin typeface="X5 Sans Medium"/>
              </a:rPr>
              <a:t>источник</a:t>
            </a:r>
            <a:r>
              <a:rPr sz="2600" b="0" dirty="0">
                <a:solidFill>
                  <a:srgbClr val="3A3A3A"/>
                </a:solidFill>
                <a:latin typeface="X5 Sans Medium"/>
              </a:rPr>
              <a:t>: </a:t>
            </a:r>
            <a:r>
              <a:rPr sz="2600" b="0" dirty="0" err="1">
                <a:solidFill>
                  <a:srgbClr val="3A3A3A"/>
                </a:solidFill>
                <a:latin typeface="X5 Sans Medium"/>
              </a:rPr>
              <a:t>vc.ru</a:t>
            </a:r>
            <a:r>
              <a:rPr sz="2600" b="0" dirty="0">
                <a:solidFill>
                  <a:srgbClr val="3A3A3A"/>
                </a:solidFill>
                <a:latin typeface="X5 Sans Medium"/>
              </a:rPr>
              <a:t> —</a:t>
            </a:r>
            <a:r>
              <a:rPr lang="en-US" sz="2600" dirty="0">
                <a:solidFill>
                  <a:srgbClr val="3A3A3A"/>
                </a:solidFill>
                <a:latin typeface="X5 Sans Medium"/>
              </a:rPr>
              <a:t> https://</a:t>
            </a:r>
            <a:r>
              <a:rPr lang="en-US" sz="2600" dirty="0" err="1">
                <a:solidFill>
                  <a:srgbClr val="3A3A3A"/>
                </a:solidFill>
                <a:latin typeface="X5 Sans Medium"/>
              </a:rPr>
              <a:t>vc.ru</a:t>
            </a:r>
            <a:r>
              <a:rPr lang="en-US" sz="2600" dirty="0">
                <a:solidFill>
                  <a:srgbClr val="3A3A3A"/>
                </a:solidFill>
                <a:latin typeface="X5 Sans Medium"/>
              </a:rPr>
              <a:t>/marketing/108652-reshaem-problemu-atribucii-v-digital-marketinge-pri-pomoshi-mashinnogo-obucheniya?ref=</a:t>
            </a:r>
            <a:r>
              <a:rPr lang="en-US" sz="2600" dirty="0" err="1">
                <a:solidFill>
                  <a:srgbClr val="3A3A3A"/>
                </a:solidFill>
                <a:latin typeface="X5 Sans Medium"/>
              </a:rPr>
              <a:t>vc.ru</a:t>
            </a:r>
            <a:r>
              <a:rPr sz="2600" b="0" dirty="0">
                <a:solidFill>
                  <a:srgbClr val="3A3A3A"/>
                </a:solidFill>
                <a:latin typeface="X5 Sans Medium"/>
              </a:rPr>
              <a:t> </a:t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77115" y="476250"/>
            <a:ext cx="1034305" cy="929926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027176" y="907322"/>
            <a:ext cx="453200" cy="500408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499806" y="907592"/>
            <a:ext cx="376904" cy="508821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2076846" y="886682"/>
            <a:ext cx="2050036" cy="675418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Текстовый блок">
            <a:extLst>
              <a:ext uri="{FF2B5EF4-FFF2-40B4-BE49-F238E27FC236}">
                <a16:creationId xmlns:a16="http://schemas.microsoft.com/office/drawing/2014/main" id="{83BF2DA4-8395-4896-98A1-EE8ADF637024}"/>
              </a:ext>
            </a:extLst>
          </p:cNvPr>
          <p:cNvSpPr>
            <a:spLocks noGrp="1"/>
          </p:cNvSpPr>
          <p:nvPr/>
        </p:nvSpPr>
        <p:spPr>
          <a:xfrm>
            <a:off x="476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Список">
            <a:extLst>
              <a:ext uri="{FF2B5EF4-FFF2-40B4-BE49-F238E27FC236}">
                <a16:creationId xmlns:a16="http://schemas.microsoft.com/office/drawing/2014/main" id="{EE991465-5A34-4773-A228-4F61ECBBE8E6}"/>
              </a:ext>
            </a:extLst>
          </p:cNvPr>
          <p:cNvSpPr>
            <a:spLocks noGrp="1"/>
          </p:cNvSpPr>
          <p:nvPr/>
        </p:nvSpPr>
        <p:spPr>
          <a:xfrm>
            <a:off x="9239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Заголовок">
            <a:extLst>
              <a:ext uri="{FF2B5EF4-FFF2-40B4-BE49-F238E27FC236}">
                <a16:creationId xmlns:a16="http://schemas.microsoft.com/office/drawing/2014/main" id="{70B4469F-6CF4-4B36-8D14-80B170FE0D58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100" b="0">
                <a:solidFill>
                  <a:srgbClr val="3A3A3A"/>
                </a:solidFill>
                <a:latin typeface="X5 Sans Medium"/>
              </a:rPr>
              <a:t>Пайплайн ML-атрибуции (статья vc.ru)</a:t>
            </a:r>
          </a:p>
        </p:txBody>
      </p:sp>
      <p:sp>
        <p:nvSpPr>
          <p:cNvPr id="6" name="Подзаголовок">
            <a:extLst>
              <a:ext uri="{FF2B5EF4-FFF2-40B4-BE49-F238E27FC236}">
                <a16:creationId xmlns:a16="http://schemas.microsoft.com/office/drawing/2014/main" id="{EADA99A8-63FD-4201-8FB7-7752A0FD2CE4}"/>
              </a:ext>
            </a:extLst>
          </p:cNvPr>
          <p:cNvSpPr>
            <a:spLocks noGrp="1"/>
          </p:cNvSpPr>
          <p:nvPr/>
        </p:nvSpPr>
        <p:spPr>
          <a:xfrm>
            <a:off x="476250" y="1485900"/>
            <a:ext cx="857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0">
                <a:solidFill>
                  <a:srgbClr val="3A3A3A"/>
                </a:solidFill>
                <a:latin typeface="X5 Sans"/>
              </a:rPr>
              <a:t>Собрать цепочки → фичи → модель → вклады касаний → перераспределение бюджета</a:t>
            </a:r>
          </a:p>
        </p:txBody>
      </p:sp>
      <p:sp>
        <p:nvSpPr>
          <p:cNvPr id="7" name="Текстовый блок — заголовок">
            <a:extLst>
              <a:ext uri="{FF2B5EF4-FFF2-40B4-BE49-F238E27FC236}">
                <a16:creationId xmlns:a16="http://schemas.microsoft.com/office/drawing/2014/main" id="{60D8FFDF-B59C-4B0A-8CBE-3EF79B76F9B8}"/>
              </a:ext>
            </a:extLst>
          </p:cNvPr>
          <p:cNvSpPr>
            <a:spLocks noGrp="1"/>
          </p:cNvSpPr>
          <p:nvPr/>
        </p:nvSpPr>
        <p:spPr>
          <a:xfrm>
            <a:off x="800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8" name="Текстовый блок — текст">
            <a:extLst>
              <a:ext uri="{FF2B5EF4-FFF2-40B4-BE49-F238E27FC236}">
                <a16:creationId xmlns:a16="http://schemas.microsoft.com/office/drawing/2014/main" id="{AC333327-0196-4226-8AE6-135E26DFFEF0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79248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9" name="Список — заголовок">
            <a:extLst>
              <a:ext uri="{FF2B5EF4-FFF2-40B4-BE49-F238E27FC236}">
                <a16:creationId xmlns:a16="http://schemas.microsoft.com/office/drawing/2014/main" id="{3C6A7525-86DB-4554-B760-371C8510005B}"/>
              </a:ext>
            </a:extLst>
          </p:cNvPr>
          <p:cNvSpPr>
            <a:spLocks noGrp="1"/>
          </p:cNvSpPr>
          <p:nvPr/>
        </p:nvSpPr>
        <p:spPr>
          <a:xfrm>
            <a:off x="9563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10" name="Список — вводная">
            <a:extLst>
              <a:ext uri="{FF2B5EF4-FFF2-40B4-BE49-F238E27FC236}">
                <a16:creationId xmlns:a16="http://schemas.microsoft.com/office/drawing/2014/main" id="{EDD98C9F-4A8D-400A-82D5-F1B2EB5BE324}"/>
              </a:ext>
            </a:extLst>
          </p:cNvPr>
          <p:cNvSpPr>
            <a:spLocks noGrp="1"/>
          </p:cNvSpPr>
          <p:nvPr/>
        </p:nvSpPr>
        <p:spPr>
          <a:xfrm>
            <a:off x="9563100" y="3848100"/>
            <a:ext cx="7924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11" name="Список — пункты">
            <a:extLst>
              <a:ext uri="{FF2B5EF4-FFF2-40B4-BE49-F238E27FC236}">
                <a16:creationId xmlns:a16="http://schemas.microsoft.com/office/drawing/2014/main" id="{F442EF30-93C7-4546-9525-C1AA3D745C53}"/>
              </a:ext>
            </a:extLst>
          </p:cNvPr>
          <p:cNvSpPr>
            <a:spLocks noGrp="1"/>
          </p:cNvSpPr>
          <p:nvPr/>
        </p:nvSpPr>
        <p:spPr>
          <a:xfrm>
            <a:off x="9715500" y="4933950"/>
            <a:ext cx="7620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5"/>
          <a:stretch/>
        </p:blipFill>
        <p:spPr>
          <a:xfrm rot="879000">
            <a:off x="14963775" y="1371600"/>
            <a:ext cx="2276475" cy="2276475"/>
          </a:xfrm>
          <a:prstGeom prst="rect">
            <a:avLst/>
          </a:prstGeom>
        </p:spPr>
      </p:pic>
      <p:pic>
        <p:nvPicPr>
          <p:cNvPr id="33" name="Рисунок 3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095875" y="6562725"/>
            <a:ext cx="4467225" cy="3724275"/>
          </a:xfrm>
          <a:prstGeom prst="rect">
            <a:avLst/>
          </a:prstGeom>
        </p:spPr>
      </p:pic>
      <p:pic>
        <p:nvPicPr>
          <p:cNvPr id="34" name="Рисунок 33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82379" y="9186863"/>
            <a:ext cx="2083242" cy="623888"/>
          </a:xfrm>
          <a:prstGeom prst="rect">
            <a:avLst/>
          </a:prstGeom>
        </p:spPr>
      </p:pic>
      <p:sp>
        <p:nvSpPr>
          <p:cNvPr id="15" name="Номер страницы">
            <a:extLst>
              <a:ext uri="{FF2B5EF4-FFF2-40B4-BE49-F238E27FC236}">
                <a16:creationId xmlns:a16="http://schemas.microsoft.com/office/drawing/2014/main" id="{8CB3DCAF-5969-49CE-B198-E4C5CEA31C56}"/>
              </a:ext>
            </a:extLst>
          </p:cNvPr>
          <p:cNvSpPr>
            <a:spLocks noGrp="1"/>
          </p:cNvSpPr>
          <p:nvPr/>
        </p:nvSpPr>
        <p:spPr>
          <a:xfrm>
            <a:off x="16859250" y="94678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 b="0"/>
              <a:t>45</a:t>
            </a:r>
          </a:p>
        </p:txBody>
      </p:sp>
      <p:pic>
        <p:nvPicPr>
          <p:cNvPr id="35" name="Picture 34" descr="vc16_pipelin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33726" y="2514600"/>
            <a:ext cx="10420546" cy="6537959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Текстовый блок">
            <a:extLst>
              <a:ext uri="{FF2B5EF4-FFF2-40B4-BE49-F238E27FC236}">
                <a16:creationId xmlns:a16="http://schemas.microsoft.com/office/drawing/2014/main" id="{83BF2DA4-8395-4896-98A1-EE8ADF637024}"/>
              </a:ext>
            </a:extLst>
          </p:cNvPr>
          <p:cNvSpPr>
            <a:spLocks noGrp="1"/>
          </p:cNvSpPr>
          <p:nvPr/>
        </p:nvSpPr>
        <p:spPr>
          <a:xfrm>
            <a:off x="476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Список">
            <a:extLst>
              <a:ext uri="{FF2B5EF4-FFF2-40B4-BE49-F238E27FC236}">
                <a16:creationId xmlns:a16="http://schemas.microsoft.com/office/drawing/2014/main" id="{EE991465-5A34-4773-A228-4F61ECBBE8E6}"/>
              </a:ext>
            </a:extLst>
          </p:cNvPr>
          <p:cNvSpPr>
            <a:spLocks noGrp="1"/>
          </p:cNvSpPr>
          <p:nvPr/>
        </p:nvSpPr>
        <p:spPr>
          <a:xfrm>
            <a:off x="9239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Заголовок">
            <a:extLst>
              <a:ext uri="{FF2B5EF4-FFF2-40B4-BE49-F238E27FC236}">
                <a16:creationId xmlns:a16="http://schemas.microsoft.com/office/drawing/2014/main" id="{70B4469F-6CF4-4B36-8D14-80B170FE0D58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700" b="0">
                <a:solidFill>
                  <a:srgbClr val="3A3A3A"/>
                </a:solidFill>
                <a:latin typeface="X5 Sans Medium"/>
              </a:rPr>
              <a:t>Шаг 1 · цепочки → признаки</a:t>
            </a:r>
          </a:p>
        </p:txBody>
      </p:sp>
      <p:sp>
        <p:nvSpPr>
          <p:cNvPr id="6" name="Подзаголовок">
            <a:extLst>
              <a:ext uri="{FF2B5EF4-FFF2-40B4-BE49-F238E27FC236}">
                <a16:creationId xmlns:a16="http://schemas.microsoft.com/office/drawing/2014/main" id="{EADA99A8-63FD-4201-8FB7-7752A0FD2CE4}"/>
              </a:ext>
            </a:extLst>
          </p:cNvPr>
          <p:cNvSpPr>
            <a:spLocks noGrp="1"/>
          </p:cNvSpPr>
          <p:nvPr/>
        </p:nvSpPr>
        <p:spPr>
          <a:xfrm>
            <a:off x="476250" y="1485900"/>
            <a:ext cx="857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0">
                <a:solidFill>
                  <a:srgbClr val="3A3A3A"/>
                </a:solidFill>
                <a:latin typeface="X5 Sans"/>
              </a:rPr>
              <a:t>Счётчики касаний по каналам + длина пути; метка «купил» приходит из CRM (разметка из 3.2!)</a:t>
            </a:r>
          </a:p>
        </p:txBody>
      </p:sp>
      <p:sp>
        <p:nvSpPr>
          <p:cNvPr id="7" name="Текстовый блок — заголовок">
            <a:extLst>
              <a:ext uri="{FF2B5EF4-FFF2-40B4-BE49-F238E27FC236}">
                <a16:creationId xmlns:a16="http://schemas.microsoft.com/office/drawing/2014/main" id="{60D8FFDF-B59C-4B0A-8CBE-3EF79B76F9B8}"/>
              </a:ext>
            </a:extLst>
          </p:cNvPr>
          <p:cNvSpPr>
            <a:spLocks noGrp="1"/>
          </p:cNvSpPr>
          <p:nvPr/>
        </p:nvSpPr>
        <p:spPr>
          <a:xfrm>
            <a:off x="800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8" name="Текстовый блок — текст">
            <a:extLst>
              <a:ext uri="{FF2B5EF4-FFF2-40B4-BE49-F238E27FC236}">
                <a16:creationId xmlns:a16="http://schemas.microsoft.com/office/drawing/2014/main" id="{AC333327-0196-4226-8AE6-135E26DFFEF0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79248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9" name="Список — заголовок">
            <a:extLst>
              <a:ext uri="{FF2B5EF4-FFF2-40B4-BE49-F238E27FC236}">
                <a16:creationId xmlns:a16="http://schemas.microsoft.com/office/drawing/2014/main" id="{3C6A7525-86DB-4554-B760-371C8510005B}"/>
              </a:ext>
            </a:extLst>
          </p:cNvPr>
          <p:cNvSpPr>
            <a:spLocks noGrp="1"/>
          </p:cNvSpPr>
          <p:nvPr/>
        </p:nvSpPr>
        <p:spPr>
          <a:xfrm>
            <a:off x="9563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0" name="Список — вводная">
            <a:extLst>
              <a:ext uri="{FF2B5EF4-FFF2-40B4-BE49-F238E27FC236}">
                <a16:creationId xmlns:a16="http://schemas.microsoft.com/office/drawing/2014/main" id="{EDD98C9F-4A8D-400A-82D5-F1B2EB5BE324}"/>
              </a:ext>
            </a:extLst>
          </p:cNvPr>
          <p:cNvSpPr>
            <a:spLocks noGrp="1"/>
          </p:cNvSpPr>
          <p:nvPr/>
        </p:nvSpPr>
        <p:spPr>
          <a:xfrm>
            <a:off x="9563100" y="3848100"/>
            <a:ext cx="7924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1" name="Список — пункты">
            <a:extLst>
              <a:ext uri="{FF2B5EF4-FFF2-40B4-BE49-F238E27FC236}">
                <a16:creationId xmlns:a16="http://schemas.microsoft.com/office/drawing/2014/main" id="{F442EF30-93C7-4546-9525-C1AA3D745C53}"/>
              </a:ext>
            </a:extLst>
          </p:cNvPr>
          <p:cNvSpPr>
            <a:spLocks noGrp="1"/>
          </p:cNvSpPr>
          <p:nvPr/>
        </p:nvSpPr>
        <p:spPr>
          <a:xfrm>
            <a:off x="9715500" y="4933950"/>
            <a:ext cx="7620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5"/>
          <a:stretch/>
        </p:blipFill>
        <p:spPr>
          <a:xfrm rot="879000">
            <a:off x="14963775" y="1371600"/>
            <a:ext cx="2276475" cy="2276475"/>
          </a:xfrm>
          <a:prstGeom prst="rect">
            <a:avLst/>
          </a:prstGeom>
        </p:spPr>
      </p:pic>
      <p:pic>
        <p:nvPicPr>
          <p:cNvPr id="33" name="Рисунок 3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095875" y="6562725"/>
            <a:ext cx="4467225" cy="3724275"/>
          </a:xfrm>
          <a:prstGeom prst="rect">
            <a:avLst/>
          </a:prstGeom>
        </p:spPr>
      </p:pic>
      <p:pic>
        <p:nvPicPr>
          <p:cNvPr id="34" name="Рисунок 3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82379" y="9186863"/>
            <a:ext cx="2083242" cy="623888"/>
          </a:xfrm>
          <a:prstGeom prst="rect">
            <a:avLst/>
          </a:prstGeom>
        </p:spPr>
      </p:pic>
      <p:sp>
        <p:nvSpPr>
          <p:cNvPr id="15" name="Номер страницы">
            <a:extLst>
              <a:ext uri="{FF2B5EF4-FFF2-40B4-BE49-F238E27FC236}">
                <a16:creationId xmlns:a16="http://schemas.microsoft.com/office/drawing/2014/main" id="{8CB3DCAF-5969-49CE-B198-E4C5CEA31C56}"/>
              </a:ext>
            </a:extLst>
          </p:cNvPr>
          <p:cNvSpPr>
            <a:spLocks noGrp="1"/>
          </p:cNvSpPr>
          <p:nvPr/>
        </p:nvSpPr>
        <p:spPr>
          <a:xfrm>
            <a:off x="16859250" y="94678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 b="0"/>
              <a:t>46</a:t>
            </a:r>
          </a:p>
        </p:txBody>
      </p:sp>
      <p:pic>
        <p:nvPicPr>
          <p:cNvPr id="35" name="Picture 34" descr="attrib_07_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7754" y="2514600"/>
            <a:ext cx="13732490" cy="6537960"/>
          </a:xfrm>
          <a:prstGeom prst="rect">
            <a:avLst/>
          </a:prstGeom>
        </p:spPr>
      </p:pic>
      <p:pic>
        <p:nvPicPr>
          <p:cNvPr id="36" name="Picture 35" descr="hood_01_featur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41573" y="2514600"/>
            <a:ext cx="14404852" cy="653796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Текстовый блок">
            <a:extLst>
              <a:ext uri="{FF2B5EF4-FFF2-40B4-BE49-F238E27FC236}">
                <a16:creationId xmlns:a16="http://schemas.microsoft.com/office/drawing/2014/main" id="{83BF2DA4-8395-4896-98A1-EE8ADF637024}"/>
              </a:ext>
            </a:extLst>
          </p:cNvPr>
          <p:cNvSpPr>
            <a:spLocks noGrp="1"/>
          </p:cNvSpPr>
          <p:nvPr/>
        </p:nvSpPr>
        <p:spPr>
          <a:xfrm>
            <a:off x="476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Список">
            <a:extLst>
              <a:ext uri="{FF2B5EF4-FFF2-40B4-BE49-F238E27FC236}">
                <a16:creationId xmlns:a16="http://schemas.microsoft.com/office/drawing/2014/main" id="{EE991465-5A34-4773-A228-4F61ECBBE8E6}"/>
              </a:ext>
            </a:extLst>
          </p:cNvPr>
          <p:cNvSpPr>
            <a:spLocks noGrp="1"/>
          </p:cNvSpPr>
          <p:nvPr/>
        </p:nvSpPr>
        <p:spPr>
          <a:xfrm>
            <a:off x="9239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Заголовок">
            <a:extLst>
              <a:ext uri="{FF2B5EF4-FFF2-40B4-BE49-F238E27FC236}">
                <a16:creationId xmlns:a16="http://schemas.microsoft.com/office/drawing/2014/main" id="{70B4469F-6CF4-4B36-8D14-80B170FE0D58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500" b="0">
                <a:solidFill>
                  <a:srgbClr val="3A3A3A"/>
                </a:solidFill>
                <a:latin typeface="X5 Sans Medium"/>
              </a:rPr>
              <a:t>Шаг 2 · модель учится</a:t>
            </a:r>
          </a:p>
        </p:txBody>
      </p:sp>
      <p:sp>
        <p:nvSpPr>
          <p:cNvPr id="6" name="Подзаголовок">
            <a:extLst>
              <a:ext uri="{FF2B5EF4-FFF2-40B4-BE49-F238E27FC236}">
                <a16:creationId xmlns:a16="http://schemas.microsoft.com/office/drawing/2014/main" id="{EADA99A8-63FD-4201-8FB7-7752A0FD2CE4}"/>
              </a:ext>
            </a:extLst>
          </p:cNvPr>
          <p:cNvSpPr>
            <a:spLocks noGrp="1"/>
          </p:cNvSpPr>
          <p:nvPr/>
        </p:nvSpPr>
        <p:spPr>
          <a:xfrm>
            <a:off x="476250" y="1485900"/>
            <a:ext cx="857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0">
                <a:solidFill>
                  <a:srgbClr val="3A3A3A"/>
                </a:solidFill>
                <a:latin typeface="X5 Sans"/>
              </a:rPr>
              <a:t>Логрегрессия подбирает веса так, чтобы P росла у купивших: log-loss 0.69 → 0.37</a:t>
            </a:r>
          </a:p>
        </p:txBody>
      </p:sp>
      <p:sp>
        <p:nvSpPr>
          <p:cNvPr id="7" name="Текстовый блок — заголовок">
            <a:extLst>
              <a:ext uri="{FF2B5EF4-FFF2-40B4-BE49-F238E27FC236}">
                <a16:creationId xmlns:a16="http://schemas.microsoft.com/office/drawing/2014/main" id="{60D8FFDF-B59C-4B0A-8CBE-3EF79B76F9B8}"/>
              </a:ext>
            </a:extLst>
          </p:cNvPr>
          <p:cNvSpPr>
            <a:spLocks noGrp="1"/>
          </p:cNvSpPr>
          <p:nvPr/>
        </p:nvSpPr>
        <p:spPr>
          <a:xfrm>
            <a:off x="800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8" name="Текстовый блок — текст">
            <a:extLst>
              <a:ext uri="{FF2B5EF4-FFF2-40B4-BE49-F238E27FC236}">
                <a16:creationId xmlns:a16="http://schemas.microsoft.com/office/drawing/2014/main" id="{AC333327-0196-4226-8AE6-135E26DFFEF0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79248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9" name="Список — заголовок">
            <a:extLst>
              <a:ext uri="{FF2B5EF4-FFF2-40B4-BE49-F238E27FC236}">
                <a16:creationId xmlns:a16="http://schemas.microsoft.com/office/drawing/2014/main" id="{3C6A7525-86DB-4554-B760-371C8510005B}"/>
              </a:ext>
            </a:extLst>
          </p:cNvPr>
          <p:cNvSpPr>
            <a:spLocks noGrp="1"/>
          </p:cNvSpPr>
          <p:nvPr/>
        </p:nvSpPr>
        <p:spPr>
          <a:xfrm>
            <a:off x="9563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0" name="Список — вводная">
            <a:extLst>
              <a:ext uri="{FF2B5EF4-FFF2-40B4-BE49-F238E27FC236}">
                <a16:creationId xmlns:a16="http://schemas.microsoft.com/office/drawing/2014/main" id="{EDD98C9F-4A8D-400A-82D5-F1B2EB5BE324}"/>
              </a:ext>
            </a:extLst>
          </p:cNvPr>
          <p:cNvSpPr>
            <a:spLocks noGrp="1"/>
          </p:cNvSpPr>
          <p:nvPr/>
        </p:nvSpPr>
        <p:spPr>
          <a:xfrm>
            <a:off x="9563100" y="3848100"/>
            <a:ext cx="7924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11" name="Список — пункты">
            <a:extLst>
              <a:ext uri="{FF2B5EF4-FFF2-40B4-BE49-F238E27FC236}">
                <a16:creationId xmlns:a16="http://schemas.microsoft.com/office/drawing/2014/main" id="{F442EF30-93C7-4546-9525-C1AA3D745C53}"/>
              </a:ext>
            </a:extLst>
          </p:cNvPr>
          <p:cNvSpPr>
            <a:spLocks noGrp="1"/>
          </p:cNvSpPr>
          <p:nvPr/>
        </p:nvSpPr>
        <p:spPr>
          <a:xfrm>
            <a:off x="9715500" y="4933950"/>
            <a:ext cx="7620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5"/>
          <a:stretch/>
        </p:blipFill>
        <p:spPr>
          <a:xfrm rot="879000">
            <a:off x="14963775" y="1371600"/>
            <a:ext cx="2276475" cy="2276475"/>
          </a:xfrm>
          <a:prstGeom prst="rect">
            <a:avLst/>
          </a:prstGeom>
        </p:spPr>
      </p:pic>
      <p:pic>
        <p:nvPicPr>
          <p:cNvPr id="33" name="Рисунок 3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095875" y="6562725"/>
            <a:ext cx="4467225" cy="3724275"/>
          </a:xfrm>
          <a:prstGeom prst="rect">
            <a:avLst/>
          </a:prstGeom>
        </p:spPr>
      </p:pic>
      <p:pic>
        <p:nvPicPr>
          <p:cNvPr id="34" name="Рисунок 3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82379" y="9186863"/>
            <a:ext cx="2083242" cy="623888"/>
          </a:xfrm>
          <a:prstGeom prst="rect">
            <a:avLst/>
          </a:prstGeom>
        </p:spPr>
      </p:pic>
      <p:sp>
        <p:nvSpPr>
          <p:cNvPr id="15" name="Номер страницы">
            <a:extLst>
              <a:ext uri="{FF2B5EF4-FFF2-40B4-BE49-F238E27FC236}">
                <a16:creationId xmlns:a16="http://schemas.microsoft.com/office/drawing/2014/main" id="{8CB3DCAF-5969-49CE-B198-E4C5CEA31C56}"/>
              </a:ext>
            </a:extLst>
          </p:cNvPr>
          <p:cNvSpPr>
            <a:spLocks noGrp="1"/>
          </p:cNvSpPr>
          <p:nvPr/>
        </p:nvSpPr>
        <p:spPr>
          <a:xfrm>
            <a:off x="16859250" y="94678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 b="0"/>
              <a:t>47</a:t>
            </a:r>
          </a:p>
        </p:txBody>
      </p:sp>
      <p:pic>
        <p:nvPicPr>
          <p:cNvPr id="35" name="Picture 34" descr="attrib_07_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7754" y="2514600"/>
            <a:ext cx="13732490" cy="6537960"/>
          </a:xfrm>
          <a:prstGeom prst="rect">
            <a:avLst/>
          </a:prstGeom>
        </p:spPr>
      </p:pic>
      <p:pic>
        <p:nvPicPr>
          <p:cNvPr id="36" name="Picture 35" descr="hood_02_trai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550" y="2514600"/>
            <a:ext cx="16344900" cy="653796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62800" y="1933575"/>
            <a:ext cx="8715375" cy="8353425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190601" y="504825"/>
            <a:ext cx="2876741" cy="2876741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5395519" y="6967442"/>
            <a:ext cx="2688194" cy="3191637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4892528" y="1556671"/>
            <a:ext cx="2344484" cy="2344484"/>
          </a:xfrm>
          <a:prstGeom prst="rect">
            <a:avLst/>
          </a:prstGeom>
        </p:spPr>
      </p:pic>
      <p:sp>
        <p:nvSpPr>
          <p:cNvPr id="6" name="Заголовок">
            <a:extLst>
              <a:ext uri="{FF2B5EF4-FFF2-40B4-BE49-F238E27FC236}">
                <a16:creationId xmlns:a16="http://schemas.microsoft.com/office/drawing/2014/main" id="{498BBE52-B56A-4F73-8565-575347066D87}"/>
              </a:ext>
            </a:extLst>
          </p:cNvPr>
          <p:cNvSpPr>
            <a:spLocks noGrp="1"/>
          </p:cNvSpPr>
          <p:nvPr/>
        </p:nvSpPr>
        <p:spPr>
          <a:xfrm>
            <a:off x="476250" y="2895600"/>
            <a:ext cx="7429500" cy="2171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300" b="0">
                <a:solidFill>
                  <a:srgbClr val="3A3A3A"/>
                </a:solidFill>
                <a:latin typeface="X5 Sans Medium"/>
              </a:rPr>
              <a:t>Вклад касания = ΔP(конверсии): с касанием против без</a:t>
            </a:r>
          </a:p>
        </p:txBody>
      </p:sp>
      <p:sp>
        <p:nvSpPr>
          <p:cNvPr id="7" name="Пояснение">
            <a:extLst>
              <a:ext uri="{FF2B5EF4-FFF2-40B4-BE49-F238E27FC236}">
                <a16:creationId xmlns:a16="http://schemas.microsoft.com/office/drawing/2014/main" id="{7FDFA29B-3B26-457E-8F99-F72D6D317D5E}"/>
              </a:ext>
            </a:extLst>
          </p:cNvPr>
          <p:cNvSpPr>
            <a:spLocks noGrp="1"/>
          </p:cNvSpPr>
          <p:nvPr/>
        </p:nvSpPr>
        <p:spPr>
          <a:xfrm>
            <a:off x="476250" y="5307626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600" b="0">
                <a:solidFill>
                  <a:srgbClr val="3A3A3A"/>
                </a:solidFill>
                <a:latin typeface="X5 Sans Medium"/>
              </a:rPr>
              <a:t>Обучаем P(конверсия | цепочка); убрали касание — пересчитали; разница прогнозов = вклад</a:t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77115" y="476250"/>
            <a:ext cx="1034305" cy="929926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027176" y="907322"/>
            <a:ext cx="453200" cy="500408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499806" y="907592"/>
            <a:ext cx="376904" cy="508821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2076846" y="886682"/>
            <a:ext cx="2050036" cy="675418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Рисунок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Текстовый блок">
            <a:extLst>
              <a:ext uri="{FF2B5EF4-FFF2-40B4-BE49-F238E27FC236}">
                <a16:creationId xmlns:a16="http://schemas.microsoft.com/office/drawing/2014/main" id="{83BF2DA4-8395-4896-98A1-EE8ADF637024}"/>
              </a:ext>
            </a:extLst>
          </p:cNvPr>
          <p:cNvSpPr>
            <a:spLocks noGrp="1"/>
          </p:cNvSpPr>
          <p:nvPr/>
        </p:nvSpPr>
        <p:spPr>
          <a:xfrm>
            <a:off x="476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Список">
            <a:extLst>
              <a:ext uri="{FF2B5EF4-FFF2-40B4-BE49-F238E27FC236}">
                <a16:creationId xmlns:a16="http://schemas.microsoft.com/office/drawing/2014/main" id="{EE991465-5A34-4773-A228-4F61ECBBE8E6}"/>
              </a:ext>
            </a:extLst>
          </p:cNvPr>
          <p:cNvSpPr>
            <a:spLocks noGrp="1"/>
          </p:cNvSpPr>
          <p:nvPr/>
        </p:nvSpPr>
        <p:spPr>
          <a:xfrm>
            <a:off x="9239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Заголовок">
            <a:extLst>
              <a:ext uri="{FF2B5EF4-FFF2-40B4-BE49-F238E27FC236}">
                <a16:creationId xmlns:a16="http://schemas.microsoft.com/office/drawing/2014/main" id="{70B4469F-6CF4-4B36-8D14-80B170FE0D58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700" b="0">
                <a:solidFill>
                  <a:srgbClr val="3A3A3A"/>
                </a:solidFill>
                <a:latin typeface="X5 Sans Medium"/>
              </a:rPr>
              <a:t>Вклад касания = разница прогнозов</a:t>
            </a:r>
          </a:p>
        </p:txBody>
      </p:sp>
      <p:sp>
        <p:nvSpPr>
          <p:cNvPr id="6" name="Подзаголовок">
            <a:extLst>
              <a:ext uri="{FF2B5EF4-FFF2-40B4-BE49-F238E27FC236}">
                <a16:creationId xmlns:a16="http://schemas.microsoft.com/office/drawing/2014/main" id="{EADA99A8-63FD-4201-8FB7-7752A0FD2CE4}"/>
              </a:ext>
            </a:extLst>
          </p:cNvPr>
          <p:cNvSpPr>
            <a:spLocks noGrp="1"/>
          </p:cNvSpPr>
          <p:nvPr/>
        </p:nvSpPr>
        <p:spPr>
          <a:xfrm>
            <a:off x="476250" y="1485900"/>
            <a:ext cx="857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0">
                <a:solidFill>
                  <a:srgbClr val="3A3A3A"/>
                </a:solidFill>
                <a:latin typeface="X5 Sans"/>
              </a:rPr>
              <a:t>Бренд почти не меняет прогноз (перехватчик), медийка поднимает вероятность в разы</a:t>
            </a:r>
          </a:p>
        </p:txBody>
      </p:sp>
      <p:sp>
        <p:nvSpPr>
          <p:cNvPr id="7" name="Текстовый блок — заголовок">
            <a:extLst>
              <a:ext uri="{FF2B5EF4-FFF2-40B4-BE49-F238E27FC236}">
                <a16:creationId xmlns:a16="http://schemas.microsoft.com/office/drawing/2014/main" id="{60D8FFDF-B59C-4B0A-8CBE-3EF79B76F9B8}"/>
              </a:ext>
            </a:extLst>
          </p:cNvPr>
          <p:cNvSpPr>
            <a:spLocks noGrp="1"/>
          </p:cNvSpPr>
          <p:nvPr/>
        </p:nvSpPr>
        <p:spPr>
          <a:xfrm>
            <a:off x="800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8" name="Текстовый блок — текст">
            <a:extLst>
              <a:ext uri="{FF2B5EF4-FFF2-40B4-BE49-F238E27FC236}">
                <a16:creationId xmlns:a16="http://schemas.microsoft.com/office/drawing/2014/main" id="{AC333327-0196-4226-8AE6-135E26DFFEF0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79248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9" name="Список — заголовок">
            <a:extLst>
              <a:ext uri="{FF2B5EF4-FFF2-40B4-BE49-F238E27FC236}">
                <a16:creationId xmlns:a16="http://schemas.microsoft.com/office/drawing/2014/main" id="{3C6A7525-86DB-4554-B760-371C8510005B}"/>
              </a:ext>
            </a:extLst>
          </p:cNvPr>
          <p:cNvSpPr>
            <a:spLocks noGrp="1"/>
          </p:cNvSpPr>
          <p:nvPr/>
        </p:nvSpPr>
        <p:spPr>
          <a:xfrm>
            <a:off x="9563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10" name="Список — вводная">
            <a:extLst>
              <a:ext uri="{FF2B5EF4-FFF2-40B4-BE49-F238E27FC236}">
                <a16:creationId xmlns:a16="http://schemas.microsoft.com/office/drawing/2014/main" id="{EDD98C9F-4A8D-400A-82D5-F1B2EB5BE324}"/>
              </a:ext>
            </a:extLst>
          </p:cNvPr>
          <p:cNvSpPr>
            <a:spLocks noGrp="1"/>
          </p:cNvSpPr>
          <p:nvPr/>
        </p:nvSpPr>
        <p:spPr>
          <a:xfrm>
            <a:off x="9563100" y="3848100"/>
            <a:ext cx="7924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11" name="Список — пункты">
            <a:extLst>
              <a:ext uri="{FF2B5EF4-FFF2-40B4-BE49-F238E27FC236}">
                <a16:creationId xmlns:a16="http://schemas.microsoft.com/office/drawing/2014/main" id="{F442EF30-93C7-4546-9525-C1AA3D745C53}"/>
              </a:ext>
            </a:extLst>
          </p:cNvPr>
          <p:cNvSpPr>
            <a:spLocks noGrp="1"/>
          </p:cNvSpPr>
          <p:nvPr/>
        </p:nvSpPr>
        <p:spPr>
          <a:xfrm>
            <a:off x="9715500" y="4933950"/>
            <a:ext cx="7620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4"/>
          <a:stretch/>
        </p:blipFill>
        <p:spPr>
          <a:xfrm rot="879000">
            <a:off x="14963775" y="1371600"/>
            <a:ext cx="2276475" cy="2276475"/>
          </a:xfrm>
          <a:prstGeom prst="rect">
            <a:avLst/>
          </a:prstGeom>
        </p:spPr>
      </p:pic>
      <p:pic>
        <p:nvPicPr>
          <p:cNvPr id="33" name="Рисунок 3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095875" y="6562725"/>
            <a:ext cx="4467225" cy="3724275"/>
          </a:xfrm>
          <a:prstGeom prst="rect">
            <a:avLst/>
          </a:prstGeom>
        </p:spPr>
      </p:pic>
      <p:pic>
        <p:nvPicPr>
          <p:cNvPr id="34" name="Рисунок 33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482379" y="9186863"/>
            <a:ext cx="2083242" cy="623888"/>
          </a:xfrm>
          <a:prstGeom prst="rect">
            <a:avLst/>
          </a:prstGeom>
        </p:spPr>
      </p:pic>
      <p:sp>
        <p:nvSpPr>
          <p:cNvPr id="15" name="Номер страницы">
            <a:extLst>
              <a:ext uri="{FF2B5EF4-FFF2-40B4-BE49-F238E27FC236}">
                <a16:creationId xmlns:a16="http://schemas.microsoft.com/office/drawing/2014/main" id="{8CB3DCAF-5969-49CE-B198-E4C5CEA31C56}"/>
              </a:ext>
            </a:extLst>
          </p:cNvPr>
          <p:cNvSpPr>
            <a:spLocks noGrp="1"/>
          </p:cNvSpPr>
          <p:nvPr/>
        </p:nvSpPr>
        <p:spPr>
          <a:xfrm>
            <a:off x="16859250" y="94678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 b="0"/>
              <a:t>49</a:t>
            </a:r>
          </a:p>
        </p:txBody>
      </p:sp>
      <p:pic>
        <p:nvPicPr>
          <p:cNvPr id="35" name="Picture 34" descr="attrib_03_dp_concep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0609" y="2514600"/>
            <a:ext cx="15786781" cy="6537960"/>
          </a:xfrm>
          <a:prstGeom prst="rect">
            <a:avLst/>
          </a:prstGeom>
        </p:spPr>
      </p:pic>
      <p:pic>
        <p:nvPicPr>
          <p:cNvPr id="36" name="Picture 35" descr="hood_03_examp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749439"/>
            <a:ext cx="18288000" cy="6788122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62800" y="1933575"/>
            <a:ext cx="8715375" cy="8353425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190601" y="504825"/>
            <a:ext cx="2876741" cy="2876741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5395519" y="6967442"/>
            <a:ext cx="2688194" cy="3191637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4892528" y="1556671"/>
            <a:ext cx="2344484" cy="2344484"/>
          </a:xfrm>
          <a:prstGeom prst="rect">
            <a:avLst/>
          </a:prstGeom>
        </p:spPr>
      </p:pic>
      <p:sp>
        <p:nvSpPr>
          <p:cNvPr id="6" name="Заголовок">
            <a:extLst>
              <a:ext uri="{FF2B5EF4-FFF2-40B4-BE49-F238E27FC236}">
                <a16:creationId xmlns:a16="http://schemas.microsoft.com/office/drawing/2014/main" id="{498BBE52-B56A-4F73-8565-575347066D87}"/>
              </a:ext>
            </a:extLst>
          </p:cNvPr>
          <p:cNvSpPr>
            <a:spLocks noGrp="1"/>
          </p:cNvSpPr>
          <p:nvPr/>
        </p:nvSpPr>
        <p:spPr>
          <a:xfrm>
            <a:off x="476250" y="2895600"/>
            <a:ext cx="7429500" cy="2171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200" b="0">
                <a:solidFill>
                  <a:srgbClr val="3A3A3A"/>
                </a:solidFill>
                <a:latin typeface="X5 Sans Medium"/>
              </a:rPr>
              <a:t>Что ML чинит против last-click</a:t>
            </a:r>
          </a:p>
        </p:txBody>
      </p:sp>
      <p:sp>
        <p:nvSpPr>
          <p:cNvPr id="7" name="Пояснение">
            <a:extLst>
              <a:ext uri="{FF2B5EF4-FFF2-40B4-BE49-F238E27FC236}">
                <a16:creationId xmlns:a16="http://schemas.microsoft.com/office/drawing/2014/main" id="{7FDFA29B-3B26-457E-8F99-F72D6D317D5E}"/>
              </a:ext>
            </a:extLst>
          </p:cNvPr>
          <p:cNvSpPr>
            <a:spLocks noGrp="1"/>
          </p:cNvSpPr>
          <p:nvPr/>
        </p:nvSpPr>
        <p:spPr>
          <a:xfrm>
            <a:off x="476250" y="5307626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77115" y="476250"/>
            <a:ext cx="1034305" cy="929926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027176" y="907322"/>
            <a:ext cx="453200" cy="500408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499806" y="907592"/>
            <a:ext cx="376904" cy="508821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2076846" y="886682"/>
            <a:ext cx="2050036" cy="675418"/>
          </a:xfrm>
          <a:prstGeom prst="rect">
            <a:avLst/>
          </a:prstGeom>
        </p:spPr>
      </p:pic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548640" y="5257800"/>
          <a:ext cx="1719072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2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38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X5 Sans"/>
                        </a:rPr>
                        <a:t>Проблема</a:t>
                      </a:r>
                    </a:p>
                  </a:txBody>
                  <a:tcPr marL="109728" marR="73152" marT="27432" marB="27432"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X5 Sans"/>
                        </a:rPr>
                        <a:t>Как обходит ML</a:t>
                      </a:r>
                    </a:p>
                  </a:txBody>
                  <a:tcPr marL="109728" marR="73152" marT="27432" marB="27432" anchor="ctr"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E2841"/>
                          </a:solidFill>
                          <a:latin typeface="X5 Sans"/>
                        </a:rPr>
                        <a:t>Кросс-девайс</a:t>
                      </a:r>
                    </a:p>
                  </a:txBody>
                  <a:tcPr marL="109728" marR="73152" marT="27432" marB="27432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E4055"/>
                          </a:solidFill>
                          <a:latin typeface="X5 Sans"/>
                        </a:rPr>
                        <a:t>сшитые профили + устройство как фича</a:t>
                      </a:r>
                    </a:p>
                  </a:txBody>
                  <a:tcPr marL="109728" marR="73152" marT="27432" marB="27432" anchor="ctr"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E2841"/>
                          </a:solidFill>
                          <a:latin typeface="X5 Sans"/>
                        </a:rPr>
                        <a:t>View-through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E4055"/>
                          </a:solidFill>
                          <a:latin typeface="X5 Sans"/>
                        </a:rPr>
                        <a:t>показы — полноценные касания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E2841"/>
                          </a:solidFill>
                          <a:latin typeface="X5 Sans"/>
                        </a:rPr>
                        <a:t>Запоздалая конверсия</a:t>
                      </a:r>
                    </a:p>
                  </a:txBody>
                  <a:tcPr marL="109728" marR="73152" marT="27432" marB="27432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E4055"/>
                          </a:solidFill>
                          <a:latin typeface="X5 Sans"/>
                        </a:rPr>
                        <a:t>вся история касаний с временами</a:t>
                      </a:r>
                    </a:p>
                  </a:txBody>
                  <a:tcPr marL="109728" marR="73152" marT="27432" marB="27432" anchor="ctr"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E2841"/>
                          </a:solidFill>
                          <a:latin typeface="X5 Sans"/>
                        </a:rPr>
                        <a:t>Перехват брендом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E4055"/>
                          </a:solidFill>
                          <a:latin typeface="X5 Sans"/>
                        </a:rPr>
                        <a:t>ΔP обнуляет мнимый вклад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E2841"/>
                          </a:solidFill>
                          <a:latin typeface="X5 Sans"/>
                        </a:rPr>
                        <a:t>Веса с потолка</a:t>
                      </a:r>
                    </a:p>
                  </a:txBody>
                  <a:tcPr marL="109728" marR="73152" marT="27432" marB="27432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E4055"/>
                          </a:solidFill>
                          <a:latin typeface="X5 Sans"/>
                        </a:rPr>
                        <a:t>измеренное влияние на вероятность</a:t>
                      </a:r>
                    </a:p>
                  </a:txBody>
                  <a:tcPr marL="109728" marR="73152" marT="27432" marB="27432" anchor="ctr"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Текстовый блок">
            <a:extLst>
              <a:ext uri="{FF2B5EF4-FFF2-40B4-BE49-F238E27FC236}">
                <a16:creationId xmlns:a16="http://schemas.microsoft.com/office/drawing/2014/main" id="{83BF2DA4-8395-4896-98A1-EE8ADF637024}"/>
              </a:ext>
            </a:extLst>
          </p:cNvPr>
          <p:cNvSpPr>
            <a:spLocks noGrp="1"/>
          </p:cNvSpPr>
          <p:nvPr/>
        </p:nvSpPr>
        <p:spPr>
          <a:xfrm>
            <a:off x="476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Список">
            <a:extLst>
              <a:ext uri="{FF2B5EF4-FFF2-40B4-BE49-F238E27FC236}">
                <a16:creationId xmlns:a16="http://schemas.microsoft.com/office/drawing/2014/main" id="{EE991465-5A34-4773-A228-4F61ECBBE8E6}"/>
              </a:ext>
            </a:extLst>
          </p:cNvPr>
          <p:cNvSpPr>
            <a:spLocks noGrp="1"/>
          </p:cNvSpPr>
          <p:nvPr/>
        </p:nvSpPr>
        <p:spPr>
          <a:xfrm>
            <a:off x="9239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Заголовок">
            <a:extLst>
              <a:ext uri="{FF2B5EF4-FFF2-40B4-BE49-F238E27FC236}">
                <a16:creationId xmlns:a16="http://schemas.microsoft.com/office/drawing/2014/main" id="{70B4469F-6CF4-4B36-8D14-80B170FE0D58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100" b="0">
                <a:solidFill>
                  <a:srgbClr val="3A3A3A"/>
                </a:solidFill>
                <a:latin typeface="X5 Sans Medium"/>
              </a:rPr>
              <a:t>Вектор Шепли: делёж без «с потолка»</a:t>
            </a:r>
          </a:p>
        </p:txBody>
      </p:sp>
      <p:sp>
        <p:nvSpPr>
          <p:cNvPr id="6" name="Подзаголовок">
            <a:extLst>
              <a:ext uri="{FF2B5EF4-FFF2-40B4-BE49-F238E27FC236}">
                <a16:creationId xmlns:a16="http://schemas.microsoft.com/office/drawing/2014/main" id="{EADA99A8-63FD-4201-8FB7-7752A0FD2CE4}"/>
              </a:ext>
            </a:extLst>
          </p:cNvPr>
          <p:cNvSpPr>
            <a:spLocks noGrp="1"/>
          </p:cNvSpPr>
          <p:nvPr/>
        </p:nvSpPr>
        <p:spPr>
          <a:xfrm>
            <a:off x="476250" y="1485900"/>
            <a:ext cx="857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0">
                <a:solidFill>
                  <a:srgbClr val="3A3A3A"/>
                </a:solidFill>
                <a:latin typeface="X5 Sans"/>
              </a:rPr>
              <a:t>Вклад канала — среднее по всем коалициям с ним и без неё (по лекции Антона Акимова)</a:t>
            </a:r>
          </a:p>
        </p:txBody>
      </p:sp>
      <p:sp>
        <p:nvSpPr>
          <p:cNvPr id="7" name="Текстовый блок — заголовок">
            <a:extLst>
              <a:ext uri="{FF2B5EF4-FFF2-40B4-BE49-F238E27FC236}">
                <a16:creationId xmlns:a16="http://schemas.microsoft.com/office/drawing/2014/main" id="{60D8FFDF-B59C-4B0A-8CBE-3EF79B76F9B8}"/>
              </a:ext>
            </a:extLst>
          </p:cNvPr>
          <p:cNvSpPr>
            <a:spLocks noGrp="1"/>
          </p:cNvSpPr>
          <p:nvPr/>
        </p:nvSpPr>
        <p:spPr>
          <a:xfrm>
            <a:off x="800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8" name="Текстовый блок — текст">
            <a:extLst>
              <a:ext uri="{FF2B5EF4-FFF2-40B4-BE49-F238E27FC236}">
                <a16:creationId xmlns:a16="http://schemas.microsoft.com/office/drawing/2014/main" id="{AC333327-0196-4226-8AE6-135E26DFFEF0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79248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9" name="Список — заголовок">
            <a:extLst>
              <a:ext uri="{FF2B5EF4-FFF2-40B4-BE49-F238E27FC236}">
                <a16:creationId xmlns:a16="http://schemas.microsoft.com/office/drawing/2014/main" id="{3C6A7525-86DB-4554-B760-371C8510005B}"/>
              </a:ext>
            </a:extLst>
          </p:cNvPr>
          <p:cNvSpPr>
            <a:spLocks noGrp="1"/>
          </p:cNvSpPr>
          <p:nvPr/>
        </p:nvSpPr>
        <p:spPr>
          <a:xfrm>
            <a:off x="9563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10" name="Список — вводная">
            <a:extLst>
              <a:ext uri="{FF2B5EF4-FFF2-40B4-BE49-F238E27FC236}">
                <a16:creationId xmlns:a16="http://schemas.microsoft.com/office/drawing/2014/main" id="{EDD98C9F-4A8D-400A-82D5-F1B2EB5BE324}"/>
              </a:ext>
            </a:extLst>
          </p:cNvPr>
          <p:cNvSpPr>
            <a:spLocks noGrp="1"/>
          </p:cNvSpPr>
          <p:nvPr/>
        </p:nvSpPr>
        <p:spPr>
          <a:xfrm>
            <a:off x="9563100" y="3848100"/>
            <a:ext cx="7924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11" name="Список — пункты">
            <a:extLst>
              <a:ext uri="{FF2B5EF4-FFF2-40B4-BE49-F238E27FC236}">
                <a16:creationId xmlns:a16="http://schemas.microsoft.com/office/drawing/2014/main" id="{F442EF30-93C7-4546-9525-C1AA3D745C53}"/>
              </a:ext>
            </a:extLst>
          </p:cNvPr>
          <p:cNvSpPr>
            <a:spLocks noGrp="1"/>
          </p:cNvSpPr>
          <p:nvPr/>
        </p:nvSpPr>
        <p:spPr>
          <a:xfrm>
            <a:off x="9715500" y="4933950"/>
            <a:ext cx="7620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5"/>
          <a:stretch/>
        </p:blipFill>
        <p:spPr>
          <a:xfrm rot="879000">
            <a:off x="14963775" y="1371600"/>
            <a:ext cx="2276475" cy="2276475"/>
          </a:xfrm>
          <a:prstGeom prst="rect">
            <a:avLst/>
          </a:prstGeom>
        </p:spPr>
      </p:pic>
      <p:pic>
        <p:nvPicPr>
          <p:cNvPr id="33" name="Рисунок 3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095875" y="6562725"/>
            <a:ext cx="4467225" cy="3724275"/>
          </a:xfrm>
          <a:prstGeom prst="rect">
            <a:avLst/>
          </a:prstGeom>
        </p:spPr>
      </p:pic>
      <p:pic>
        <p:nvPicPr>
          <p:cNvPr id="34" name="Рисунок 33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82379" y="9186863"/>
            <a:ext cx="2083242" cy="623888"/>
          </a:xfrm>
          <a:prstGeom prst="rect">
            <a:avLst/>
          </a:prstGeom>
        </p:spPr>
      </p:pic>
      <p:sp>
        <p:nvSpPr>
          <p:cNvPr id="15" name="Номер страницы">
            <a:extLst>
              <a:ext uri="{FF2B5EF4-FFF2-40B4-BE49-F238E27FC236}">
                <a16:creationId xmlns:a16="http://schemas.microsoft.com/office/drawing/2014/main" id="{8CB3DCAF-5969-49CE-B198-E4C5CEA31C56}"/>
              </a:ext>
            </a:extLst>
          </p:cNvPr>
          <p:cNvSpPr>
            <a:spLocks noGrp="1"/>
          </p:cNvSpPr>
          <p:nvPr/>
        </p:nvSpPr>
        <p:spPr>
          <a:xfrm>
            <a:off x="16859250" y="94678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 b="0"/>
              <a:t>51</a:t>
            </a:r>
          </a:p>
        </p:txBody>
      </p:sp>
      <p:pic>
        <p:nvPicPr>
          <p:cNvPr id="35" name="Picture 34" descr="akimov2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31625" y="2514600"/>
            <a:ext cx="11624749" cy="653796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Текстовый блок">
            <a:extLst>
              <a:ext uri="{FF2B5EF4-FFF2-40B4-BE49-F238E27FC236}">
                <a16:creationId xmlns:a16="http://schemas.microsoft.com/office/drawing/2014/main" id="{83BF2DA4-8395-4896-98A1-EE8ADF637024}"/>
              </a:ext>
            </a:extLst>
          </p:cNvPr>
          <p:cNvSpPr>
            <a:spLocks noGrp="1"/>
          </p:cNvSpPr>
          <p:nvPr/>
        </p:nvSpPr>
        <p:spPr>
          <a:xfrm>
            <a:off x="476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Список">
            <a:extLst>
              <a:ext uri="{FF2B5EF4-FFF2-40B4-BE49-F238E27FC236}">
                <a16:creationId xmlns:a16="http://schemas.microsoft.com/office/drawing/2014/main" id="{EE991465-5A34-4773-A228-4F61ECBBE8E6}"/>
              </a:ext>
            </a:extLst>
          </p:cNvPr>
          <p:cNvSpPr>
            <a:spLocks noGrp="1"/>
          </p:cNvSpPr>
          <p:nvPr/>
        </p:nvSpPr>
        <p:spPr>
          <a:xfrm>
            <a:off x="9239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Заголовок">
            <a:extLst>
              <a:ext uri="{FF2B5EF4-FFF2-40B4-BE49-F238E27FC236}">
                <a16:creationId xmlns:a16="http://schemas.microsoft.com/office/drawing/2014/main" id="{70B4469F-6CF4-4B36-8D14-80B170FE0D58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700" b="0">
                <a:solidFill>
                  <a:srgbClr val="3A3A3A"/>
                </a:solidFill>
                <a:latin typeface="X5 Sans Medium"/>
              </a:rPr>
              <a:t>Пример Шепли на двух цепочках</a:t>
            </a:r>
          </a:p>
        </p:txBody>
      </p:sp>
      <p:sp>
        <p:nvSpPr>
          <p:cNvPr id="6" name="Подзаголовок">
            <a:extLst>
              <a:ext uri="{FF2B5EF4-FFF2-40B4-BE49-F238E27FC236}">
                <a16:creationId xmlns:a16="http://schemas.microsoft.com/office/drawing/2014/main" id="{EADA99A8-63FD-4201-8FB7-7752A0FD2CE4}"/>
              </a:ext>
            </a:extLst>
          </p:cNvPr>
          <p:cNvSpPr>
            <a:spLocks noGrp="1"/>
          </p:cNvSpPr>
          <p:nvPr/>
        </p:nvSpPr>
        <p:spPr>
          <a:xfrm>
            <a:off x="476250" y="1485900"/>
            <a:ext cx="857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0">
                <a:solidFill>
                  <a:srgbClr val="3A3A3A"/>
                </a:solidFill>
                <a:latin typeface="X5 Sans"/>
              </a:rPr>
              <a:t>Перебираем коалиции каналов на реальных путях и усредняем вклады — получается честный делёж</a:t>
            </a:r>
          </a:p>
        </p:txBody>
      </p:sp>
      <p:sp>
        <p:nvSpPr>
          <p:cNvPr id="7" name="Текстовый блок — заголовок">
            <a:extLst>
              <a:ext uri="{FF2B5EF4-FFF2-40B4-BE49-F238E27FC236}">
                <a16:creationId xmlns:a16="http://schemas.microsoft.com/office/drawing/2014/main" id="{60D8FFDF-B59C-4B0A-8CBE-3EF79B76F9B8}"/>
              </a:ext>
            </a:extLst>
          </p:cNvPr>
          <p:cNvSpPr>
            <a:spLocks noGrp="1"/>
          </p:cNvSpPr>
          <p:nvPr/>
        </p:nvSpPr>
        <p:spPr>
          <a:xfrm>
            <a:off x="800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8" name="Текстовый блок — текст">
            <a:extLst>
              <a:ext uri="{FF2B5EF4-FFF2-40B4-BE49-F238E27FC236}">
                <a16:creationId xmlns:a16="http://schemas.microsoft.com/office/drawing/2014/main" id="{AC333327-0196-4226-8AE6-135E26DFFEF0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79248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9" name="Список — заголовок">
            <a:extLst>
              <a:ext uri="{FF2B5EF4-FFF2-40B4-BE49-F238E27FC236}">
                <a16:creationId xmlns:a16="http://schemas.microsoft.com/office/drawing/2014/main" id="{3C6A7525-86DB-4554-B760-371C8510005B}"/>
              </a:ext>
            </a:extLst>
          </p:cNvPr>
          <p:cNvSpPr>
            <a:spLocks noGrp="1"/>
          </p:cNvSpPr>
          <p:nvPr/>
        </p:nvSpPr>
        <p:spPr>
          <a:xfrm>
            <a:off x="9563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10" name="Список — вводная">
            <a:extLst>
              <a:ext uri="{FF2B5EF4-FFF2-40B4-BE49-F238E27FC236}">
                <a16:creationId xmlns:a16="http://schemas.microsoft.com/office/drawing/2014/main" id="{EDD98C9F-4A8D-400A-82D5-F1B2EB5BE324}"/>
              </a:ext>
            </a:extLst>
          </p:cNvPr>
          <p:cNvSpPr>
            <a:spLocks noGrp="1"/>
          </p:cNvSpPr>
          <p:nvPr/>
        </p:nvSpPr>
        <p:spPr>
          <a:xfrm>
            <a:off x="9563100" y="3848100"/>
            <a:ext cx="7924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11" name="Список — пункты">
            <a:extLst>
              <a:ext uri="{FF2B5EF4-FFF2-40B4-BE49-F238E27FC236}">
                <a16:creationId xmlns:a16="http://schemas.microsoft.com/office/drawing/2014/main" id="{F442EF30-93C7-4546-9525-C1AA3D745C53}"/>
              </a:ext>
            </a:extLst>
          </p:cNvPr>
          <p:cNvSpPr>
            <a:spLocks noGrp="1"/>
          </p:cNvSpPr>
          <p:nvPr/>
        </p:nvSpPr>
        <p:spPr>
          <a:xfrm>
            <a:off x="9715500" y="4933950"/>
            <a:ext cx="7620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5"/>
          <a:stretch/>
        </p:blipFill>
        <p:spPr>
          <a:xfrm rot="879000">
            <a:off x="14963775" y="1371600"/>
            <a:ext cx="2276475" cy="2276475"/>
          </a:xfrm>
          <a:prstGeom prst="rect">
            <a:avLst/>
          </a:prstGeom>
        </p:spPr>
      </p:pic>
      <p:pic>
        <p:nvPicPr>
          <p:cNvPr id="33" name="Рисунок 3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095875" y="6562725"/>
            <a:ext cx="4467225" cy="3724275"/>
          </a:xfrm>
          <a:prstGeom prst="rect">
            <a:avLst/>
          </a:prstGeom>
        </p:spPr>
      </p:pic>
      <p:pic>
        <p:nvPicPr>
          <p:cNvPr id="34" name="Рисунок 33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82379" y="9186863"/>
            <a:ext cx="2083242" cy="623888"/>
          </a:xfrm>
          <a:prstGeom prst="rect">
            <a:avLst/>
          </a:prstGeom>
        </p:spPr>
      </p:pic>
      <p:sp>
        <p:nvSpPr>
          <p:cNvPr id="15" name="Номер страницы">
            <a:extLst>
              <a:ext uri="{FF2B5EF4-FFF2-40B4-BE49-F238E27FC236}">
                <a16:creationId xmlns:a16="http://schemas.microsoft.com/office/drawing/2014/main" id="{8CB3DCAF-5969-49CE-B198-E4C5CEA31C56}"/>
              </a:ext>
            </a:extLst>
          </p:cNvPr>
          <p:cNvSpPr>
            <a:spLocks noGrp="1"/>
          </p:cNvSpPr>
          <p:nvPr/>
        </p:nvSpPr>
        <p:spPr>
          <a:xfrm>
            <a:off x="16859250" y="94678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 b="0"/>
              <a:t>52</a:t>
            </a:r>
          </a:p>
        </p:txBody>
      </p:sp>
      <p:pic>
        <p:nvPicPr>
          <p:cNvPr id="35" name="Picture 34" descr="akimov2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31625" y="2514600"/>
            <a:ext cx="11624749" cy="653796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Текстовый блок">
            <a:extLst>
              <a:ext uri="{FF2B5EF4-FFF2-40B4-BE49-F238E27FC236}">
                <a16:creationId xmlns:a16="http://schemas.microsoft.com/office/drawing/2014/main" id="{83BF2DA4-8395-4896-98A1-EE8ADF637024}"/>
              </a:ext>
            </a:extLst>
          </p:cNvPr>
          <p:cNvSpPr>
            <a:spLocks noGrp="1"/>
          </p:cNvSpPr>
          <p:nvPr/>
        </p:nvSpPr>
        <p:spPr>
          <a:xfrm>
            <a:off x="476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Список">
            <a:extLst>
              <a:ext uri="{FF2B5EF4-FFF2-40B4-BE49-F238E27FC236}">
                <a16:creationId xmlns:a16="http://schemas.microsoft.com/office/drawing/2014/main" id="{EE991465-5A34-4773-A228-4F61ECBBE8E6}"/>
              </a:ext>
            </a:extLst>
          </p:cNvPr>
          <p:cNvSpPr>
            <a:spLocks noGrp="1"/>
          </p:cNvSpPr>
          <p:nvPr/>
        </p:nvSpPr>
        <p:spPr>
          <a:xfrm>
            <a:off x="9239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Заголовок">
            <a:extLst>
              <a:ext uri="{FF2B5EF4-FFF2-40B4-BE49-F238E27FC236}">
                <a16:creationId xmlns:a16="http://schemas.microsoft.com/office/drawing/2014/main" id="{70B4469F-6CF4-4B36-8D14-80B170FE0D58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100" b="0">
                <a:solidFill>
                  <a:srgbClr val="3A3A3A"/>
                </a:solidFill>
                <a:latin typeface="X5 Sans Medium"/>
              </a:rPr>
              <a:t>Цепи Маркова: вклад = remove effect</a:t>
            </a:r>
          </a:p>
        </p:txBody>
      </p:sp>
      <p:sp>
        <p:nvSpPr>
          <p:cNvPr id="6" name="Подзаголовок">
            <a:extLst>
              <a:ext uri="{FF2B5EF4-FFF2-40B4-BE49-F238E27FC236}">
                <a16:creationId xmlns:a16="http://schemas.microsoft.com/office/drawing/2014/main" id="{EADA99A8-63FD-4201-8FB7-7752A0FD2CE4}"/>
              </a:ext>
            </a:extLst>
          </p:cNvPr>
          <p:cNvSpPr>
            <a:spLocks noGrp="1"/>
          </p:cNvSpPr>
          <p:nvPr/>
        </p:nvSpPr>
        <p:spPr>
          <a:xfrm>
            <a:off x="476250" y="1485900"/>
            <a:ext cx="857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0">
                <a:solidFill>
                  <a:srgbClr val="3A3A3A"/>
                </a:solidFill>
                <a:latin typeface="X5 Sans"/>
              </a:rPr>
              <a:t>Граф переходов между каналами; вклад — насколько падает вероятность конверсии без этого канала</a:t>
            </a:r>
          </a:p>
        </p:txBody>
      </p:sp>
      <p:sp>
        <p:nvSpPr>
          <p:cNvPr id="7" name="Текстовый блок — заголовок">
            <a:extLst>
              <a:ext uri="{FF2B5EF4-FFF2-40B4-BE49-F238E27FC236}">
                <a16:creationId xmlns:a16="http://schemas.microsoft.com/office/drawing/2014/main" id="{60D8FFDF-B59C-4B0A-8CBE-3EF79B76F9B8}"/>
              </a:ext>
            </a:extLst>
          </p:cNvPr>
          <p:cNvSpPr>
            <a:spLocks noGrp="1"/>
          </p:cNvSpPr>
          <p:nvPr/>
        </p:nvSpPr>
        <p:spPr>
          <a:xfrm>
            <a:off x="800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8" name="Текстовый блок — текст">
            <a:extLst>
              <a:ext uri="{FF2B5EF4-FFF2-40B4-BE49-F238E27FC236}">
                <a16:creationId xmlns:a16="http://schemas.microsoft.com/office/drawing/2014/main" id="{AC333327-0196-4226-8AE6-135E26DFFEF0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79248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9" name="Список — заголовок">
            <a:extLst>
              <a:ext uri="{FF2B5EF4-FFF2-40B4-BE49-F238E27FC236}">
                <a16:creationId xmlns:a16="http://schemas.microsoft.com/office/drawing/2014/main" id="{3C6A7525-86DB-4554-B760-371C8510005B}"/>
              </a:ext>
            </a:extLst>
          </p:cNvPr>
          <p:cNvSpPr>
            <a:spLocks noGrp="1"/>
          </p:cNvSpPr>
          <p:nvPr/>
        </p:nvSpPr>
        <p:spPr>
          <a:xfrm>
            <a:off x="9563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10" name="Список — вводная">
            <a:extLst>
              <a:ext uri="{FF2B5EF4-FFF2-40B4-BE49-F238E27FC236}">
                <a16:creationId xmlns:a16="http://schemas.microsoft.com/office/drawing/2014/main" id="{EDD98C9F-4A8D-400A-82D5-F1B2EB5BE324}"/>
              </a:ext>
            </a:extLst>
          </p:cNvPr>
          <p:cNvSpPr>
            <a:spLocks noGrp="1"/>
          </p:cNvSpPr>
          <p:nvPr/>
        </p:nvSpPr>
        <p:spPr>
          <a:xfrm>
            <a:off x="9563100" y="3848100"/>
            <a:ext cx="7924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11" name="Список — пункты">
            <a:extLst>
              <a:ext uri="{FF2B5EF4-FFF2-40B4-BE49-F238E27FC236}">
                <a16:creationId xmlns:a16="http://schemas.microsoft.com/office/drawing/2014/main" id="{F442EF30-93C7-4546-9525-C1AA3D745C53}"/>
              </a:ext>
            </a:extLst>
          </p:cNvPr>
          <p:cNvSpPr>
            <a:spLocks noGrp="1"/>
          </p:cNvSpPr>
          <p:nvPr/>
        </p:nvSpPr>
        <p:spPr>
          <a:xfrm>
            <a:off x="9715500" y="4933950"/>
            <a:ext cx="7620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5"/>
          <a:stretch/>
        </p:blipFill>
        <p:spPr>
          <a:xfrm rot="879000">
            <a:off x="14963775" y="1371600"/>
            <a:ext cx="2276475" cy="2276475"/>
          </a:xfrm>
          <a:prstGeom prst="rect">
            <a:avLst/>
          </a:prstGeom>
        </p:spPr>
      </p:pic>
      <p:pic>
        <p:nvPicPr>
          <p:cNvPr id="33" name="Рисунок 3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095875" y="6562725"/>
            <a:ext cx="4467225" cy="3724275"/>
          </a:xfrm>
          <a:prstGeom prst="rect">
            <a:avLst/>
          </a:prstGeom>
        </p:spPr>
      </p:pic>
      <p:pic>
        <p:nvPicPr>
          <p:cNvPr id="34" name="Рисунок 33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82379" y="9186863"/>
            <a:ext cx="2083242" cy="623888"/>
          </a:xfrm>
          <a:prstGeom prst="rect">
            <a:avLst/>
          </a:prstGeom>
        </p:spPr>
      </p:pic>
      <p:sp>
        <p:nvSpPr>
          <p:cNvPr id="15" name="Номер страницы">
            <a:extLst>
              <a:ext uri="{FF2B5EF4-FFF2-40B4-BE49-F238E27FC236}">
                <a16:creationId xmlns:a16="http://schemas.microsoft.com/office/drawing/2014/main" id="{8CB3DCAF-5969-49CE-B198-E4C5CEA31C56}"/>
              </a:ext>
            </a:extLst>
          </p:cNvPr>
          <p:cNvSpPr>
            <a:spLocks noGrp="1"/>
          </p:cNvSpPr>
          <p:nvPr/>
        </p:nvSpPr>
        <p:spPr>
          <a:xfrm>
            <a:off x="16859250" y="94678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 b="0"/>
              <a:t>53</a:t>
            </a:r>
          </a:p>
        </p:txBody>
      </p:sp>
      <p:pic>
        <p:nvPicPr>
          <p:cNvPr id="35" name="Picture 34" descr="akimov2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31625" y="2514600"/>
            <a:ext cx="11624749" cy="653796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Текстовый блок">
            <a:extLst>
              <a:ext uri="{FF2B5EF4-FFF2-40B4-BE49-F238E27FC236}">
                <a16:creationId xmlns:a16="http://schemas.microsoft.com/office/drawing/2014/main" id="{83BF2DA4-8395-4896-98A1-EE8ADF637024}"/>
              </a:ext>
            </a:extLst>
          </p:cNvPr>
          <p:cNvSpPr>
            <a:spLocks noGrp="1"/>
          </p:cNvSpPr>
          <p:nvPr/>
        </p:nvSpPr>
        <p:spPr>
          <a:xfrm>
            <a:off x="476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Список">
            <a:extLst>
              <a:ext uri="{FF2B5EF4-FFF2-40B4-BE49-F238E27FC236}">
                <a16:creationId xmlns:a16="http://schemas.microsoft.com/office/drawing/2014/main" id="{EE991465-5A34-4773-A228-4F61ECBBE8E6}"/>
              </a:ext>
            </a:extLst>
          </p:cNvPr>
          <p:cNvSpPr>
            <a:spLocks noGrp="1"/>
          </p:cNvSpPr>
          <p:nvPr/>
        </p:nvSpPr>
        <p:spPr>
          <a:xfrm>
            <a:off x="9239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Заголовок">
            <a:extLst>
              <a:ext uri="{FF2B5EF4-FFF2-40B4-BE49-F238E27FC236}">
                <a16:creationId xmlns:a16="http://schemas.microsoft.com/office/drawing/2014/main" id="{70B4469F-6CF4-4B36-8D14-80B170FE0D58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100" b="0">
                <a:solidFill>
                  <a:srgbClr val="3A3A3A"/>
                </a:solidFill>
                <a:latin typeface="X5 Sans Medium"/>
              </a:rPr>
              <a:t>Симуляция 1 · бренд только перехватывает</a:t>
            </a:r>
          </a:p>
        </p:txBody>
      </p:sp>
      <p:sp>
        <p:nvSpPr>
          <p:cNvPr id="6" name="Подзаголовок">
            <a:extLst>
              <a:ext uri="{FF2B5EF4-FFF2-40B4-BE49-F238E27FC236}">
                <a16:creationId xmlns:a16="http://schemas.microsoft.com/office/drawing/2014/main" id="{EADA99A8-63FD-4201-8FB7-7752A0FD2CE4}"/>
              </a:ext>
            </a:extLst>
          </p:cNvPr>
          <p:cNvSpPr>
            <a:spLocks noGrp="1"/>
          </p:cNvSpPr>
          <p:nvPr/>
        </p:nvSpPr>
        <p:spPr>
          <a:xfrm>
            <a:off x="476250" y="1485900"/>
            <a:ext cx="857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0">
                <a:solidFill>
                  <a:srgbClr val="3A3A3A"/>
                </a:solidFill>
                <a:latin typeface="X5 Sans"/>
              </a:rPr>
              <a:t>Бренд-контекст: 46% в last-click против 12% в ML — треть «заслуг» это перехват чужих путей</a:t>
            </a:r>
          </a:p>
        </p:txBody>
      </p:sp>
      <p:sp>
        <p:nvSpPr>
          <p:cNvPr id="7" name="Текстовый блок — заголовок">
            <a:extLst>
              <a:ext uri="{FF2B5EF4-FFF2-40B4-BE49-F238E27FC236}">
                <a16:creationId xmlns:a16="http://schemas.microsoft.com/office/drawing/2014/main" id="{60D8FFDF-B59C-4B0A-8CBE-3EF79B76F9B8}"/>
              </a:ext>
            </a:extLst>
          </p:cNvPr>
          <p:cNvSpPr>
            <a:spLocks noGrp="1"/>
          </p:cNvSpPr>
          <p:nvPr/>
        </p:nvSpPr>
        <p:spPr>
          <a:xfrm>
            <a:off x="800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8" name="Текстовый блок — текст">
            <a:extLst>
              <a:ext uri="{FF2B5EF4-FFF2-40B4-BE49-F238E27FC236}">
                <a16:creationId xmlns:a16="http://schemas.microsoft.com/office/drawing/2014/main" id="{AC333327-0196-4226-8AE6-135E26DFFEF0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79248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9" name="Список — заголовок">
            <a:extLst>
              <a:ext uri="{FF2B5EF4-FFF2-40B4-BE49-F238E27FC236}">
                <a16:creationId xmlns:a16="http://schemas.microsoft.com/office/drawing/2014/main" id="{3C6A7525-86DB-4554-B760-371C8510005B}"/>
              </a:ext>
            </a:extLst>
          </p:cNvPr>
          <p:cNvSpPr>
            <a:spLocks noGrp="1"/>
          </p:cNvSpPr>
          <p:nvPr/>
        </p:nvSpPr>
        <p:spPr>
          <a:xfrm>
            <a:off x="9563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10" name="Список — вводная">
            <a:extLst>
              <a:ext uri="{FF2B5EF4-FFF2-40B4-BE49-F238E27FC236}">
                <a16:creationId xmlns:a16="http://schemas.microsoft.com/office/drawing/2014/main" id="{EDD98C9F-4A8D-400A-82D5-F1B2EB5BE324}"/>
              </a:ext>
            </a:extLst>
          </p:cNvPr>
          <p:cNvSpPr>
            <a:spLocks noGrp="1"/>
          </p:cNvSpPr>
          <p:nvPr/>
        </p:nvSpPr>
        <p:spPr>
          <a:xfrm>
            <a:off x="9563100" y="3848100"/>
            <a:ext cx="7924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11" name="Список — пункты">
            <a:extLst>
              <a:ext uri="{FF2B5EF4-FFF2-40B4-BE49-F238E27FC236}">
                <a16:creationId xmlns:a16="http://schemas.microsoft.com/office/drawing/2014/main" id="{F442EF30-93C7-4546-9525-C1AA3D745C53}"/>
              </a:ext>
            </a:extLst>
          </p:cNvPr>
          <p:cNvSpPr>
            <a:spLocks noGrp="1"/>
          </p:cNvSpPr>
          <p:nvPr/>
        </p:nvSpPr>
        <p:spPr>
          <a:xfrm>
            <a:off x="9715500" y="4933950"/>
            <a:ext cx="7620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5"/>
          <a:stretch/>
        </p:blipFill>
        <p:spPr>
          <a:xfrm rot="879000">
            <a:off x="14963775" y="1371600"/>
            <a:ext cx="2276475" cy="2276475"/>
          </a:xfrm>
          <a:prstGeom prst="rect">
            <a:avLst/>
          </a:prstGeom>
        </p:spPr>
      </p:pic>
      <p:pic>
        <p:nvPicPr>
          <p:cNvPr id="33" name="Рисунок 3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095875" y="6562725"/>
            <a:ext cx="4467225" cy="3724275"/>
          </a:xfrm>
          <a:prstGeom prst="rect">
            <a:avLst/>
          </a:prstGeom>
        </p:spPr>
      </p:pic>
      <p:pic>
        <p:nvPicPr>
          <p:cNvPr id="34" name="Рисунок 33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82379" y="9186863"/>
            <a:ext cx="2083242" cy="623888"/>
          </a:xfrm>
          <a:prstGeom prst="rect">
            <a:avLst/>
          </a:prstGeom>
        </p:spPr>
      </p:pic>
      <p:sp>
        <p:nvSpPr>
          <p:cNvPr id="15" name="Номер страницы">
            <a:extLst>
              <a:ext uri="{FF2B5EF4-FFF2-40B4-BE49-F238E27FC236}">
                <a16:creationId xmlns:a16="http://schemas.microsoft.com/office/drawing/2014/main" id="{8CB3DCAF-5969-49CE-B198-E4C5CEA31C56}"/>
              </a:ext>
            </a:extLst>
          </p:cNvPr>
          <p:cNvSpPr>
            <a:spLocks noGrp="1"/>
          </p:cNvSpPr>
          <p:nvPr/>
        </p:nvSpPr>
        <p:spPr>
          <a:xfrm>
            <a:off x="16859250" y="94678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 b="0"/>
              <a:t>54</a:t>
            </a:r>
          </a:p>
        </p:txBody>
      </p:sp>
      <p:pic>
        <p:nvPicPr>
          <p:cNvPr id="35" name="Picture 34" descr="attrib_04_sim_intercep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6406" y="2514600"/>
            <a:ext cx="13715187" cy="653796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Текстовый блок">
            <a:extLst>
              <a:ext uri="{FF2B5EF4-FFF2-40B4-BE49-F238E27FC236}">
                <a16:creationId xmlns:a16="http://schemas.microsoft.com/office/drawing/2014/main" id="{83BF2DA4-8395-4896-98A1-EE8ADF637024}"/>
              </a:ext>
            </a:extLst>
          </p:cNvPr>
          <p:cNvSpPr>
            <a:spLocks noGrp="1"/>
          </p:cNvSpPr>
          <p:nvPr/>
        </p:nvSpPr>
        <p:spPr>
          <a:xfrm>
            <a:off x="476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Список">
            <a:extLst>
              <a:ext uri="{FF2B5EF4-FFF2-40B4-BE49-F238E27FC236}">
                <a16:creationId xmlns:a16="http://schemas.microsoft.com/office/drawing/2014/main" id="{EE991465-5A34-4773-A228-4F61ECBBE8E6}"/>
              </a:ext>
            </a:extLst>
          </p:cNvPr>
          <p:cNvSpPr>
            <a:spLocks noGrp="1"/>
          </p:cNvSpPr>
          <p:nvPr/>
        </p:nvSpPr>
        <p:spPr>
          <a:xfrm>
            <a:off x="9239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Заголовок">
            <a:extLst>
              <a:ext uri="{FF2B5EF4-FFF2-40B4-BE49-F238E27FC236}">
                <a16:creationId xmlns:a16="http://schemas.microsoft.com/office/drawing/2014/main" id="{70B4469F-6CF4-4B36-8D14-80B170FE0D58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100" b="0">
                <a:solidFill>
                  <a:srgbClr val="3A3A3A"/>
                </a:solidFill>
                <a:latin typeface="X5 Sans Medium"/>
              </a:rPr>
              <a:t>Симуляция 2 · бренд реально помогает</a:t>
            </a:r>
          </a:p>
        </p:txBody>
      </p:sp>
      <p:sp>
        <p:nvSpPr>
          <p:cNvPr id="6" name="Подзаголовок">
            <a:extLst>
              <a:ext uri="{FF2B5EF4-FFF2-40B4-BE49-F238E27FC236}">
                <a16:creationId xmlns:a16="http://schemas.microsoft.com/office/drawing/2014/main" id="{EADA99A8-63FD-4201-8FB7-7752A0FD2CE4}"/>
              </a:ext>
            </a:extLst>
          </p:cNvPr>
          <p:cNvSpPr>
            <a:spLocks noGrp="1"/>
          </p:cNvSpPr>
          <p:nvPr/>
        </p:nvSpPr>
        <p:spPr>
          <a:xfrm>
            <a:off x="476250" y="1485900"/>
            <a:ext cx="857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0">
                <a:solidFill>
                  <a:srgbClr val="3A3A3A"/>
                </a:solidFill>
                <a:latin typeface="X5 Sans"/>
              </a:rPr>
              <a:t>Те же модели на других данных: доля бренда по ML выросла — сначала вопрос «что делает канал»</a:t>
            </a:r>
          </a:p>
        </p:txBody>
      </p:sp>
      <p:sp>
        <p:nvSpPr>
          <p:cNvPr id="7" name="Текстовый блок — заголовок">
            <a:extLst>
              <a:ext uri="{FF2B5EF4-FFF2-40B4-BE49-F238E27FC236}">
                <a16:creationId xmlns:a16="http://schemas.microsoft.com/office/drawing/2014/main" id="{60D8FFDF-B59C-4B0A-8CBE-3EF79B76F9B8}"/>
              </a:ext>
            </a:extLst>
          </p:cNvPr>
          <p:cNvSpPr>
            <a:spLocks noGrp="1"/>
          </p:cNvSpPr>
          <p:nvPr/>
        </p:nvSpPr>
        <p:spPr>
          <a:xfrm>
            <a:off x="800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8" name="Текстовый блок — текст">
            <a:extLst>
              <a:ext uri="{FF2B5EF4-FFF2-40B4-BE49-F238E27FC236}">
                <a16:creationId xmlns:a16="http://schemas.microsoft.com/office/drawing/2014/main" id="{AC333327-0196-4226-8AE6-135E26DFFEF0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79248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9" name="Список — заголовок">
            <a:extLst>
              <a:ext uri="{FF2B5EF4-FFF2-40B4-BE49-F238E27FC236}">
                <a16:creationId xmlns:a16="http://schemas.microsoft.com/office/drawing/2014/main" id="{3C6A7525-86DB-4554-B760-371C8510005B}"/>
              </a:ext>
            </a:extLst>
          </p:cNvPr>
          <p:cNvSpPr>
            <a:spLocks noGrp="1"/>
          </p:cNvSpPr>
          <p:nvPr/>
        </p:nvSpPr>
        <p:spPr>
          <a:xfrm>
            <a:off x="9563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10" name="Список — вводная">
            <a:extLst>
              <a:ext uri="{FF2B5EF4-FFF2-40B4-BE49-F238E27FC236}">
                <a16:creationId xmlns:a16="http://schemas.microsoft.com/office/drawing/2014/main" id="{EDD98C9F-4A8D-400A-82D5-F1B2EB5BE324}"/>
              </a:ext>
            </a:extLst>
          </p:cNvPr>
          <p:cNvSpPr>
            <a:spLocks noGrp="1"/>
          </p:cNvSpPr>
          <p:nvPr/>
        </p:nvSpPr>
        <p:spPr>
          <a:xfrm>
            <a:off x="9563100" y="3848100"/>
            <a:ext cx="7924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11" name="Список — пункты">
            <a:extLst>
              <a:ext uri="{FF2B5EF4-FFF2-40B4-BE49-F238E27FC236}">
                <a16:creationId xmlns:a16="http://schemas.microsoft.com/office/drawing/2014/main" id="{F442EF30-93C7-4546-9525-C1AA3D745C53}"/>
              </a:ext>
            </a:extLst>
          </p:cNvPr>
          <p:cNvSpPr>
            <a:spLocks noGrp="1"/>
          </p:cNvSpPr>
          <p:nvPr/>
        </p:nvSpPr>
        <p:spPr>
          <a:xfrm>
            <a:off x="9715500" y="4933950"/>
            <a:ext cx="7620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5"/>
          <a:stretch/>
        </p:blipFill>
        <p:spPr>
          <a:xfrm rot="879000">
            <a:off x="14963775" y="1371600"/>
            <a:ext cx="2276475" cy="2276475"/>
          </a:xfrm>
          <a:prstGeom prst="rect">
            <a:avLst/>
          </a:prstGeom>
        </p:spPr>
      </p:pic>
      <p:pic>
        <p:nvPicPr>
          <p:cNvPr id="33" name="Рисунок 3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095875" y="6562725"/>
            <a:ext cx="4467225" cy="3724275"/>
          </a:xfrm>
          <a:prstGeom prst="rect">
            <a:avLst/>
          </a:prstGeom>
        </p:spPr>
      </p:pic>
      <p:pic>
        <p:nvPicPr>
          <p:cNvPr id="34" name="Рисунок 33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82379" y="9186863"/>
            <a:ext cx="2083242" cy="623888"/>
          </a:xfrm>
          <a:prstGeom prst="rect">
            <a:avLst/>
          </a:prstGeom>
        </p:spPr>
      </p:pic>
      <p:sp>
        <p:nvSpPr>
          <p:cNvPr id="15" name="Номер страницы">
            <a:extLst>
              <a:ext uri="{FF2B5EF4-FFF2-40B4-BE49-F238E27FC236}">
                <a16:creationId xmlns:a16="http://schemas.microsoft.com/office/drawing/2014/main" id="{8CB3DCAF-5969-49CE-B198-E4C5CEA31C56}"/>
              </a:ext>
            </a:extLst>
          </p:cNvPr>
          <p:cNvSpPr>
            <a:spLocks noGrp="1"/>
          </p:cNvSpPr>
          <p:nvPr/>
        </p:nvSpPr>
        <p:spPr>
          <a:xfrm>
            <a:off x="16859250" y="94678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 b="0"/>
              <a:t>55</a:t>
            </a:r>
          </a:p>
        </p:txBody>
      </p:sp>
      <p:pic>
        <p:nvPicPr>
          <p:cNvPr id="35" name="Picture 34" descr="attrib_05_sim_brandwork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62882" y="2514600"/>
            <a:ext cx="14362234" cy="6537959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Текстовый блок">
            <a:extLst>
              <a:ext uri="{FF2B5EF4-FFF2-40B4-BE49-F238E27FC236}">
                <a16:creationId xmlns:a16="http://schemas.microsoft.com/office/drawing/2014/main" id="{83BF2DA4-8395-4896-98A1-EE8ADF637024}"/>
              </a:ext>
            </a:extLst>
          </p:cNvPr>
          <p:cNvSpPr>
            <a:spLocks noGrp="1"/>
          </p:cNvSpPr>
          <p:nvPr/>
        </p:nvSpPr>
        <p:spPr>
          <a:xfrm>
            <a:off x="476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Список">
            <a:extLst>
              <a:ext uri="{FF2B5EF4-FFF2-40B4-BE49-F238E27FC236}">
                <a16:creationId xmlns:a16="http://schemas.microsoft.com/office/drawing/2014/main" id="{EE991465-5A34-4773-A228-4F61ECBBE8E6}"/>
              </a:ext>
            </a:extLst>
          </p:cNvPr>
          <p:cNvSpPr>
            <a:spLocks noGrp="1"/>
          </p:cNvSpPr>
          <p:nvPr/>
        </p:nvSpPr>
        <p:spPr>
          <a:xfrm>
            <a:off x="9239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Заголовок">
            <a:extLst>
              <a:ext uri="{FF2B5EF4-FFF2-40B4-BE49-F238E27FC236}">
                <a16:creationId xmlns:a16="http://schemas.microsoft.com/office/drawing/2014/main" id="{70B4469F-6CF4-4B36-8D14-80B170FE0D58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700" b="0">
                <a:solidFill>
                  <a:srgbClr val="3A3A3A"/>
                </a:solidFill>
                <a:latin typeface="X5 Sans Medium"/>
              </a:rPr>
              <a:t>Симуляция 3 · мало данных</a:t>
            </a:r>
          </a:p>
        </p:txBody>
      </p:sp>
      <p:sp>
        <p:nvSpPr>
          <p:cNvPr id="6" name="Подзаголовок">
            <a:extLst>
              <a:ext uri="{FF2B5EF4-FFF2-40B4-BE49-F238E27FC236}">
                <a16:creationId xmlns:a16="http://schemas.microsoft.com/office/drawing/2014/main" id="{EADA99A8-63FD-4201-8FB7-7752A0FD2CE4}"/>
              </a:ext>
            </a:extLst>
          </p:cNvPr>
          <p:cNvSpPr>
            <a:spLocks noGrp="1"/>
          </p:cNvSpPr>
          <p:nvPr/>
        </p:nvSpPr>
        <p:spPr>
          <a:xfrm>
            <a:off x="476250" y="1485900"/>
            <a:ext cx="857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0">
                <a:solidFill>
                  <a:srgbClr val="3A3A3A"/>
                </a:solidFill>
                <a:latin typeface="X5 Sans"/>
              </a:rPr>
              <a:t>На подвыборках ML скачет от 3% до 18%: проверяйте устойчивость, прежде чем резать бюджет</a:t>
            </a:r>
          </a:p>
        </p:txBody>
      </p:sp>
      <p:sp>
        <p:nvSpPr>
          <p:cNvPr id="7" name="Текстовый блок — заголовок">
            <a:extLst>
              <a:ext uri="{FF2B5EF4-FFF2-40B4-BE49-F238E27FC236}">
                <a16:creationId xmlns:a16="http://schemas.microsoft.com/office/drawing/2014/main" id="{60D8FFDF-B59C-4B0A-8CBE-3EF79B76F9B8}"/>
              </a:ext>
            </a:extLst>
          </p:cNvPr>
          <p:cNvSpPr>
            <a:spLocks noGrp="1"/>
          </p:cNvSpPr>
          <p:nvPr/>
        </p:nvSpPr>
        <p:spPr>
          <a:xfrm>
            <a:off x="800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8" name="Текстовый блок — текст">
            <a:extLst>
              <a:ext uri="{FF2B5EF4-FFF2-40B4-BE49-F238E27FC236}">
                <a16:creationId xmlns:a16="http://schemas.microsoft.com/office/drawing/2014/main" id="{AC333327-0196-4226-8AE6-135E26DFFEF0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79248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9" name="Список — заголовок">
            <a:extLst>
              <a:ext uri="{FF2B5EF4-FFF2-40B4-BE49-F238E27FC236}">
                <a16:creationId xmlns:a16="http://schemas.microsoft.com/office/drawing/2014/main" id="{3C6A7525-86DB-4554-B760-371C8510005B}"/>
              </a:ext>
            </a:extLst>
          </p:cNvPr>
          <p:cNvSpPr>
            <a:spLocks noGrp="1"/>
          </p:cNvSpPr>
          <p:nvPr/>
        </p:nvSpPr>
        <p:spPr>
          <a:xfrm>
            <a:off x="9563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10" name="Список — вводная">
            <a:extLst>
              <a:ext uri="{FF2B5EF4-FFF2-40B4-BE49-F238E27FC236}">
                <a16:creationId xmlns:a16="http://schemas.microsoft.com/office/drawing/2014/main" id="{EDD98C9F-4A8D-400A-82D5-F1B2EB5BE324}"/>
              </a:ext>
            </a:extLst>
          </p:cNvPr>
          <p:cNvSpPr>
            <a:spLocks noGrp="1"/>
          </p:cNvSpPr>
          <p:nvPr/>
        </p:nvSpPr>
        <p:spPr>
          <a:xfrm>
            <a:off x="9563100" y="3848100"/>
            <a:ext cx="7924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11" name="Список — пункты">
            <a:extLst>
              <a:ext uri="{FF2B5EF4-FFF2-40B4-BE49-F238E27FC236}">
                <a16:creationId xmlns:a16="http://schemas.microsoft.com/office/drawing/2014/main" id="{F442EF30-93C7-4546-9525-C1AA3D745C53}"/>
              </a:ext>
            </a:extLst>
          </p:cNvPr>
          <p:cNvSpPr>
            <a:spLocks noGrp="1"/>
          </p:cNvSpPr>
          <p:nvPr/>
        </p:nvSpPr>
        <p:spPr>
          <a:xfrm>
            <a:off x="9715500" y="4933950"/>
            <a:ext cx="7620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5"/>
          <a:stretch/>
        </p:blipFill>
        <p:spPr>
          <a:xfrm rot="879000">
            <a:off x="14963775" y="1371600"/>
            <a:ext cx="2276475" cy="2276475"/>
          </a:xfrm>
          <a:prstGeom prst="rect">
            <a:avLst/>
          </a:prstGeom>
        </p:spPr>
      </p:pic>
      <p:pic>
        <p:nvPicPr>
          <p:cNvPr id="33" name="Рисунок 3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095875" y="6562725"/>
            <a:ext cx="4467225" cy="3724275"/>
          </a:xfrm>
          <a:prstGeom prst="rect">
            <a:avLst/>
          </a:prstGeom>
        </p:spPr>
      </p:pic>
      <p:pic>
        <p:nvPicPr>
          <p:cNvPr id="34" name="Рисунок 33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82379" y="9186863"/>
            <a:ext cx="2083242" cy="623888"/>
          </a:xfrm>
          <a:prstGeom prst="rect">
            <a:avLst/>
          </a:prstGeom>
        </p:spPr>
      </p:pic>
      <p:sp>
        <p:nvSpPr>
          <p:cNvPr id="15" name="Номер страницы">
            <a:extLst>
              <a:ext uri="{FF2B5EF4-FFF2-40B4-BE49-F238E27FC236}">
                <a16:creationId xmlns:a16="http://schemas.microsoft.com/office/drawing/2014/main" id="{8CB3DCAF-5969-49CE-B198-E4C5CEA31C56}"/>
              </a:ext>
            </a:extLst>
          </p:cNvPr>
          <p:cNvSpPr>
            <a:spLocks noGrp="1"/>
          </p:cNvSpPr>
          <p:nvPr/>
        </p:nvSpPr>
        <p:spPr>
          <a:xfrm>
            <a:off x="16859250" y="94678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 b="0"/>
              <a:t>56</a:t>
            </a:r>
          </a:p>
        </p:txBody>
      </p:sp>
      <p:pic>
        <p:nvPicPr>
          <p:cNvPr id="35" name="Picture 34" descr="attrib_06_sim_smalldat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57086" y="2514600"/>
            <a:ext cx="14373826" cy="653796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164126"/>
            <a:ext cx="18288000" cy="102870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62800" y="1933575"/>
            <a:ext cx="8715375" cy="8353425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190601" y="504825"/>
            <a:ext cx="2876741" cy="2876741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5395519" y="6967442"/>
            <a:ext cx="2688194" cy="3191637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4892528" y="1556671"/>
            <a:ext cx="2344484" cy="2344484"/>
          </a:xfrm>
          <a:prstGeom prst="rect">
            <a:avLst/>
          </a:prstGeom>
        </p:spPr>
      </p:pic>
      <p:sp>
        <p:nvSpPr>
          <p:cNvPr id="6" name="Заголовок">
            <a:extLst>
              <a:ext uri="{FF2B5EF4-FFF2-40B4-BE49-F238E27FC236}">
                <a16:creationId xmlns:a16="http://schemas.microsoft.com/office/drawing/2014/main" id="{498BBE52-B56A-4F73-8565-575347066D87}"/>
              </a:ext>
            </a:extLst>
          </p:cNvPr>
          <p:cNvSpPr>
            <a:spLocks noGrp="1"/>
          </p:cNvSpPr>
          <p:nvPr/>
        </p:nvSpPr>
        <p:spPr>
          <a:xfrm>
            <a:off x="476250" y="2895600"/>
            <a:ext cx="7429500" cy="2171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300" b="0">
                <a:solidFill>
                  <a:srgbClr val="3A3A3A"/>
                </a:solidFill>
                <a:latin typeface="X5 Sans Medium"/>
              </a:rPr>
              <a:t>Граница доверия: корреляция ≠ причинность</a:t>
            </a:r>
          </a:p>
        </p:txBody>
      </p:sp>
      <p:sp>
        <p:nvSpPr>
          <p:cNvPr id="7" name="Пояснение">
            <a:extLst>
              <a:ext uri="{FF2B5EF4-FFF2-40B4-BE49-F238E27FC236}">
                <a16:creationId xmlns:a16="http://schemas.microsoft.com/office/drawing/2014/main" id="{7FDFA29B-3B26-457E-8F99-F72D6D317D5E}"/>
              </a:ext>
            </a:extLst>
          </p:cNvPr>
          <p:cNvSpPr>
            <a:spLocks noGrp="1"/>
          </p:cNvSpPr>
          <p:nvPr/>
        </p:nvSpPr>
        <p:spPr>
          <a:xfrm>
            <a:off x="476250" y="5307626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600" b="0" dirty="0">
                <a:solidFill>
                  <a:srgbClr val="3A3A3A"/>
                </a:solidFill>
                <a:latin typeface="X5 Sans Medium"/>
              </a:rPr>
              <a:t>«</a:t>
            </a:r>
            <a:r>
              <a:rPr sz="2600" b="0" dirty="0" err="1">
                <a:solidFill>
                  <a:srgbClr val="3A3A3A"/>
                </a:solidFill>
                <a:latin typeface="X5 Sans Medium"/>
              </a:rPr>
              <a:t>Что</a:t>
            </a:r>
            <a:r>
              <a:rPr sz="2600" b="0" dirty="0">
                <a:solidFill>
                  <a:srgbClr val="3A3A3A"/>
                </a:solidFill>
                <a:latin typeface="X5 Sans Medium"/>
              </a:rPr>
              <a:t> </a:t>
            </a:r>
            <a:r>
              <a:rPr sz="2600" b="0" dirty="0" err="1">
                <a:solidFill>
                  <a:srgbClr val="3A3A3A"/>
                </a:solidFill>
                <a:latin typeface="X5 Sans Medium"/>
              </a:rPr>
              <a:t>будет</a:t>
            </a:r>
            <a:r>
              <a:rPr sz="2600" b="0" dirty="0">
                <a:solidFill>
                  <a:srgbClr val="3A3A3A"/>
                </a:solidFill>
                <a:latin typeface="X5 Sans Medium"/>
              </a:rPr>
              <a:t>, </a:t>
            </a:r>
            <a:r>
              <a:rPr sz="2600" b="0" dirty="0" err="1">
                <a:solidFill>
                  <a:srgbClr val="3A3A3A"/>
                </a:solidFill>
                <a:latin typeface="X5 Sans Medium"/>
              </a:rPr>
              <a:t>если</a:t>
            </a:r>
            <a:r>
              <a:rPr sz="2600" b="0" dirty="0">
                <a:solidFill>
                  <a:srgbClr val="3A3A3A"/>
                </a:solidFill>
                <a:latin typeface="X5 Sans Medium"/>
              </a:rPr>
              <a:t> </a:t>
            </a:r>
            <a:r>
              <a:rPr sz="2600" b="0" dirty="0" err="1">
                <a:solidFill>
                  <a:srgbClr val="3A3A3A"/>
                </a:solidFill>
                <a:latin typeface="X5 Sans Medium"/>
              </a:rPr>
              <a:t>отключить</a:t>
            </a:r>
            <a:r>
              <a:rPr sz="2600" b="0" dirty="0">
                <a:solidFill>
                  <a:srgbClr val="3A3A3A"/>
                </a:solidFill>
                <a:latin typeface="X5 Sans Medium"/>
              </a:rPr>
              <a:t> </a:t>
            </a:r>
            <a:r>
              <a:rPr sz="2600" b="0" dirty="0" err="1">
                <a:solidFill>
                  <a:srgbClr val="3A3A3A"/>
                </a:solidFill>
                <a:latin typeface="X5 Sans Medium"/>
              </a:rPr>
              <a:t>канал</a:t>
            </a:r>
            <a:r>
              <a:rPr sz="2600" b="0" dirty="0">
                <a:solidFill>
                  <a:srgbClr val="3A3A3A"/>
                </a:solidFill>
                <a:latin typeface="X5 Sans Medium"/>
              </a:rPr>
              <a:t>»</a:t>
            </a:r>
            <a:endParaRPr lang="en-US" sz="2600" b="0" dirty="0">
              <a:solidFill>
                <a:srgbClr val="3A3A3A"/>
              </a:solidFill>
              <a:latin typeface="X5 Sans Medium"/>
            </a:endParaRPr>
          </a:p>
          <a:p>
            <a:pPr algn="l"/>
            <a:endParaRPr lang="en-US" sz="2600" dirty="0">
              <a:solidFill>
                <a:srgbClr val="3A3A3A"/>
              </a:solidFill>
              <a:latin typeface="X5 Sans Medium"/>
            </a:endParaRPr>
          </a:p>
          <a:p>
            <a:pPr algn="l"/>
            <a:r>
              <a:rPr sz="2600" b="0" dirty="0" err="1">
                <a:solidFill>
                  <a:srgbClr val="3A3A3A"/>
                </a:solidFill>
                <a:latin typeface="X5 Sans Medium"/>
              </a:rPr>
              <a:t>только</a:t>
            </a:r>
            <a:r>
              <a:rPr sz="2600" b="0" dirty="0">
                <a:solidFill>
                  <a:srgbClr val="3A3A3A"/>
                </a:solidFill>
                <a:latin typeface="X5 Sans Medium"/>
              </a:rPr>
              <a:t> </a:t>
            </a:r>
            <a:r>
              <a:rPr sz="2600" b="0" dirty="0" err="1">
                <a:solidFill>
                  <a:srgbClr val="3A3A3A"/>
                </a:solidFill>
                <a:latin typeface="X5 Sans Medium"/>
              </a:rPr>
              <a:t>эксперимент</a:t>
            </a:r>
            <a:endParaRPr sz="2600" b="0" dirty="0">
              <a:solidFill>
                <a:srgbClr val="3A3A3A"/>
              </a:solidFill>
              <a:latin typeface="X5 Sans Medium"/>
            </a:endParaRP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77115" y="476250"/>
            <a:ext cx="1034305" cy="929926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027176" y="907322"/>
            <a:ext cx="453200" cy="500408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499806" y="907592"/>
            <a:ext cx="376904" cy="508821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2076846" y="886682"/>
            <a:ext cx="2050036" cy="675418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Текстовый блок">
            <a:extLst>
              <a:ext uri="{FF2B5EF4-FFF2-40B4-BE49-F238E27FC236}">
                <a16:creationId xmlns:a16="http://schemas.microsoft.com/office/drawing/2014/main" id="{83BF2DA4-8395-4896-98A1-EE8ADF637024}"/>
              </a:ext>
            </a:extLst>
          </p:cNvPr>
          <p:cNvSpPr>
            <a:spLocks noGrp="1"/>
          </p:cNvSpPr>
          <p:nvPr/>
        </p:nvSpPr>
        <p:spPr>
          <a:xfrm>
            <a:off x="476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Список">
            <a:extLst>
              <a:ext uri="{FF2B5EF4-FFF2-40B4-BE49-F238E27FC236}">
                <a16:creationId xmlns:a16="http://schemas.microsoft.com/office/drawing/2014/main" id="{EE991465-5A34-4773-A228-4F61ECBBE8E6}"/>
              </a:ext>
            </a:extLst>
          </p:cNvPr>
          <p:cNvSpPr>
            <a:spLocks noGrp="1"/>
          </p:cNvSpPr>
          <p:nvPr/>
        </p:nvSpPr>
        <p:spPr>
          <a:xfrm>
            <a:off x="9239250" y="2819400"/>
            <a:ext cx="8572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Заголовок">
            <a:extLst>
              <a:ext uri="{FF2B5EF4-FFF2-40B4-BE49-F238E27FC236}">
                <a16:creationId xmlns:a16="http://schemas.microsoft.com/office/drawing/2014/main" id="{70B4469F-6CF4-4B36-8D14-80B170FE0D58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5400" b="0">
                <a:solidFill>
                  <a:srgbClr val="3A3A3A"/>
                </a:solidFill>
                <a:latin typeface="X5 Sans Medium"/>
              </a:rPr>
              <a:t>Шпаргалка</a:t>
            </a:r>
          </a:p>
        </p:txBody>
      </p:sp>
      <p:sp>
        <p:nvSpPr>
          <p:cNvPr id="6" name="Подзаголовок">
            <a:extLst>
              <a:ext uri="{FF2B5EF4-FFF2-40B4-BE49-F238E27FC236}">
                <a16:creationId xmlns:a16="http://schemas.microsoft.com/office/drawing/2014/main" id="{EADA99A8-63FD-4201-8FB7-7752A0FD2CE4}"/>
              </a:ext>
            </a:extLst>
          </p:cNvPr>
          <p:cNvSpPr>
            <a:spLocks noGrp="1"/>
          </p:cNvSpPr>
          <p:nvPr/>
        </p:nvSpPr>
        <p:spPr>
          <a:xfrm>
            <a:off x="476250" y="1485900"/>
            <a:ext cx="857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7" name="Текстовый блок — заголовок">
            <a:extLst>
              <a:ext uri="{FF2B5EF4-FFF2-40B4-BE49-F238E27FC236}">
                <a16:creationId xmlns:a16="http://schemas.microsoft.com/office/drawing/2014/main" id="{60D8FFDF-B59C-4B0A-8CBE-3EF79B76F9B8}"/>
              </a:ext>
            </a:extLst>
          </p:cNvPr>
          <p:cNvSpPr>
            <a:spLocks noGrp="1"/>
          </p:cNvSpPr>
          <p:nvPr/>
        </p:nvSpPr>
        <p:spPr>
          <a:xfrm>
            <a:off x="800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0">
                <a:solidFill>
                  <a:srgbClr val="3A3A3A"/>
                </a:solidFill>
                <a:latin typeface="X5 Sans Medium"/>
              </a:rPr>
              <a:t>Вынести с лекции</a:t>
            </a:r>
          </a:p>
        </p:txBody>
      </p:sp>
      <p:sp>
        <p:nvSpPr>
          <p:cNvPr id="8" name="Текстовый блок — текст">
            <a:extLst>
              <a:ext uri="{FF2B5EF4-FFF2-40B4-BE49-F238E27FC236}">
                <a16:creationId xmlns:a16="http://schemas.microsoft.com/office/drawing/2014/main" id="{AC333327-0196-4226-8AE6-135E26DFFEF0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79248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9" name="Список — заголовок">
            <a:extLst>
              <a:ext uri="{FF2B5EF4-FFF2-40B4-BE49-F238E27FC236}">
                <a16:creationId xmlns:a16="http://schemas.microsoft.com/office/drawing/2014/main" id="{3C6A7525-86DB-4554-B760-371C8510005B}"/>
              </a:ext>
            </a:extLst>
          </p:cNvPr>
          <p:cNvSpPr>
            <a:spLocks noGrp="1"/>
          </p:cNvSpPr>
          <p:nvPr/>
        </p:nvSpPr>
        <p:spPr>
          <a:xfrm>
            <a:off x="9563100" y="320040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10" name="Список — вводная">
            <a:extLst>
              <a:ext uri="{FF2B5EF4-FFF2-40B4-BE49-F238E27FC236}">
                <a16:creationId xmlns:a16="http://schemas.microsoft.com/office/drawing/2014/main" id="{EDD98C9F-4A8D-400A-82D5-F1B2EB5BE324}"/>
              </a:ext>
            </a:extLst>
          </p:cNvPr>
          <p:cNvSpPr>
            <a:spLocks noGrp="1"/>
          </p:cNvSpPr>
          <p:nvPr/>
        </p:nvSpPr>
        <p:spPr>
          <a:xfrm>
            <a:off x="9563100" y="3848100"/>
            <a:ext cx="7924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11" name="Список — пункты">
            <a:extLst>
              <a:ext uri="{FF2B5EF4-FFF2-40B4-BE49-F238E27FC236}">
                <a16:creationId xmlns:a16="http://schemas.microsoft.com/office/drawing/2014/main" id="{F442EF30-93C7-4546-9525-C1AA3D745C53}"/>
              </a:ext>
            </a:extLst>
          </p:cNvPr>
          <p:cNvSpPr>
            <a:spLocks noGrp="1"/>
          </p:cNvSpPr>
          <p:nvPr/>
        </p:nvSpPr>
        <p:spPr>
          <a:xfrm>
            <a:off x="9715500" y="4206240"/>
            <a:ext cx="7620000" cy="5120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0">
                <a:solidFill>
                  <a:srgbClr val="3A3A3A"/>
                </a:solidFill>
                <a:latin typeface="X5 Sans"/>
              </a:rPr>
              <a:t>Метрика подбирается под механику канала</a:t>
            </a:r>
          </a:p>
          <a:p>
            <a:r>
              <a:rPr sz="2200" b="0">
                <a:solidFill>
                  <a:srgbClr val="3A3A3A"/>
                </a:solidFill>
                <a:latin typeface="X5 Sans"/>
              </a:rPr>
              <a:t>UTM-гигиена — фундамент downstream-аналитики</a:t>
            </a:r>
          </a:p>
          <a:p>
            <a:r>
              <a:rPr sz="2200" b="0">
                <a:solidFill>
                  <a:srgbClr val="3A3A3A"/>
                </a:solidFill>
                <a:latin typeface="X5 Sans"/>
              </a:rPr>
              <a:t>Немаркируемые: пик-анализ → гео/DiD → MMM</a:t>
            </a:r>
          </a:p>
          <a:p>
            <a:r>
              <a:rPr sz="2200" b="0">
                <a:solidFill>
                  <a:srgbClr val="3A3A3A"/>
                </a:solidFill>
                <a:latin typeface="X5 Sans"/>
              </a:rPr>
              <a:t>Сквозная = юнит-таблица с полной историей касаний</a:t>
            </a:r>
          </a:p>
          <a:p>
            <a:r>
              <a:rPr sz="2200" b="0">
                <a:solidFill>
                  <a:srgbClr val="3A3A3A"/>
                </a:solidFill>
                <a:latin typeface="X5 Sans"/>
              </a:rPr>
              <a:t>Пять моделей — допущения: держите 2–3 рядом</a:t>
            </a:r>
          </a:p>
          <a:p>
            <a:r>
              <a:rPr sz="2200" b="0">
                <a:solidFill>
                  <a:srgbClr val="3A3A3A"/>
                </a:solidFill>
                <a:latin typeface="X5 Sans"/>
              </a:rPr>
              <a:t>ML: вклад = ΔP; чинит перехват и view-through</a:t>
            </a:r>
          </a:p>
          <a:p>
            <a:r>
              <a:rPr sz="2200" b="0">
                <a:solidFill>
                  <a:srgbClr val="3A3A3A"/>
                </a:solidFill>
                <a:latin typeface="X5 Sans"/>
              </a:rPr>
              <a:t>Финальная проверка — только инкрементальность</a:t>
            </a: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5"/>
          <a:stretch/>
        </p:blipFill>
        <p:spPr>
          <a:xfrm rot="879000">
            <a:off x="14963775" y="1371600"/>
            <a:ext cx="2276475" cy="2276475"/>
          </a:xfrm>
          <a:prstGeom prst="rect">
            <a:avLst/>
          </a:prstGeom>
        </p:spPr>
      </p:pic>
      <p:pic>
        <p:nvPicPr>
          <p:cNvPr id="33" name="Рисунок 3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095875" y="6562725"/>
            <a:ext cx="4467225" cy="3724275"/>
          </a:xfrm>
          <a:prstGeom prst="rect">
            <a:avLst/>
          </a:prstGeom>
        </p:spPr>
      </p:pic>
      <p:pic>
        <p:nvPicPr>
          <p:cNvPr id="34" name="Рисунок 33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82379" y="9186863"/>
            <a:ext cx="2083242" cy="623888"/>
          </a:xfrm>
          <a:prstGeom prst="rect">
            <a:avLst/>
          </a:prstGeom>
        </p:spPr>
      </p:pic>
      <p:sp>
        <p:nvSpPr>
          <p:cNvPr id="15" name="Номер страницы">
            <a:extLst>
              <a:ext uri="{FF2B5EF4-FFF2-40B4-BE49-F238E27FC236}">
                <a16:creationId xmlns:a16="http://schemas.microsoft.com/office/drawing/2014/main" id="{8CB3DCAF-5969-49CE-B198-E4C5CEA31C56}"/>
              </a:ext>
            </a:extLst>
          </p:cNvPr>
          <p:cNvSpPr>
            <a:spLocks noGrp="1"/>
          </p:cNvSpPr>
          <p:nvPr/>
        </p:nvSpPr>
        <p:spPr>
          <a:xfrm>
            <a:off x="16859250" y="9467850"/>
            <a:ext cx="95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 b="0"/>
              <a:t>58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3962</TotalTime>
  <Words>1761</Words>
  <Application>Microsoft Macintosh PowerPoint</Application>
  <DocSecurity>0</DocSecurity>
  <PresentationFormat>Произвольный</PresentationFormat>
  <Paragraphs>331</Paragraphs>
  <Slides>58</Slides>
  <Notes>58</Notes>
  <HiddenSlides>1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58</vt:i4>
      </vt:variant>
    </vt:vector>
  </HeadingPairs>
  <TitlesOfParts>
    <vt:vector size="62" baseType="lpstr">
      <vt:lpstr>X5 Sans Medium</vt:lpstr>
      <vt:lpstr>Calibri</vt:lpstr>
      <vt:lpstr>X5 Sans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KirillSadchikov</cp:lastModifiedBy>
  <cp:revision>61</cp:revision>
  <dcterms:created xsi:type="dcterms:W3CDTF">2026-10-02T18:21:13Z</dcterms:created>
  <dcterms:modified xsi:type="dcterms:W3CDTF">2026-10-17T15:36:16Z</dcterms:modified>
</cp:coreProperties>
</file>